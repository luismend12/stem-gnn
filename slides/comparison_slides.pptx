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1920240" cy="347472"/>
          </a:xfrm>
          <a:prstGeom prst="rect">
            <a:avLst/>
          </a:prstGeom>
          <a:solidFill>
            <a:srgbClr val="0D1A30"/>
          </a:solidFill>
          <a:ln w="1270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Existing Work  ·  KDD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STEM-GNN: Generalizing GNNs with Tokenized Mixture of Experts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Guo, Wang, Li et al.  ·  arXiv 2602.09258  ·  KDD '26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 w="1270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828800"/>
            <a:ext cx="3566160" cy="3383280"/>
          </a:xfrm>
          <a:prstGeom prst="rect">
            <a:avLst/>
          </a:prstGeom>
          <a:solidFill>
            <a:srgbClr val="1E222C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566160" cy="54864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59BFF"/>
                </a:solidFill>
              </a:rPr>
              <a:t>① MoE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107"/>
                </a:solidFill>
              </a:rPr>
              <a:t>Coverage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 shared expert weight matrices per layer.
Per-node soft router (Gumbel-softmax during train,
softmax at eval) selects a weighted expert mix.
Expands the family of effective mechanisms
without changing frozen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66160" cy="3383280"/>
          </a:xfrm>
          <a:prstGeom prst="rect">
            <a:avLst/>
          </a:prstGeom>
          <a:solidFill>
            <a:srgbClr val="1E222C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66160" cy="54864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06CFF"/>
                </a:solidFill>
              </a:rPr>
              <a:t>② VQ Tokenization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107"/>
                </a:solidFill>
              </a:rPr>
              <a:t>Representation Stabilization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88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Vector-quantized codebook discretises encoder
outputs before the prediction head.
Small perturbations that don't cross a codebook
boundary produce zero change at the head.
Stabilises the encoder-to-head interface.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0728" y="1828800"/>
            <a:ext cx="3566160" cy="3383280"/>
          </a:xfrm>
          <a:prstGeom prst="rect">
            <a:avLst/>
          </a:prstGeom>
          <a:solidFill>
            <a:srgbClr val="1E222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82880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③ Lipschitz Regularization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107"/>
                </a:solidFill>
              </a:rPr>
              <a:t>Sensitivity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788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Frobenius penalty on the prediction head
bounds its Lipschitz constant.
Limits how much any residual token-switch
is amplified into output variation.
Bounds worst-case output change.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13248"/>
            <a:ext cx="11201400" cy="1261872"/>
          </a:xfrm>
          <a:prstGeom prst="rect">
            <a:avLst/>
          </a:prstGeom>
          <a:solidFill>
            <a:srgbClr val="0D182A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04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Core insight (Theorem 3.1):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5216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Static inference (fixed rule) faces a fundamental stability–generalisation tension: Lipschitz control caps reliance on high-frequency components, creating a floor on worst-environment risk that cannot be escaped. MoE routing relaxes this by expanding the family of effective mechanisms — but introduces routing instability under distribution shifts.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STEM-GNN  · 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Tables 1–3 from KDD '26 paper — the baseline our proposal must extend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97280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07008"/>
            <a:ext cx="5394960" cy="27432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16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 1  ·  Clean Accuracy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642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Cora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642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PubMed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6642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WikiCS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642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Arxiv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1993392"/>
            <a:ext cx="1316736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11096" y="1993392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4056" y="1993392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7016" y="1993392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1993392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4825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04825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04825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75.61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04825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04825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71.40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2340864"/>
            <a:ext cx="1316736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11096" y="2340864"/>
            <a:ext cx="804672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34056" y="2340864"/>
            <a:ext cx="804672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57016" y="2340864"/>
            <a:ext cx="804672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9976" y="2340864"/>
            <a:ext cx="804672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39572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23957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76.24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23957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74.86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23957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76.78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3957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70.87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" y="2688336"/>
            <a:ext cx="1316736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11096" y="2688336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34056" y="2688336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57016" y="2688336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79976" y="2688336"/>
            <a:ext cx="804672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74320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274320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77.83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274320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77.27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274320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78.40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274320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69.17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" y="3035808"/>
            <a:ext cx="1316736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11096" y="3035808"/>
            <a:ext cx="804672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34056" y="3035808"/>
            <a:ext cx="804672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57016" y="3035808"/>
            <a:ext cx="804672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9976" y="3035808"/>
            <a:ext cx="804672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309067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STEM-GNN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309067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79.53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309067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77.84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309067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80.11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309067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72.31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3401568"/>
            <a:ext cx="5074920" cy="420624"/>
          </a:xfrm>
          <a:prstGeom prst="rect">
            <a:avLst/>
          </a:prstGeom>
          <a:solidFill>
            <a:srgbClr val="0A18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34564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STEM-GNN best average across all 8 benchmarks:  80.79%  (GFT: 79.26%)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1207008"/>
            <a:ext cx="5577840" cy="27432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6208" y="1316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 2  ·  OOD Degree Shift — Cora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1664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Method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16642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16642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OOD-low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16642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OOD-high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1344" y="1993392"/>
            <a:ext cx="150876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71815" y="1993392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77656" y="1993392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83496" y="1993392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20482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79" y="2048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84.12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2048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76.35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8360" y="2048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84.38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81344" y="2340864"/>
            <a:ext cx="150876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71815" y="2340864"/>
            <a:ext cx="100584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77656" y="2340864"/>
            <a:ext cx="100584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83496" y="2340864"/>
            <a:ext cx="100584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239572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GraphMETRO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6679" y="2395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83.78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2520" y="2395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8360" y="2395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81344" y="2688336"/>
            <a:ext cx="150876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671815" y="2688336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77656" y="2688336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83496" y="2688336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36208" y="27432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GFT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26679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87.01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3252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81.22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38360" y="2743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84.98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1344" y="3035808"/>
            <a:ext cx="150876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71815" y="3035808"/>
            <a:ext cx="100584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677656" y="3035808"/>
            <a:ext cx="100584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83496" y="3035808"/>
            <a:ext cx="100584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36208" y="30906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STEM-GNN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26679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87.39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82.73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836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86.08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36208" y="3401568"/>
            <a:ext cx="5303520" cy="420624"/>
          </a:xfrm>
          <a:prstGeom prst="rect">
            <a:avLst/>
          </a:prstGeom>
          <a:solidFill>
            <a:srgbClr val="0A18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27648" y="3456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STEM-GNN best on degree shift avg:  86.19%  vs  GFT: 85.23%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041648"/>
            <a:ext cx="11201400" cy="2514600"/>
          </a:xfrm>
          <a:prstGeom prst="rect">
            <a:avLst/>
          </a:prstGeom>
          <a:solidFill>
            <a:srgbClr val="101522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41605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Tri-Objective Balance  ·  Table 3 (Cora, 10 seeds)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" y="45537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Method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31720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Fit 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3280" y="45537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OOD-worst 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63440" y="4553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Perturb-mean 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89320" y="45537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Avg ↑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2648" y="4864608"/>
            <a:ext cx="164592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286000" y="4864608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337560" y="4864608"/>
            <a:ext cx="12344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617720" y="4864608"/>
            <a:ext cx="128016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43600" y="4864608"/>
            <a:ext cx="91440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8" y="49194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31720" y="49194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83.63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83280" y="49194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75.20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63440" y="491947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82.53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89320" y="49194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80.45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2648" y="5212080"/>
            <a:ext cx="164592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5212080"/>
            <a:ext cx="100584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337560" y="5212080"/>
            <a:ext cx="123444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17720" y="5212080"/>
            <a:ext cx="128016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943600" y="5212080"/>
            <a:ext cx="914400" cy="347472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526694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GraphMETRO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31720" y="526694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81.69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280" y="5266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79.11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63440" y="526694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82.31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989320" y="526694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81.34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12648" y="5559552"/>
            <a:ext cx="164592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286000" y="5559552"/>
            <a:ext cx="10058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337560" y="5559552"/>
            <a:ext cx="123444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617720" y="5559552"/>
            <a:ext cx="128016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943600" y="5559552"/>
            <a:ext cx="914400" cy="347472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8368" y="561441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GFT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331720" y="561441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86.58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83280" y="56144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78.45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63440" y="561441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77.27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989320" y="56144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80.77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2648" y="5907024"/>
            <a:ext cx="164592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286000" y="5907024"/>
            <a:ext cx="100584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337560" y="5907024"/>
            <a:ext cx="123444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17720" y="5907024"/>
            <a:ext cx="128016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943600" y="5907024"/>
            <a:ext cx="914400" cy="347472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8368" y="596188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STEM-GNN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331720" y="596188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87.31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83280" y="59618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78.45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63440" y="596188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85.88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89320" y="596188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59BFF"/>
                </a:solidFill>
              </a:rPr>
              <a:t>83.88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223760" y="4041648"/>
            <a:ext cx="4480560" cy="2514600"/>
          </a:xfrm>
          <a:prstGeom prst="rect">
            <a:avLst/>
          </a:prstGeom>
          <a:solidFill>
            <a:srgbClr val="1C1210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388352" y="41879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2A"/>
                </a:solidFill>
              </a:rPr>
              <a:t>Remaining Gap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88352" y="459028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OOD-worst (Cora): 78.45% — still 8.9 pp below Fit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88352" y="5029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OOD-low degree: 82.73% (−4.7 pp from ID)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88352" y="54681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Routing TV shift (Arxiv): 0.0144 — 10× higher than small graphs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88352" y="59070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No semantic assessment of neighbour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Gap STEM-GNN Leaves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3A8"/>
                </a:solidFill>
              </a:rPr>
              <a:t>MoE routing instability under neighbour noise — not addressed by VQ or Lipschitz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52144"/>
            <a:ext cx="11183112" cy="0"/>
          </a:xfrm>
          <a:prstGeom prst="line">
            <a:avLst/>
          </a:prstGeom>
          <a:ln w="12700">
            <a:solidFill>
              <a:srgbClr val="FF7F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98448"/>
            <a:ext cx="5303520" cy="393192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59BFF"/>
                </a:solidFill>
              </a:rPr>
              <a:t>How STEM-GNN MoE Routing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5029200" cy="1005840"/>
          </a:xfrm>
          <a:prstGeom prst="rect">
            <a:avLst/>
          </a:prstGeom>
          <a:solidFill>
            <a:srgbClr val="161C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z_v  =  Aggregate(x_v, x_neighbours)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0487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Hidden state mixes self + ALL neighbours equally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5029200" cy="1005840"/>
          </a:xfrm>
          <a:prstGeom prst="rect">
            <a:avLst/>
          </a:prstGeom>
          <a:solidFill>
            <a:srgbClr val="161C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0040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π_v  =  softmax(W_router · z_v)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61188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Router decides expert weights from z_v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15968"/>
            <a:ext cx="5029200" cy="1005840"/>
          </a:xfrm>
          <a:prstGeom prst="rect">
            <a:avLst/>
          </a:prstGeom>
          <a:solidFill>
            <a:srgbClr val="161C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40740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h_v  =  Σ_k π_k(v) · f_k(z_v)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81888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Output = weighted mix of K expert transforms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298448"/>
            <a:ext cx="5650992" cy="3931920"/>
          </a:xfrm>
          <a:prstGeom prst="rect">
            <a:avLst/>
          </a:prstGeom>
          <a:solidFill>
            <a:srgbClr val="1C1210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417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F2A"/>
                </a:solidFill>
              </a:rPr>
              <a:t>Why the Router Becomes Fragile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874519"/>
            <a:ext cx="5303520" cy="1005840"/>
          </a:xfrm>
          <a:prstGeom prst="rect">
            <a:avLst/>
          </a:prstGeom>
          <a:solidFill>
            <a:srgbClr val="14100C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659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Contaminated z_v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317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When noisy/heterophilous neighbours are aggregated,
z_v itself is corrupted — the router makes decisions
from a corrupted representation.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3081527"/>
            <a:ext cx="5303520" cy="1005840"/>
          </a:xfrm>
          <a:prstGeom prst="rect">
            <a:avLst/>
          </a:prstGeom>
          <a:solidFill>
            <a:srgbClr val="14100C"/>
          </a:solidFill>
          <a:ln w="1016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17296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A"/>
                </a:solidFill>
              </a:rPr>
              <a:t>Routing drift under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3872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TV distance between ID→OOD routing distributions:
Cora 0.0013, WikiCS 0.0018, Arxiv 0.0144.
Arxiv routing is 10× less stable — experts shift.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4288535"/>
            <a:ext cx="5303520" cy="1005840"/>
          </a:xfrm>
          <a:prstGeom prst="rect">
            <a:avLst/>
          </a:prstGeom>
          <a:solidFill>
            <a:srgbClr val="14100C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3799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No semantic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4573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Router only sees learned hidden state z_v.
It cannot reason: 'Is this neighbour semantically
relevant to my category prediction?'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11201400" cy="1261872"/>
          </a:xfrm>
          <a:prstGeom prst="rect">
            <a:avLst/>
          </a:prstGeom>
          <a:solidFill>
            <a:srgbClr val="0A1220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04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9BFF"/>
                </a:solidFill>
              </a:rPr>
              <a:t>Our proposal targets exactly this gap: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704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a per-node semantic trust gate  β_v  upstream of message aggregation.
β_v is driven by an LLM semantic reliability score — not by z_v — so it is immune to neighbour contamination. The gate selectively weighs self vs. neighbour channels before z_v is ever computed, preventing corrupt representations from reaching the router.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STEM-GNN  vs.  Proposed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Our LLM-Guided Semantic Trust Gate operates upstream of STEM-GNN's MoE router — complementary, not a replacement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52144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61872"/>
            <a:ext cx="3200400" cy="4572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261872"/>
            <a:ext cx="3657600" cy="4572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1353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9BFF"/>
                </a:solidFill>
              </a:rPr>
              <a:t>STEM-GNN (KDD '26)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261872"/>
            <a:ext cx="4160520" cy="457200"/>
          </a:xfrm>
          <a:prstGeom prst="rect">
            <a:avLst/>
          </a:prstGeom>
          <a:solidFill>
            <a:srgbClr val="1C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353312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Proposed Extension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1737360"/>
            <a:ext cx="365760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737360"/>
            <a:ext cx="416052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4708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Neighbour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Equal weight to ALL neighbours — no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82880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Trust-gated: β_v · self + (1-β_v) · neigh
β_v drives selective aggregation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6888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2468880"/>
            <a:ext cx="365760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468880"/>
            <a:ext cx="416052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7860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Gate / routing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Router uses z_v  (post-aggregation,
structure-dependent, can be corrupted)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56032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β_v from LLM semantic reliability
(pre-aggregation, structure-invariant)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3200400"/>
            <a:ext cx="365760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3200400"/>
            <a:ext cx="416052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101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Semantic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291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None — purely learned from data
No language understanding in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29184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LLM label-support judgment:
'Is neighbour u relevant for classifying v?'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3192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0" y="3931920"/>
            <a:ext cx="365760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3931920"/>
            <a:ext cx="416052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04164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OOD robustness mechanism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023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MoE coverage expansion
VQ stabilisation of head 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02336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Selective neighbour trust
+ inherited MoE/VQ/Lip benefits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6344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0" y="4663440"/>
            <a:ext cx="365760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5240" y="4663440"/>
            <a:ext cx="4160520" cy="73152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7731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Heterophily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Competitive but relies on MoE
to cover diverse aggregation modes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75488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Direct: gate lowers β_v for cross-class
neighbours → self-channel dominates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394960"/>
            <a:ext cx="3200400" cy="73152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0" y="5394960"/>
            <a:ext cx="365760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5394960"/>
            <a:ext cx="4160520" cy="731520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50468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Perturbation stability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5486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VQ + Lipschitz on head
(post-encoder stabilisation)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48640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107"/>
                </a:solidFill>
              </a:rPr>
              <a:t>Trust gate prevents corrupt z_v
from reaching router (pre-encoder)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144768"/>
            <a:ext cx="11201400" cy="502920"/>
          </a:xfrm>
          <a:prstGeom prst="rect">
            <a:avLst/>
          </a:prstGeom>
          <a:solidFill>
            <a:srgbClr val="081422"/>
          </a:solidFill>
          <a:ln w="1524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208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Integration:  Trust gate inserts a β_v-weighted channel split inside each MixtureSageLayer — before z_v is computed — so VQ and Lipschitz stabilisation of the head remain fully effective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 Results vs. STEM-GNN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Make-or-break stress tests reveal where STEM-GNN's MoE routing is vulnerable — and what the trust gate must fix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80160"/>
            <a:ext cx="5349240" cy="2395728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Cora · Confusing-edge injection  (30% ratio, 3 seeds)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7393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77393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Stressed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77393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Drop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066543"/>
            <a:ext cx="181965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2066543"/>
            <a:ext cx="841248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2066543"/>
            <a:ext cx="841248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2066543"/>
            <a:ext cx="72237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21407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 Cosine (GNNGuard)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121407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79.5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121407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78.8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121407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-0.8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487167"/>
            <a:ext cx="1819656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78024" y="2487167"/>
            <a:ext cx="841248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2487167"/>
            <a:ext cx="841248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2487167"/>
            <a:ext cx="722376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542031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  Confidence (Mowst)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542031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2542031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542031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3A8"/>
                </a:solidFill>
              </a:rPr>
              <a:t>-0.2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2907791"/>
            <a:ext cx="181965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78024" y="2907791"/>
            <a:ext cx="841248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64992" y="2907791"/>
            <a:ext cx="841248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79392" y="2907791"/>
            <a:ext cx="72237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962655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 Learned (ACM)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2962655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2962655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2962655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3A8"/>
                </a:solidFill>
              </a:rPr>
              <a:t>-0.3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328415"/>
            <a:ext cx="1819656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78024" y="3328415"/>
            <a:ext cx="841248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64992" y="3328415"/>
            <a:ext cx="841248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328415"/>
            <a:ext cx="722376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3832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D  LLM text cosine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3383279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79.9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1568" y="3383279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78.6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3383279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-1.3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1280160"/>
            <a:ext cx="5577840" cy="2395728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Texas / WebKB · Heterophily  (homophily = 30.8%, 3 seeds)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17739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17739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Test Acc (%)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2066543"/>
            <a:ext cx="264261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78824" y="2066543"/>
            <a:ext cx="268833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6208" y="2121407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 Cosine (GNNGuard)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121407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61.3%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2487167"/>
            <a:ext cx="2642616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78824" y="2487167"/>
            <a:ext cx="2688336" cy="402336"/>
          </a:xfrm>
          <a:prstGeom prst="rect">
            <a:avLst/>
          </a:prstGeom>
          <a:solidFill>
            <a:srgbClr val="28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6208" y="2542031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  Confidence (Mowst)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2542031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99632" y="2907791"/>
            <a:ext cx="264261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78824" y="2907791"/>
            <a:ext cx="2688336" cy="40233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2962655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  Learned (ACM)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2962655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3328415"/>
            <a:ext cx="2642616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78824" y="3328415"/>
            <a:ext cx="2688336" cy="402336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3383279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D  LLM text cosine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338327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3A8"/>
                </a:solidFill>
              </a:rPr>
              <a:t>64.9%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3858768"/>
            <a:ext cx="11201400" cy="1627632"/>
          </a:xfrm>
          <a:prstGeom prst="rect">
            <a:avLst/>
          </a:prstGeom>
          <a:solidFill>
            <a:srgbClr val="101522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3977639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Bridging to STEM-GNN OOD Results  (Table 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370832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2A"/>
                </a:solidFill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" y="437083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STEM-GNN OOD-low (Cora degree shift):  82.73%  —  −4.66 pp below ID (87.39%)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47548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" y="4754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Trust gate (B/C) on stress-1 injection:  71.1–71.3%  —  Only −0.2/−0.3 pp drop — minimal routing shift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513892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" y="51389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text cosine (D) on injection:  78.6%  —  −1.3 pp — most vulnerable without label-support framing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669280"/>
            <a:ext cx="11201400" cy="978408"/>
          </a:xfrm>
          <a:prstGeom prst="rect">
            <a:avLst/>
          </a:prstGeom>
          <a:solidFill>
            <a:srgbClr val="081422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What this means: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STEM-GNN's OOD-low gap (82.73%) comes from exactly the stress the trust gate targets: low-degree nodes receive proportionally more cross-class signal per neighbour. Confidence/learned gates (B/C) already cut injection drop to &lt; 0.3 pp. A proper LLM label-support gate (D-full) should close the remaining OOD-low gap while preserving STEM-GNN's Fit and Perturb-mean advantages.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3A8"/>
                </a:solidFill>
              </a:rPr>
              <a:t>How the proposed work extends STEM-GNN (KDD '26) without overlapping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52144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0332" y="1353312"/>
            <a:ext cx="1463040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8A9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3A8"/>
                </a:solidFill>
              </a:rPr>
              <a:t>Node Text
Feat (LLM)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3372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034540" y="1353312"/>
            <a:ext cx="1463040" cy="777240"/>
          </a:xfrm>
          <a:prstGeom prst="rect">
            <a:avLst/>
          </a:prstGeom>
          <a:solidFill>
            <a:srgbClr val="1A26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7692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</a:rPr>
              <a:t>Semantic
Trust Gate β_v  ◀ NEW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97580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98748" y="1353312"/>
            <a:ext cx="1463040" cy="777240"/>
          </a:xfrm>
          <a:prstGeom prst="rect">
            <a:avLst/>
          </a:prstGeom>
          <a:solidFill>
            <a:srgbClr val="1A263A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1900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59BFF"/>
                </a:solidFill>
              </a:rPr>
              <a:t>Gated
Aggregation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1788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62956" y="1353312"/>
            <a:ext cx="1463040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6108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6CFF"/>
                </a:solidFill>
              </a:rPr>
              <a:t>MoE Router
(STEM-GNN)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25996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027164" y="1353312"/>
            <a:ext cx="1463040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0316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VQ Token
Interface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90204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691372" y="1353312"/>
            <a:ext cx="1463040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4524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Lipschitz
Head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54412.0" y="1741932.0"/>
            <a:ext cx="201168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355580" y="1353312"/>
            <a:ext cx="1463040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8732" y="1463040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Logits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2956" y="2221992"/>
            <a:ext cx="4791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59BFF"/>
                </a:solidFill>
              </a:rPr>
              <a:t>STEM-GNN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4540" y="222199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107"/>
                </a:solidFill>
              </a:rPr>
              <a:t>Our addition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395728"/>
            <a:ext cx="3566160" cy="2331720"/>
          </a:xfrm>
          <a:prstGeom prst="rect">
            <a:avLst/>
          </a:prstGeom>
          <a:solidFill>
            <a:srgbClr val="1E222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395728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256032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Non-overlapping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017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STEM-GNN uses MoE to expand mechanism coverage after aggregation.
We add a trust gate BEFORE aggregation — no architectural conflict.
VQ and Lipschitz on the head remain fully effective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395728"/>
            <a:ext cx="3566160" cy="2331720"/>
          </a:xfrm>
          <a:prstGeom prst="rect">
            <a:avLst/>
          </a:prstGeom>
          <a:solidFill>
            <a:srgbClr val="1E222C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2395728"/>
            <a:ext cx="3566160" cy="54864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256032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59BFF"/>
                </a:solidFill>
              </a:rPr>
              <a:t>Directly motivated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3017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STEM-GNN's own numbers show the gap: OOD-low drops −4.7 pp on Cora.
Our experiment confirms B/C gates cut injection drop to &lt; 0.3 pp.
Full LLM label-support gate targets the remaining OOD-low shortfall.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395728"/>
            <a:ext cx="3566160" cy="2331720"/>
          </a:xfrm>
          <a:prstGeom prst="rect">
            <a:avLst/>
          </a:prstGeom>
          <a:solidFill>
            <a:srgbClr val="1E222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2395728"/>
            <a:ext cx="356616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256032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Clear next experiment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2" y="301752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Integrate trust gate into STEM-GNN's MixtureSageLayer.
Re-run STEM-GNN's tri-objective evaluation (Table 3) with gate enabled.
Hypothesis: OOD-worst improves, Fit and Perturb-mean unchanged.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919472"/>
            <a:ext cx="11201400" cy="1737360"/>
          </a:xfrm>
          <a:prstGeom prst="rect">
            <a:avLst/>
          </a:prstGeom>
          <a:solidFill>
            <a:srgbClr val="0A101E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02920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3A8"/>
                </a:solidFill>
              </a:rPr>
              <a:t>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02920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STEM-GNN (KDD '26)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02920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With Trust Gate (proposed)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34924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Clean acc (Cora)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34924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9BFF"/>
                </a:solidFill>
              </a:rPr>
              <a:t>79.53%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34924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</a:rPr>
              <a:t>~79–80%  (gate adds minimal overhead)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66928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OOD-low (degree)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66928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9BFF"/>
                </a:solidFill>
              </a:rPr>
              <a:t>82.73%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66928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</a:rPr>
              <a:t>Target: close gap toward 87%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98932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Heterophily (Texas)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98932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9BFF"/>
                </a:solidFill>
              </a:rPr>
              <a:t>not reported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98932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</a:rPr>
              <a:t>Gate B/C: 81.1%  (vs A: 61.3%)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0936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Injection robustness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630936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9BFF"/>
                </a:solidFill>
              </a:rPr>
              <a:t>not reported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630936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107"/>
                </a:solidFill>
              </a:rPr>
              <a:t>Gate B/C: −0.2 pp drop (vs D: −1.3 pp)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