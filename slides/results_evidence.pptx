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GNN Router — Layer 1</c:v>
                </c:pt>
              </c:strCache>
            </c:strRef>
          </c:tx>
          <c:spPr>
            <a:solidFill>
              <a:srgbClr val="2A78D6"/>
            </a:solidFill>
            <a:ln>
              <a:noFill/>
            </a:ln>
          </c:spPr>
          <c:cat>
            <c:strRef>
              <c:f>Sheet1!$A$2:$A$4</c:f>
              <c:strCache>
                <c:ptCount val="3"/>
                <c:pt idx="0">
                  <c:v>Cora (7 cls)</c:v>
                </c:pt>
                <c:pt idx="1">
                  <c:v>Pubmed (3 cls)</c:v>
                </c:pt>
                <c:pt idx="2">
                  <c:v>WikiCS (10 cls)</c:v>
                </c:pt>
              </c:strCache>
            </c:strRef>
          </c:cat>
          <c:val>
            <c:numRef>
              <c:f>Sheet1!$B$2:$B$4</c:f>
              <c:numCache>
                <c:formatCode>General</c:formatCode>
                <c:ptCount val="3"/>
                <c:pt idx="0">
                  <c:v>0.456</c:v>
                </c:pt>
                <c:pt idx="1">
                  <c:v>0.468</c:v>
                </c:pt>
                <c:pt idx="2">
                  <c:v>0.336</c:v>
                </c:pt>
              </c:numCache>
            </c:numRef>
          </c:val>
        </c:ser>
        <c:ser>
          <c:idx val="1"/>
          <c:order val="1"/>
          <c:tx>
            <c:strRef>
              <c:f>Sheet1!$C$1</c:f>
              <c:strCache>
                <c:ptCount val="1"/>
                <c:pt idx="0">
                  <c:v>LLM Router — Layer 1</c:v>
                </c:pt>
              </c:strCache>
            </c:strRef>
          </c:tx>
          <c:spPr>
            <a:solidFill>
              <a:srgbClr val="EB6834"/>
            </a:solidFill>
            <a:ln>
              <a:noFill/>
            </a:ln>
          </c:spPr>
          <c:cat>
            <c:strRef>
              <c:f>Sheet1!$A$2:$A$4</c:f>
              <c:strCache>
                <c:ptCount val="3"/>
                <c:pt idx="0">
                  <c:v>Cora (7 cls)</c:v>
                </c:pt>
                <c:pt idx="1">
                  <c:v>Pubmed (3 cls)</c:v>
                </c:pt>
                <c:pt idx="2">
                  <c:v>WikiCS (10 cls)</c:v>
                </c:pt>
              </c:strCache>
            </c:strRef>
          </c:cat>
          <c:val>
            <c:numRef>
              <c:f>Sheet1!$C$2:$C$4</c:f>
              <c:numCache>
                <c:formatCode>General</c:formatCode>
                <c:ptCount val="3"/>
                <c:pt idx="0">
                  <c:v>0.357</c:v>
                </c:pt>
                <c:pt idx="1">
                  <c:v>0.434</c:v>
                </c:pt>
                <c:pt idx="2">
                  <c:v>0.258</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solidFill>
                  <a:srgbClr val="52514E"/>
                </a:solidFill>
              </a:defRPr>
            </a:pPr>
          </a:p>
        </c:txPr>
        <c:crossAx val="-2113994440"/>
        <c:crosses val="autoZero"/>
        <c:auto val="1"/>
        <c:lblAlgn val="ctr"/>
        <c:lblOffset val="100"/>
        <c:noMultiLvlLbl val="0"/>
      </c:catAx>
      <c:valAx>
        <c:axId val="-2113994440"/>
        <c:scaling>
          <c:max val="0.55"/>
          <c:min val="0.0"/>
        </c:scaling>
        <c:delete val="0"/>
        <c:axPos val="l"/>
        <c:majorGridlines>
          <c:spPr>
            <a:ln>
              <a:solidFill>
                <a:srgbClr val="E1E0D9"/>
              </a:solidFill>
            </a:ln>
          </c:spPr>
        </c:majorGridlines>
        <c:majorTickMark val="out"/>
        <c:minorTickMark val="none"/>
        <c:tickLblPos val="nextTo"/>
        <c:txPr>
          <a:bodyPr/>
          <a:lstStyle/>
          <a:p>
            <a:pPr>
              <a:defRPr sz="1000">
                <a:solidFill>
                  <a:srgbClr val="898781"/>
                </a:solidFill>
              </a:defRPr>
            </a:pPr>
          </a:p>
        </c:txPr>
        <c:crossAx val="-2068027336"/>
        <c:crosses val="autoZero"/>
      </c:valAx>
    </c:plotArea>
    <c:legend>
      <c:txPr>
        <a:bodyPr/>
        <a:lstStyle/>
        <a:p>
          <a:pPr>
            <a:defRPr sz="1000"/>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19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400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74320"/>
            <a:ext cx="9144000" cy="246888"/>
          </a:xfrm>
          <a:prstGeom prst="rect">
            <a:avLst/>
          </a:prstGeom>
          <a:noFill/>
        </p:spPr>
        <p:txBody>
          <a:bodyPr wrap="none">
            <a:spAutoFit/>
          </a:bodyPr>
          <a:lstStyle/>
          <a:p>
            <a:pPr algn="l"/>
            <a:r>
              <a:rPr sz="850" b="1" i="0">
                <a:solidFill>
                  <a:srgbClr val="86B6EF"/>
                </a:solidFill>
              </a:rPr>
              <a:t>EXPERIMENTAL RESULTS  ·  LLM vs GNN ROUTER  ·  5 DATASETS  ·  DEGREE + HOMOPHILY SHIFT</a:t>
            </a:r>
          </a:p>
        </p:txBody>
      </p:sp>
      <p:sp>
        <p:nvSpPr>
          <p:cNvPr id="5" name="TextBox 4"/>
          <p:cNvSpPr txBox="1"/>
          <p:nvPr/>
        </p:nvSpPr>
        <p:spPr>
          <a:xfrm>
            <a:off x="548640" y="658368"/>
            <a:ext cx="7315200" cy="1097280"/>
          </a:xfrm>
          <a:prstGeom prst="rect">
            <a:avLst/>
          </a:prstGeom>
          <a:noFill/>
        </p:spPr>
        <p:txBody>
          <a:bodyPr wrap="none">
            <a:spAutoFit/>
          </a:bodyPr>
          <a:lstStyle/>
          <a:p>
            <a:pPr algn="l"/>
            <a:r>
              <a:rPr sz="2800" b="1" i="0">
                <a:solidFill>
                  <a:srgbClr val="FFFFFF"/>
                </a:solidFill>
              </a:rPr>
              <a:t>What the experiments show:
Why LLM reinforcement is the right direction</a:t>
            </a:r>
          </a:p>
        </p:txBody>
      </p:sp>
      <p:sp>
        <p:nvSpPr>
          <p:cNvPr id="6" name="TextBox 5"/>
          <p:cNvSpPr txBox="1"/>
          <p:nvPr/>
        </p:nvSpPr>
        <p:spPr>
          <a:xfrm>
            <a:off x="548640" y="1874519"/>
            <a:ext cx="7406640" cy="594360"/>
          </a:xfrm>
          <a:prstGeom prst="rect">
            <a:avLst/>
          </a:prstGeom>
          <a:noFill/>
        </p:spPr>
        <p:txBody>
          <a:bodyPr wrap="none">
            <a:spAutoFit/>
          </a:bodyPr>
          <a:lstStyle/>
          <a:p>
            <a:pPr algn="l"/>
            <a:r>
              <a:rPr sz="1200" b="0" i="0">
                <a:solidFill>
                  <a:srgbClr val="86B6EF"/>
                </a:solidFill>
              </a:rPr>
              <a:t>We ran GNN router vs LLM-direct router across 5 datasets and 2 OOD benchmarks. The results reveal three concrete findings that motivate the KL-alignment approach.</a:t>
            </a:r>
          </a:p>
        </p:txBody>
      </p:sp>
      <p:sp>
        <p:nvSpPr>
          <p:cNvPr id="7" name="Rectangle 6"/>
          <p:cNvSpPr/>
          <p:nvPr/>
        </p:nvSpPr>
        <p:spPr>
          <a:xfrm>
            <a:off x="548640" y="2651760"/>
            <a:ext cx="7132320" cy="713232"/>
          </a:xfrm>
          <a:prstGeom prst="rect">
            <a:avLst/>
          </a:prstGeom>
          <a:solidFill>
            <a:srgbClr val="0D2040"/>
          </a:solidFill>
          <a:ln w="1905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lIns="109728" tIns="91440"/>
          <a:lstStyle/>
          <a:p>
            <a:pPr algn="ctr"/>
            <a:r>
              <a:rPr sz="1200" b="1">
                <a:solidFill>
                  <a:srgbClr val="2A78D6"/>
                </a:solidFill>
              </a:rPr>
              <a:t>Finding 1</a:t>
            </a:r>
          </a:p>
          <a:p>
            <a:r>
              <a:rPr sz="1000">
                <a:solidFill>
                  <a:srgbClr val="86B6EF"/>
                </a:solidFill>
              </a:rPr>
              <a:t>GNN routing creates more semantically pure experts — message-passing helps</a:t>
            </a:r>
          </a:p>
        </p:txBody>
      </p:sp>
      <p:sp>
        <p:nvSpPr>
          <p:cNvPr id="8" name="Rectangle 7"/>
          <p:cNvSpPr/>
          <p:nvPr/>
        </p:nvSpPr>
        <p:spPr>
          <a:xfrm>
            <a:off x="548640" y="3438144"/>
            <a:ext cx="7132320" cy="713232"/>
          </a:xfrm>
          <a:prstGeom prst="rect">
            <a:avLst/>
          </a:prstGeom>
          <a:solidFill>
            <a:srgbClr val="0D2040"/>
          </a:solidFill>
          <a:ln w="19050">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lIns="109728" tIns="91440"/>
          <a:lstStyle/>
          <a:p>
            <a:pPr algn="ctr"/>
            <a:r>
              <a:rPr sz="1200" b="1">
                <a:solidFill>
                  <a:srgbClr val="EB6834"/>
                </a:solidFill>
              </a:rPr>
              <a:t>Finding 2</a:t>
            </a:r>
          </a:p>
          <a:p>
            <a:r>
              <a:rPr sz="1000">
                <a:solidFill>
                  <a:srgbClr val="86B6EF"/>
                </a:solidFill>
              </a:rPr>
              <a:t>Routing instability is 10× worse on Arxiv — LLM anchor is more stable there</a:t>
            </a:r>
          </a:p>
        </p:txBody>
      </p:sp>
      <p:sp>
        <p:nvSpPr>
          <p:cNvPr id="9" name="Rectangle 8"/>
          <p:cNvSpPr/>
          <p:nvPr/>
        </p:nvSpPr>
        <p:spPr>
          <a:xfrm>
            <a:off x="548640" y="4224528"/>
            <a:ext cx="7132320" cy="713232"/>
          </a:xfrm>
          <a:prstGeom prst="rect">
            <a:avLst/>
          </a:prstGeom>
          <a:solidFill>
            <a:srgbClr val="0D2040"/>
          </a:solidFill>
          <a:ln w="19050">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lIns="109728" tIns="91440"/>
          <a:lstStyle/>
          <a:p>
            <a:pPr algn="ctr"/>
            <a:r>
              <a:rPr sz="1200" b="1">
                <a:solidFill>
                  <a:srgbClr val="1BAF7A"/>
                </a:solidFill>
              </a:rPr>
              <a:t>Finding 3</a:t>
            </a:r>
          </a:p>
          <a:p>
            <a:r>
              <a:rPr sz="1000">
                <a:solidFill>
                  <a:srgbClr val="86B6EF"/>
                </a:solidFill>
              </a:rPr>
              <a:t>Low expert purity correlates with large OOD accuracy drop (WikiCS)</a:t>
            </a:r>
          </a:p>
        </p:txBody>
      </p:sp>
      <p:sp>
        <p:nvSpPr>
          <p:cNvPr id="10" name="Rectangle 9"/>
          <p:cNvSpPr/>
          <p:nvPr/>
        </p:nvSpPr>
        <p:spPr>
          <a:xfrm>
            <a:off x="8321040" y="502920"/>
            <a:ext cx="3657600" cy="6126480"/>
          </a:xfrm>
          <a:prstGeom prst="rect">
            <a:avLst/>
          </a:prstGeom>
          <a:solidFill>
            <a:srgbClr val="06101E"/>
          </a:solidFill>
          <a:ln w="9525">
            <a:solidFill>
              <a:srgbClr val="1A2A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713232"/>
            <a:ext cx="3291840" cy="228600"/>
          </a:xfrm>
          <a:prstGeom prst="rect">
            <a:avLst/>
          </a:prstGeom>
          <a:noFill/>
        </p:spPr>
        <p:txBody>
          <a:bodyPr wrap="none">
            <a:spAutoFit/>
          </a:bodyPr>
          <a:lstStyle/>
          <a:p>
            <a:pPr algn="ctr"/>
            <a:r>
              <a:rPr sz="800" b="1" i="0">
                <a:solidFill>
                  <a:srgbClr val="86B6EF"/>
                </a:solidFill>
              </a:rPr>
              <a:t>KEY NUMBERS AT A GLANCE</a:t>
            </a:r>
          </a:p>
        </p:txBody>
      </p:sp>
      <p:sp>
        <p:nvSpPr>
          <p:cNvPr id="12" name="TextBox 11"/>
          <p:cNvSpPr txBox="1"/>
          <p:nvPr/>
        </p:nvSpPr>
        <p:spPr>
          <a:xfrm>
            <a:off x="8503920" y="1005840"/>
            <a:ext cx="3200400" cy="201168"/>
          </a:xfrm>
          <a:prstGeom prst="rect">
            <a:avLst/>
          </a:prstGeom>
          <a:noFill/>
        </p:spPr>
        <p:txBody>
          <a:bodyPr wrap="none">
            <a:spAutoFit/>
          </a:bodyPr>
          <a:lstStyle/>
          <a:p>
            <a:pPr algn="l"/>
            <a:r>
              <a:rPr sz="800" b="0" i="0">
                <a:solidFill>
                  <a:srgbClr val="898781"/>
                </a:solidFill>
              </a:rPr>
              <a:t>GNN Layer 1 purity (Cora)</a:t>
            </a:r>
          </a:p>
        </p:txBody>
      </p:sp>
      <p:sp>
        <p:nvSpPr>
          <p:cNvPr id="13" name="TextBox 12"/>
          <p:cNvSpPr txBox="1"/>
          <p:nvPr/>
        </p:nvSpPr>
        <p:spPr>
          <a:xfrm>
            <a:off x="8503920" y="1207008"/>
            <a:ext cx="3200400" cy="256032"/>
          </a:xfrm>
          <a:prstGeom prst="rect">
            <a:avLst/>
          </a:prstGeom>
          <a:noFill/>
        </p:spPr>
        <p:txBody>
          <a:bodyPr wrap="none">
            <a:spAutoFit/>
          </a:bodyPr>
          <a:lstStyle/>
          <a:p>
            <a:pPr algn="l"/>
            <a:r>
              <a:rPr sz="1500" b="1" i="0">
                <a:solidFill>
                  <a:srgbClr val="FFFFFF"/>
                </a:solidFill>
              </a:rPr>
              <a:t>0.456</a:t>
            </a:r>
          </a:p>
        </p:txBody>
      </p:sp>
      <p:sp>
        <p:nvSpPr>
          <p:cNvPr id="14" name="TextBox 13"/>
          <p:cNvSpPr txBox="1"/>
          <p:nvPr/>
        </p:nvSpPr>
        <p:spPr>
          <a:xfrm>
            <a:off x="8503920" y="1463040"/>
            <a:ext cx="3200400" cy="182880"/>
          </a:xfrm>
          <a:prstGeom prst="rect">
            <a:avLst/>
          </a:prstGeom>
          <a:noFill/>
        </p:spPr>
        <p:txBody>
          <a:bodyPr wrap="none">
            <a:spAutoFit/>
          </a:bodyPr>
          <a:lstStyle/>
          <a:p>
            <a:pPr algn="l"/>
            <a:r>
              <a:rPr sz="800" b="0" i="0">
                <a:solidFill>
                  <a:srgbClr val="86B6EF"/>
                </a:solidFill>
              </a:rPr>
              <a:t>vs LLM 0.357  (+28%)</a:t>
            </a:r>
          </a:p>
        </p:txBody>
      </p:sp>
      <p:sp>
        <p:nvSpPr>
          <p:cNvPr id="15" name="TextBox 14"/>
          <p:cNvSpPr txBox="1"/>
          <p:nvPr/>
        </p:nvSpPr>
        <p:spPr>
          <a:xfrm>
            <a:off x="8503920" y="1755648"/>
            <a:ext cx="3200400" cy="201168"/>
          </a:xfrm>
          <a:prstGeom prst="rect">
            <a:avLst/>
          </a:prstGeom>
          <a:noFill/>
        </p:spPr>
        <p:txBody>
          <a:bodyPr wrap="none">
            <a:spAutoFit/>
          </a:bodyPr>
          <a:lstStyle/>
          <a:p>
            <a:pPr algn="l"/>
            <a:r>
              <a:rPr sz="800" b="0" i="0">
                <a:solidFill>
                  <a:srgbClr val="898781"/>
                </a:solidFill>
              </a:rPr>
              <a:t>GNN Layer 1 purity (Pubmed)</a:t>
            </a:r>
          </a:p>
        </p:txBody>
      </p:sp>
      <p:sp>
        <p:nvSpPr>
          <p:cNvPr id="16" name="TextBox 15"/>
          <p:cNvSpPr txBox="1"/>
          <p:nvPr/>
        </p:nvSpPr>
        <p:spPr>
          <a:xfrm>
            <a:off x="8503920" y="1956816"/>
            <a:ext cx="3200400" cy="256032"/>
          </a:xfrm>
          <a:prstGeom prst="rect">
            <a:avLst/>
          </a:prstGeom>
          <a:noFill/>
        </p:spPr>
        <p:txBody>
          <a:bodyPr wrap="none">
            <a:spAutoFit/>
          </a:bodyPr>
          <a:lstStyle/>
          <a:p>
            <a:pPr algn="l"/>
            <a:r>
              <a:rPr sz="1500" b="1" i="0">
                <a:solidFill>
                  <a:srgbClr val="FFFFFF"/>
                </a:solidFill>
              </a:rPr>
              <a:t>0.468</a:t>
            </a:r>
          </a:p>
        </p:txBody>
      </p:sp>
      <p:sp>
        <p:nvSpPr>
          <p:cNvPr id="17" name="TextBox 16"/>
          <p:cNvSpPr txBox="1"/>
          <p:nvPr/>
        </p:nvSpPr>
        <p:spPr>
          <a:xfrm>
            <a:off x="8503920" y="2212848"/>
            <a:ext cx="3200400" cy="182880"/>
          </a:xfrm>
          <a:prstGeom prst="rect">
            <a:avLst/>
          </a:prstGeom>
          <a:noFill/>
        </p:spPr>
        <p:txBody>
          <a:bodyPr wrap="none">
            <a:spAutoFit/>
          </a:bodyPr>
          <a:lstStyle/>
          <a:p>
            <a:pPr algn="l"/>
            <a:r>
              <a:rPr sz="800" b="0" i="0">
                <a:solidFill>
                  <a:srgbClr val="86B6EF"/>
                </a:solidFill>
              </a:rPr>
              <a:t>vs LLM 0.434  (+8%)</a:t>
            </a:r>
          </a:p>
        </p:txBody>
      </p:sp>
      <p:sp>
        <p:nvSpPr>
          <p:cNvPr id="18" name="TextBox 17"/>
          <p:cNvSpPr txBox="1"/>
          <p:nvPr/>
        </p:nvSpPr>
        <p:spPr>
          <a:xfrm>
            <a:off x="8503920" y="2505456"/>
            <a:ext cx="3200400" cy="201168"/>
          </a:xfrm>
          <a:prstGeom prst="rect">
            <a:avLst/>
          </a:prstGeom>
          <a:noFill/>
        </p:spPr>
        <p:txBody>
          <a:bodyPr wrap="none">
            <a:spAutoFit/>
          </a:bodyPr>
          <a:lstStyle/>
          <a:p>
            <a:pPr algn="l"/>
            <a:r>
              <a:rPr sz="800" b="0" i="0">
                <a:solidFill>
                  <a:srgbClr val="898781"/>
                </a:solidFill>
              </a:rPr>
              <a:t>GNN Layer 1 purity (WikiCS)</a:t>
            </a:r>
          </a:p>
        </p:txBody>
      </p:sp>
      <p:sp>
        <p:nvSpPr>
          <p:cNvPr id="19" name="TextBox 18"/>
          <p:cNvSpPr txBox="1"/>
          <p:nvPr/>
        </p:nvSpPr>
        <p:spPr>
          <a:xfrm>
            <a:off x="8503920" y="2706624"/>
            <a:ext cx="3200400" cy="256032"/>
          </a:xfrm>
          <a:prstGeom prst="rect">
            <a:avLst/>
          </a:prstGeom>
          <a:noFill/>
        </p:spPr>
        <p:txBody>
          <a:bodyPr wrap="none">
            <a:spAutoFit/>
          </a:bodyPr>
          <a:lstStyle/>
          <a:p>
            <a:pPr algn="l"/>
            <a:r>
              <a:rPr sz="1500" b="1" i="0">
                <a:solidFill>
                  <a:srgbClr val="FFFFFF"/>
                </a:solidFill>
              </a:rPr>
              <a:t>0.336</a:t>
            </a:r>
          </a:p>
        </p:txBody>
      </p:sp>
      <p:sp>
        <p:nvSpPr>
          <p:cNvPr id="20" name="TextBox 19"/>
          <p:cNvSpPr txBox="1"/>
          <p:nvPr/>
        </p:nvSpPr>
        <p:spPr>
          <a:xfrm>
            <a:off x="8503920" y="2962656"/>
            <a:ext cx="3200400" cy="182880"/>
          </a:xfrm>
          <a:prstGeom prst="rect">
            <a:avLst/>
          </a:prstGeom>
          <a:noFill/>
        </p:spPr>
        <p:txBody>
          <a:bodyPr wrap="none">
            <a:spAutoFit/>
          </a:bodyPr>
          <a:lstStyle/>
          <a:p>
            <a:pPr algn="l"/>
            <a:r>
              <a:rPr sz="800" b="0" i="0">
                <a:solidFill>
                  <a:srgbClr val="86B6EF"/>
                </a:solidFill>
              </a:rPr>
              <a:t>vs LLM 0.258  (+30%)</a:t>
            </a:r>
          </a:p>
        </p:txBody>
      </p:sp>
      <p:sp>
        <p:nvSpPr>
          <p:cNvPr id="21" name="TextBox 20"/>
          <p:cNvSpPr txBox="1"/>
          <p:nvPr/>
        </p:nvSpPr>
        <p:spPr>
          <a:xfrm>
            <a:off x="8503920" y="3255264"/>
            <a:ext cx="3200400" cy="201168"/>
          </a:xfrm>
          <a:prstGeom prst="rect">
            <a:avLst/>
          </a:prstGeom>
          <a:noFill/>
        </p:spPr>
        <p:txBody>
          <a:bodyPr wrap="none">
            <a:spAutoFit/>
          </a:bodyPr>
          <a:lstStyle/>
          <a:p>
            <a:pPr algn="l"/>
            <a:r>
              <a:rPr sz="800" b="0" i="0">
                <a:solidFill>
                  <a:srgbClr val="898781"/>
                </a:solidFill>
              </a:rPr>
              <a:t>Arxiv routing TV shift (GNN)</a:t>
            </a:r>
          </a:p>
        </p:txBody>
      </p:sp>
      <p:sp>
        <p:nvSpPr>
          <p:cNvPr id="22" name="TextBox 21"/>
          <p:cNvSpPr txBox="1"/>
          <p:nvPr/>
        </p:nvSpPr>
        <p:spPr>
          <a:xfrm>
            <a:off x="8503920" y="3456432"/>
            <a:ext cx="3200400" cy="256032"/>
          </a:xfrm>
          <a:prstGeom prst="rect">
            <a:avLst/>
          </a:prstGeom>
          <a:noFill/>
        </p:spPr>
        <p:txBody>
          <a:bodyPr wrap="none">
            <a:spAutoFit/>
          </a:bodyPr>
          <a:lstStyle/>
          <a:p>
            <a:pPr algn="l"/>
            <a:r>
              <a:rPr sz="1500" b="1" i="0">
                <a:solidFill>
                  <a:srgbClr val="FFFFFF"/>
                </a:solidFill>
              </a:rPr>
              <a:t>0.0144</a:t>
            </a:r>
          </a:p>
        </p:txBody>
      </p:sp>
      <p:sp>
        <p:nvSpPr>
          <p:cNvPr id="23" name="TextBox 22"/>
          <p:cNvSpPr txBox="1"/>
          <p:nvPr/>
        </p:nvSpPr>
        <p:spPr>
          <a:xfrm>
            <a:off x="8503920" y="3712464"/>
            <a:ext cx="3200400" cy="182880"/>
          </a:xfrm>
          <a:prstGeom prst="rect">
            <a:avLst/>
          </a:prstGeom>
          <a:noFill/>
        </p:spPr>
        <p:txBody>
          <a:bodyPr wrap="none">
            <a:spAutoFit/>
          </a:bodyPr>
          <a:lstStyle/>
          <a:p>
            <a:pPr algn="l"/>
            <a:r>
              <a:rPr sz="800" b="0" i="0">
                <a:solidFill>
                  <a:srgbClr val="86B6EF"/>
                </a:solidFill>
              </a:rPr>
              <a:t>LLM: 0.0124  (14% lower)</a:t>
            </a:r>
          </a:p>
        </p:txBody>
      </p:sp>
      <p:sp>
        <p:nvSpPr>
          <p:cNvPr id="24" name="TextBox 23"/>
          <p:cNvSpPr txBox="1"/>
          <p:nvPr/>
        </p:nvSpPr>
        <p:spPr>
          <a:xfrm>
            <a:off x="8503920" y="4005072"/>
            <a:ext cx="3200400" cy="201168"/>
          </a:xfrm>
          <a:prstGeom prst="rect">
            <a:avLst/>
          </a:prstGeom>
          <a:noFill/>
        </p:spPr>
        <p:txBody>
          <a:bodyPr wrap="none">
            <a:spAutoFit/>
          </a:bodyPr>
          <a:lstStyle/>
          <a:p>
            <a:pPr algn="l"/>
            <a:r>
              <a:rPr sz="800" b="0" i="0">
                <a:solidFill>
                  <a:srgbClr val="898781"/>
                </a:solidFill>
              </a:rPr>
              <a:t>WikiCS OOD-low drop</a:t>
            </a:r>
          </a:p>
        </p:txBody>
      </p:sp>
      <p:sp>
        <p:nvSpPr>
          <p:cNvPr id="25" name="TextBox 24"/>
          <p:cNvSpPr txBox="1"/>
          <p:nvPr/>
        </p:nvSpPr>
        <p:spPr>
          <a:xfrm>
            <a:off x="8503920" y="4206240"/>
            <a:ext cx="3200400" cy="256032"/>
          </a:xfrm>
          <a:prstGeom prst="rect">
            <a:avLst/>
          </a:prstGeom>
          <a:noFill/>
        </p:spPr>
        <p:txBody>
          <a:bodyPr wrap="none">
            <a:spAutoFit/>
          </a:bodyPr>
          <a:lstStyle/>
          <a:p>
            <a:pPr algn="l"/>
            <a:r>
              <a:rPr sz="1500" b="1" i="0">
                <a:solidFill>
                  <a:srgbClr val="FFFFFF"/>
                </a:solidFill>
              </a:rPr>
              <a:t>−10.0%</a:t>
            </a:r>
          </a:p>
        </p:txBody>
      </p:sp>
      <p:sp>
        <p:nvSpPr>
          <p:cNvPr id="26" name="TextBox 25"/>
          <p:cNvSpPr txBox="1"/>
          <p:nvPr/>
        </p:nvSpPr>
        <p:spPr>
          <a:xfrm>
            <a:off x="8503920" y="4462272"/>
            <a:ext cx="3200400" cy="182880"/>
          </a:xfrm>
          <a:prstGeom prst="rect">
            <a:avLst/>
          </a:prstGeom>
          <a:noFill/>
        </p:spPr>
        <p:txBody>
          <a:bodyPr wrap="none">
            <a:spAutoFit/>
          </a:bodyPr>
          <a:lstStyle/>
          <a:p>
            <a:pPr algn="l"/>
            <a:r>
              <a:rPr sz="800" b="0" i="0">
                <a:solidFill>
                  <a:srgbClr val="86B6EF"/>
                </a:solidFill>
              </a:rPr>
              <a:t>ID 85.5% → OOD 75.5%</a:t>
            </a:r>
          </a:p>
        </p:txBody>
      </p:sp>
      <p:sp>
        <p:nvSpPr>
          <p:cNvPr id="27" name="TextBox 26"/>
          <p:cNvSpPr txBox="1"/>
          <p:nvPr/>
        </p:nvSpPr>
        <p:spPr>
          <a:xfrm>
            <a:off x="8503920" y="4754880"/>
            <a:ext cx="3200400" cy="201168"/>
          </a:xfrm>
          <a:prstGeom prst="rect">
            <a:avLst/>
          </a:prstGeom>
          <a:noFill/>
        </p:spPr>
        <p:txBody>
          <a:bodyPr wrap="none">
            <a:spAutoFit/>
          </a:bodyPr>
          <a:lstStyle/>
          <a:p>
            <a:pPr algn="l"/>
            <a:r>
              <a:rPr sz="800" b="0" i="0">
                <a:solidFill>
                  <a:srgbClr val="898781"/>
                </a:solidFill>
              </a:rPr>
              <a:t>Pubmed OOD-low drop</a:t>
            </a:r>
          </a:p>
        </p:txBody>
      </p:sp>
      <p:sp>
        <p:nvSpPr>
          <p:cNvPr id="28" name="TextBox 27"/>
          <p:cNvSpPr txBox="1"/>
          <p:nvPr/>
        </p:nvSpPr>
        <p:spPr>
          <a:xfrm>
            <a:off x="8503920" y="4956048"/>
            <a:ext cx="3200400" cy="256032"/>
          </a:xfrm>
          <a:prstGeom prst="rect">
            <a:avLst/>
          </a:prstGeom>
          <a:noFill/>
        </p:spPr>
        <p:txBody>
          <a:bodyPr wrap="none">
            <a:spAutoFit/>
          </a:bodyPr>
          <a:lstStyle/>
          <a:p>
            <a:pPr algn="l"/>
            <a:r>
              <a:rPr sz="1500" b="1" i="0">
                <a:solidFill>
                  <a:srgbClr val="FFFFFF"/>
                </a:solidFill>
              </a:rPr>
              <a:t>−1.6%</a:t>
            </a:r>
          </a:p>
        </p:txBody>
      </p:sp>
      <p:sp>
        <p:nvSpPr>
          <p:cNvPr id="29" name="TextBox 28"/>
          <p:cNvSpPr txBox="1"/>
          <p:nvPr/>
        </p:nvSpPr>
        <p:spPr>
          <a:xfrm>
            <a:off x="8503920" y="5212080"/>
            <a:ext cx="3200400" cy="182880"/>
          </a:xfrm>
          <a:prstGeom prst="rect">
            <a:avLst/>
          </a:prstGeom>
          <a:noFill/>
        </p:spPr>
        <p:txBody>
          <a:bodyPr wrap="none">
            <a:spAutoFit/>
          </a:bodyPr>
          <a:lstStyle/>
          <a:p>
            <a:pPr algn="l"/>
            <a:r>
              <a:rPr sz="800" b="0" i="0">
                <a:solidFill>
                  <a:srgbClr val="86B6EF"/>
                </a:solidFill>
              </a:rPr>
              <a:t>ID 89.8% → OOD 88.2%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CFC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
            <a:ext cx="10972800" cy="228600"/>
          </a:xfrm>
          <a:prstGeom prst="rect">
            <a:avLst/>
          </a:prstGeom>
          <a:noFill/>
        </p:spPr>
        <p:txBody>
          <a:bodyPr wrap="none">
            <a:spAutoFit/>
          </a:bodyPr>
          <a:lstStyle/>
          <a:p>
            <a:pPr algn="l"/>
            <a:r>
              <a:rPr sz="800" b="1" i="0">
                <a:solidFill>
                  <a:srgbClr val="898781"/>
                </a:solidFill>
              </a:rPr>
              <a:t>FINDING 1  ·  EXPERT SEMANTIC PURITY  ·  DEGREE SHIFT  ·  5 RUNS EACH</a:t>
            </a:r>
          </a:p>
        </p:txBody>
      </p:sp>
      <p:sp>
        <p:nvSpPr>
          <p:cNvPr id="5" name="TextBox 4"/>
          <p:cNvSpPr txBox="1"/>
          <p:nvPr/>
        </p:nvSpPr>
        <p:spPr>
          <a:xfrm>
            <a:off x="411480" y="384048"/>
            <a:ext cx="11338560" cy="566928"/>
          </a:xfrm>
          <a:prstGeom prst="rect">
            <a:avLst/>
          </a:prstGeom>
          <a:noFill/>
        </p:spPr>
        <p:txBody>
          <a:bodyPr wrap="none">
            <a:spAutoFit/>
          </a:bodyPr>
          <a:lstStyle/>
          <a:p>
            <a:pPr algn="l"/>
            <a:r>
              <a:rPr sz="2200" b="1" i="0">
                <a:solidFill>
                  <a:srgbClr val="0B0B0B"/>
                </a:solidFill>
              </a:rPr>
              <a:t>GNN Router Produces More Semantically Pure Experts</a:t>
            </a:r>
          </a:p>
        </p:txBody>
      </p:sp>
      <p:sp>
        <p:nvSpPr>
          <p:cNvPr id="6" name="TextBox 5"/>
          <p:cNvSpPr txBox="1"/>
          <p:nvPr/>
        </p:nvSpPr>
        <p:spPr>
          <a:xfrm>
            <a:off x="411480" y="841248"/>
            <a:ext cx="11338560" cy="411480"/>
          </a:xfrm>
          <a:prstGeom prst="rect">
            <a:avLst/>
          </a:prstGeom>
          <a:noFill/>
        </p:spPr>
        <p:txBody>
          <a:bodyPr wrap="none">
            <a:spAutoFit/>
          </a:bodyPr>
          <a:lstStyle/>
          <a:p>
            <a:pPr algn="l"/>
            <a:r>
              <a:rPr sz="1000" b="0" i="0">
                <a:solidFill>
                  <a:srgbClr val="52514E"/>
                </a:solidFill>
              </a:rPr>
              <a:t>Class purity = weighted fraction of nodes in each expert's dominant class. Higher = experts specialise on semantically coherent node groups. GNN routing beats LLM routing on purity in every dataset — message-passing helps organise experts.</a:t>
            </a:r>
          </a:p>
        </p:txBody>
      </p:sp>
      <p:graphicFrame>
        <p:nvGraphicFramePr>
          <p:cNvPr id="7" name="Chart 6"/>
          <p:cNvGraphicFramePr>
            <a:graphicFrameLocks noGrp="1"/>
          </p:cNvGraphicFramePr>
          <p:nvPr/>
        </p:nvGraphicFramePr>
        <p:xfrm>
          <a:off x="365760" y="1298448"/>
          <a:ext cx="6400800" cy="5120640"/>
        </p:xfrm>
        <a:graphic>
          <a:graphicData uri="http://schemas.openxmlformats.org/drawingml/2006/chart">
            <c:chart xmlns:c="http://schemas.openxmlformats.org/drawingml/2006/chart" r:id="rId2"/>
          </a:graphicData>
        </a:graphic>
      </p:graphicFrame>
      <p:sp>
        <p:nvSpPr>
          <p:cNvPr id="8" name="Rectangle 7"/>
          <p:cNvSpPr/>
          <p:nvPr/>
        </p:nvSpPr>
        <p:spPr>
          <a:xfrm>
            <a:off x="7086600" y="1298448"/>
            <a:ext cx="4800600" cy="1417320"/>
          </a:xfrm>
          <a:prstGeom prst="rect">
            <a:avLst/>
          </a:prstGeom>
          <a:solidFill>
            <a:srgbClr val="E8F0FB"/>
          </a:solidFill>
          <a:ln w="19050">
            <a:solidFill>
              <a:srgbClr val="BCCEFF"/>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a:lstStyle/>
          <a:p>
            <a:pPr algn="ctr"/>
            <a:r>
              <a:rPr sz="1100" b="1">
                <a:solidFill>
                  <a:srgbClr val="1C5CAB"/>
                </a:solidFill>
              </a:rPr>
              <a:t>Why GNN purity &gt; LLM purity</a:t>
            </a:r>
          </a:p>
          <a:p>
            <a:pPr>
              <a:spcBef>
                <a:spcPts val="300"/>
              </a:spcBef>
            </a:pPr>
            <a:r>
              <a:rPr sz="950">
                <a:solidFill>
                  <a:srgbClr val="52514E"/>
                </a:solidFill>
              </a:rPr>
              <a:t>The GNN aggregates neighbour features before routing. Nodes in the same local community (same class) become similar in hidden space z, so the router naturally groups them together. LLM embeddings capture text semantics but skip this structural clustering step.</a:t>
            </a:r>
          </a:p>
        </p:txBody>
      </p:sp>
      <p:sp>
        <p:nvSpPr>
          <p:cNvPr id="9" name="Rectangle 8"/>
          <p:cNvSpPr/>
          <p:nvPr/>
        </p:nvSpPr>
        <p:spPr>
          <a:xfrm>
            <a:off x="7086600" y="2816352"/>
            <a:ext cx="4800600" cy="1417320"/>
          </a:xfrm>
          <a:prstGeom prst="rect">
            <a:avLst/>
          </a:prstGeom>
          <a:solidFill>
            <a:srgbClr val="FFF0E8"/>
          </a:solidFill>
          <a:ln w="19050">
            <a:solidFill>
              <a:srgbClr val="F5C4A0"/>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a:lstStyle/>
          <a:p>
            <a:pPr algn="ctr"/>
            <a:r>
              <a:rPr sz="1100" b="1">
                <a:solidFill>
                  <a:srgbClr val="EB6834"/>
                </a:solidFill>
              </a:rPr>
              <a:t>Cora: +28% purity gap (0.456 vs 0.357)</a:t>
            </a:r>
          </a:p>
          <a:p>
            <a:pPr>
              <a:spcBef>
                <a:spcPts val="300"/>
              </a:spcBef>
            </a:pPr>
            <a:r>
              <a:rPr sz="950">
                <a:solidFill>
                  <a:srgbClr val="52514E"/>
                </a:solidFill>
              </a:rPr>
              <a:t>7-class dataset. GNN router at Layer 1 achieves clear expert specialisation. LLM router is significantly weaker — text alone can't replicate the community structure that message-passing extracts. This is why we reinforce GNN routing, not replace it.</a:t>
            </a:r>
          </a:p>
        </p:txBody>
      </p:sp>
      <p:sp>
        <p:nvSpPr>
          <p:cNvPr id="10" name="Rectangle 9"/>
          <p:cNvSpPr/>
          <p:nvPr/>
        </p:nvSpPr>
        <p:spPr>
          <a:xfrm>
            <a:off x="7086600" y="4334256"/>
            <a:ext cx="4800600" cy="1417320"/>
          </a:xfrm>
          <a:prstGeom prst="rect">
            <a:avLst/>
          </a:prstGeom>
          <a:solidFill>
            <a:srgbClr val="F0FAF5"/>
          </a:solidFill>
          <a:ln w="19050">
            <a:solidFill>
              <a:srgbClr val="A8DFC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a:lstStyle/>
          <a:p>
            <a:pPr algn="ctr"/>
            <a:r>
              <a:rPr sz="1100" b="1">
                <a:solidFill>
                  <a:srgbClr val="0A5C41"/>
                </a:solidFill>
              </a:rPr>
              <a:t>WikiCS: +30% purity gap (0.336 vs 0.258)</a:t>
            </a:r>
          </a:p>
          <a:p>
            <a:pPr>
              <a:spcBef>
                <a:spcPts val="300"/>
              </a:spcBef>
            </a:pPr>
            <a:r>
              <a:rPr sz="950">
                <a:solidFill>
                  <a:srgbClr val="52514E"/>
                </a:solidFill>
              </a:rPr>
              <a:t>10-class heterophilic graph. Lowest absolute purity because classes are harder to separate. But GNN still outperforms LLM routing significantly. And WikiCS also has the largest OOD accuracy drop (−10%) — motivating the KL alignment fix.</a:t>
            </a:r>
          </a:p>
        </p:txBody>
      </p:sp>
      <p:sp>
        <p:nvSpPr>
          <p:cNvPr id="11" name="TextBox 10"/>
          <p:cNvSpPr txBox="1"/>
          <p:nvPr/>
        </p:nvSpPr>
        <p:spPr>
          <a:xfrm>
            <a:off x="7086600" y="5852160"/>
            <a:ext cx="4800600" cy="502920"/>
          </a:xfrm>
          <a:prstGeom prst="rect">
            <a:avLst/>
          </a:prstGeom>
          <a:noFill/>
        </p:spPr>
        <p:txBody>
          <a:bodyPr wrap="none">
            <a:spAutoFit/>
          </a:bodyPr>
          <a:lstStyle/>
          <a:p>
            <a:pPr algn="l"/>
            <a:r>
              <a:rPr sz="900" b="0" i="0">
                <a:solidFill>
                  <a:srgbClr val="898781"/>
                </a:solidFill>
              </a:rPr>
              <a:t>Layer 0 purity is similar for both routers (~0.31 Cora, ~0.44 Pubmed, ~0.26 WikiCS) — the purity gap emerges after the second GNN layer, confirming message-passing is the driver.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CFC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
            <a:ext cx="10972800" cy="228600"/>
          </a:xfrm>
          <a:prstGeom prst="rect">
            <a:avLst/>
          </a:prstGeom>
          <a:noFill/>
        </p:spPr>
        <p:txBody>
          <a:bodyPr wrap="none">
            <a:spAutoFit/>
          </a:bodyPr>
          <a:lstStyle/>
          <a:p>
            <a:pPr algn="l"/>
            <a:r>
              <a:rPr sz="800" b="1" i="0">
                <a:solidFill>
                  <a:srgbClr val="898781"/>
                </a:solidFill>
              </a:rPr>
              <a:t>FINDING 2  ·  ROUTING INSTABILITY  ·  TV DISTANCE ID→OOD  ·  DEGREE SHIFT</a:t>
            </a:r>
          </a:p>
        </p:txBody>
      </p:sp>
      <p:sp>
        <p:nvSpPr>
          <p:cNvPr id="5" name="TextBox 4"/>
          <p:cNvSpPr txBox="1"/>
          <p:nvPr/>
        </p:nvSpPr>
        <p:spPr>
          <a:xfrm>
            <a:off x="411480" y="384048"/>
            <a:ext cx="11338560" cy="566928"/>
          </a:xfrm>
          <a:prstGeom prst="rect">
            <a:avLst/>
          </a:prstGeom>
          <a:noFill/>
        </p:spPr>
        <p:txBody>
          <a:bodyPr wrap="none">
            <a:spAutoFit/>
          </a:bodyPr>
          <a:lstStyle/>
          <a:p>
            <a:pPr algn="l"/>
            <a:r>
              <a:rPr sz="2200" b="1" i="0">
                <a:solidFill>
                  <a:srgbClr val="0B0B0B"/>
                </a:solidFill>
              </a:rPr>
              <a:t>Arxiv Shows 10× More Routing Instability — LLM Router Is More Stable There</a:t>
            </a:r>
          </a:p>
        </p:txBody>
      </p:sp>
      <p:sp>
        <p:nvSpPr>
          <p:cNvPr id="6" name="TextBox 5"/>
          <p:cNvSpPr txBox="1"/>
          <p:nvPr/>
        </p:nvSpPr>
        <p:spPr>
          <a:xfrm>
            <a:off x="411480" y="841248"/>
            <a:ext cx="11338560" cy="411480"/>
          </a:xfrm>
          <a:prstGeom prst="rect">
            <a:avLst/>
          </a:prstGeom>
          <a:noFill/>
        </p:spPr>
        <p:txBody>
          <a:bodyPr wrap="none">
            <a:spAutoFit/>
          </a:bodyPr>
          <a:lstStyle/>
          <a:p>
            <a:pPr algn="l"/>
            <a:r>
              <a:rPr sz="1000" b="0" i="0">
                <a:solidFill>
                  <a:srgbClr val="52514E"/>
                </a:solidFill>
              </a:rPr>
              <a:t>TV distance = how much the routing distribution changes from ID to OOD nodes. Small datasets are nearly stable (&lt;0.002). Arxiv is a different problem: TV up to 0.024. On Arxiv, the LLM router shifts less — the first evidence of LLM as a structural anchor.</a:t>
            </a:r>
          </a:p>
        </p:txBody>
      </p:sp>
      <p:sp>
        <p:nvSpPr>
          <p:cNvPr id="7" name="Rectangle 6"/>
          <p:cNvSpPr/>
          <p:nvPr/>
        </p:nvSpPr>
        <p:spPr>
          <a:xfrm>
            <a:off x="320040" y="1298448"/>
            <a:ext cx="146304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Dataset</a:t>
            </a:r>
          </a:p>
        </p:txBody>
      </p:sp>
      <p:sp>
        <p:nvSpPr>
          <p:cNvPr id="8" name="Rectangle 7"/>
          <p:cNvSpPr/>
          <p:nvPr/>
        </p:nvSpPr>
        <p:spPr>
          <a:xfrm>
            <a:off x="1783080" y="1298448"/>
            <a:ext cx="118872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Router</a:t>
            </a:r>
          </a:p>
        </p:txBody>
      </p:sp>
      <p:sp>
        <p:nvSpPr>
          <p:cNvPr id="9" name="Rectangle 8"/>
          <p:cNvSpPr/>
          <p:nvPr/>
        </p:nvSpPr>
        <p:spPr>
          <a:xfrm>
            <a:off x="2971800" y="1298448"/>
            <a:ext cx="150876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Layer 0 TV
(OOD-low)</a:t>
            </a:r>
          </a:p>
        </p:txBody>
      </p:sp>
      <p:sp>
        <p:nvSpPr>
          <p:cNvPr id="10" name="Rectangle 9"/>
          <p:cNvSpPr/>
          <p:nvPr/>
        </p:nvSpPr>
        <p:spPr>
          <a:xfrm>
            <a:off x="4480560" y="1298448"/>
            <a:ext cx="150876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Layer 0 TV
(OOD-high)</a:t>
            </a:r>
          </a:p>
        </p:txBody>
      </p:sp>
      <p:sp>
        <p:nvSpPr>
          <p:cNvPr id="11" name="Rectangle 10"/>
          <p:cNvSpPr/>
          <p:nvPr/>
        </p:nvSpPr>
        <p:spPr>
          <a:xfrm>
            <a:off x="5989320" y="1298448"/>
            <a:ext cx="150876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Layer 1 TV
(OOD-low)</a:t>
            </a:r>
          </a:p>
        </p:txBody>
      </p:sp>
      <p:sp>
        <p:nvSpPr>
          <p:cNvPr id="12" name="Rectangle 11"/>
          <p:cNvSpPr/>
          <p:nvPr/>
        </p:nvSpPr>
        <p:spPr>
          <a:xfrm>
            <a:off x="7498080" y="1298448"/>
            <a:ext cx="420624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Verdict</a:t>
            </a:r>
          </a:p>
        </p:txBody>
      </p:sp>
      <p:sp>
        <p:nvSpPr>
          <p:cNvPr id="13" name="Rectangle 12"/>
          <p:cNvSpPr/>
          <p:nvPr/>
        </p:nvSpPr>
        <p:spPr>
          <a:xfrm>
            <a:off x="320040" y="1645920"/>
            <a:ext cx="146304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l"/>
            <a:r>
              <a:rPr sz="950" b="0">
                <a:solidFill>
                  <a:srgbClr val="0B0B0B"/>
                </a:solidFill>
              </a:rPr>
              <a:t>Cora</a:t>
            </a:r>
          </a:p>
        </p:txBody>
      </p:sp>
      <p:sp>
        <p:nvSpPr>
          <p:cNvPr id="14" name="Rectangle 13"/>
          <p:cNvSpPr/>
          <p:nvPr/>
        </p:nvSpPr>
        <p:spPr>
          <a:xfrm>
            <a:off x="1783080" y="1645920"/>
            <a:ext cx="118872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GNN router</a:t>
            </a:r>
          </a:p>
        </p:txBody>
      </p:sp>
      <p:sp>
        <p:nvSpPr>
          <p:cNvPr id="15" name="Rectangle 14"/>
          <p:cNvSpPr/>
          <p:nvPr/>
        </p:nvSpPr>
        <p:spPr>
          <a:xfrm>
            <a:off x="2971800" y="1645920"/>
            <a:ext cx="150876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0.0008 ± 0.0006</a:t>
            </a:r>
          </a:p>
        </p:txBody>
      </p:sp>
      <p:sp>
        <p:nvSpPr>
          <p:cNvPr id="16" name="Rectangle 15"/>
          <p:cNvSpPr/>
          <p:nvPr/>
        </p:nvSpPr>
        <p:spPr>
          <a:xfrm>
            <a:off x="4480560" y="1645920"/>
            <a:ext cx="150876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0.0008 ± 0.0004</a:t>
            </a:r>
          </a:p>
        </p:txBody>
      </p:sp>
      <p:sp>
        <p:nvSpPr>
          <p:cNvPr id="17" name="Rectangle 16"/>
          <p:cNvSpPr/>
          <p:nvPr/>
        </p:nvSpPr>
        <p:spPr>
          <a:xfrm>
            <a:off x="5989320" y="1645920"/>
            <a:ext cx="150876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0.0010 ± 0.0004</a:t>
            </a:r>
          </a:p>
        </p:txBody>
      </p:sp>
      <p:sp>
        <p:nvSpPr>
          <p:cNvPr id="18" name="Rectangle 17"/>
          <p:cNvSpPr/>
          <p:nvPr/>
        </p:nvSpPr>
        <p:spPr>
          <a:xfrm>
            <a:off x="7498080" y="1645920"/>
            <a:ext cx="420624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0B0B0B"/>
                </a:solidFill>
              </a:rPr>
              <a:t>✓ Stable</a:t>
            </a:r>
          </a:p>
        </p:txBody>
      </p:sp>
      <p:sp>
        <p:nvSpPr>
          <p:cNvPr id="19" name="Rectangle 18"/>
          <p:cNvSpPr/>
          <p:nvPr/>
        </p:nvSpPr>
        <p:spPr>
          <a:xfrm>
            <a:off x="320040" y="2121408"/>
            <a:ext cx="146304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l"/>
            <a:r>
              <a:rPr sz="950" b="0">
                <a:solidFill>
                  <a:srgbClr val="0B0B0B"/>
                </a:solidFill>
              </a:rPr>
              <a:t>Cora</a:t>
            </a:r>
          </a:p>
        </p:txBody>
      </p:sp>
      <p:sp>
        <p:nvSpPr>
          <p:cNvPr id="20" name="Rectangle 19"/>
          <p:cNvSpPr/>
          <p:nvPr/>
        </p:nvSpPr>
        <p:spPr>
          <a:xfrm>
            <a:off x="1783080" y="2121408"/>
            <a:ext cx="118872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LLM router</a:t>
            </a:r>
          </a:p>
        </p:txBody>
      </p:sp>
      <p:sp>
        <p:nvSpPr>
          <p:cNvPr id="21" name="Rectangle 20"/>
          <p:cNvSpPr/>
          <p:nvPr/>
        </p:nvSpPr>
        <p:spPr>
          <a:xfrm>
            <a:off x="2971800" y="2121408"/>
            <a:ext cx="150876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0.0008 ± 0.0006</a:t>
            </a:r>
          </a:p>
        </p:txBody>
      </p:sp>
      <p:sp>
        <p:nvSpPr>
          <p:cNvPr id="22" name="Rectangle 21"/>
          <p:cNvSpPr/>
          <p:nvPr/>
        </p:nvSpPr>
        <p:spPr>
          <a:xfrm>
            <a:off x="4480560" y="2121408"/>
            <a:ext cx="150876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0.0009 ± 0.0004</a:t>
            </a:r>
          </a:p>
        </p:txBody>
      </p:sp>
      <p:sp>
        <p:nvSpPr>
          <p:cNvPr id="23" name="Rectangle 22"/>
          <p:cNvSpPr/>
          <p:nvPr/>
        </p:nvSpPr>
        <p:spPr>
          <a:xfrm>
            <a:off x="5989320" y="2121408"/>
            <a:ext cx="150876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0.0005 ± 0.0002</a:t>
            </a:r>
          </a:p>
        </p:txBody>
      </p:sp>
      <p:sp>
        <p:nvSpPr>
          <p:cNvPr id="24" name="Rectangle 23"/>
          <p:cNvSpPr/>
          <p:nvPr/>
        </p:nvSpPr>
        <p:spPr>
          <a:xfrm>
            <a:off x="7498080" y="2121408"/>
            <a:ext cx="420624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0B0B0B"/>
                </a:solidFill>
              </a:rPr>
              <a:t>✓ Stable</a:t>
            </a:r>
          </a:p>
        </p:txBody>
      </p:sp>
      <p:sp>
        <p:nvSpPr>
          <p:cNvPr id="25" name="Rectangle 24"/>
          <p:cNvSpPr/>
          <p:nvPr/>
        </p:nvSpPr>
        <p:spPr>
          <a:xfrm>
            <a:off x="320040" y="2596896"/>
            <a:ext cx="146304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l"/>
            <a:r>
              <a:rPr sz="950" b="0">
                <a:solidFill>
                  <a:srgbClr val="0B0B0B"/>
                </a:solidFill>
              </a:rPr>
              <a:t>Pubmed</a:t>
            </a:r>
          </a:p>
        </p:txBody>
      </p:sp>
      <p:sp>
        <p:nvSpPr>
          <p:cNvPr id="26" name="Rectangle 25"/>
          <p:cNvSpPr/>
          <p:nvPr/>
        </p:nvSpPr>
        <p:spPr>
          <a:xfrm>
            <a:off x="1783080" y="2596896"/>
            <a:ext cx="118872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GNN router</a:t>
            </a:r>
          </a:p>
        </p:txBody>
      </p:sp>
      <p:sp>
        <p:nvSpPr>
          <p:cNvPr id="27" name="Rectangle 26"/>
          <p:cNvSpPr/>
          <p:nvPr/>
        </p:nvSpPr>
        <p:spPr>
          <a:xfrm>
            <a:off x="2971800" y="2596896"/>
            <a:ext cx="150876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0.0011 ± 0.0007</a:t>
            </a:r>
          </a:p>
        </p:txBody>
      </p:sp>
      <p:sp>
        <p:nvSpPr>
          <p:cNvPr id="28" name="Rectangle 27"/>
          <p:cNvSpPr/>
          <p:nvPr/>
        </p:nvSpPr>
        <p:spPr>
          <a:xfrm>
            <a:off x="4480560" y="2596896"/>
            <a:ext cx="150876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0.0042 ± 0.0032</a:t>
            </a:r>
          </a:p>
        </p:txBody>
      </p:sp>
      <p:sp>
        <p:nvSpPr>
          <p:cNvPr id="29" name="Rectangle 28"/>
          <p:cNvSpPr/>
          <p:nvPr/>
        </p:nvSpPr>
        <p:spPr>
          <a:xfrm>
            <a:off x="5989320" y="2596896"/>
            <a:ext cx="150876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0.0004 ± 0.0001</a:t>
            </a:r>
          </a:p>
        </p:txBody>
      </p:sp>
      <p:sp>
        <p:nvSpPr>
          <p:cNvPr id="30" name="Rectangle 29"/>
          <p:cNvSpPr/>
          <p:nvPr/>
        </p:nvSpPr>
        <p:spPr>
          <a:xfrm>
            <a:off x="7498080" y="2596896"/>
            <a:ext cx="420624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0B0B0B"/>
                </a:solidFill>
              </a:rPr>
              <a:t>✓ Stable</a:t>
            </a:r>
          </a:p>
        </p:txBody>
      </p:sp>
      <p:sp>
        <p:nvSpPr>
          <p:cNvPr id="31" name="Rectangle 30"/>
          <p:cNvSpPr/>
          <p:nvPr/>
        </p:nvSpPr>
        <p:spPr>
          <a:xfrm>
            <a:off x="320040" y="3072384"/>
            <a:ext cx="146304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l"/>
            <a:r>
              <a:rPr sz="950" b="0">
                <a:solidFill>
                  <a:srgbClr val="0B0B0B"/>
                </a:solidFill>
              </a:rPr>
              <a:t>Pubmed</a:t>
            </a:r>
          </a:p>
        </p:txBody>
      </p:sp>
      <p:sp>
        <p:nvSpPr>
          <p:cNvPr id="32" name="Rectangle 31"/>
          <p:cNvSpPr/>
          <p:nvPr/>
        </p:nvSpPr>
        <p:spPr>
          <a:xfrm>
            <a:off x="1783080" y="3072384"/>
            <a:ext cx="118872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LLM router</a:t>
            </a:r>
          </a:p>
        </p:txBody>
      </p:sp>
      <p:sp>
        <p:nvSpPr>
          <p:cNvPr id="33" name="Rectangle 32"/>
          <p:cNvSpPr/>
          <p:nvPr/>
        </p:nvSpPr>
        <p:spPr>
          <a:xfrm>
            <a:off x="2971800" y="3072384"/>
            <a:ext cx="150876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0.0017 ± 0.0011</a:t>
            </a:r>
          </a:p>
        </p:txBody>
      </p:sp>
      <p:sp>
        <p:nvSpPr>
          <p:cNvPr id="34" name="Rectangle 33"/>
          <p:cNvSpPr/>
          <p:nvPr/>
        </p:nvSpPr>
        <p:spPr>
          <a:xfrm>
            <a:off x="4480560" y="3072384"/>
            <a:ext cx="150876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0.0053 ± 0.0031</a:t>
            </a:r>
          </a:p>
        </p:txBody>
      </p:sp>
      <p:sp>
        <p:nvSpPr>
          <p:cNvPr id="35" name="Rectangle 34"/>
          <p:cNvSpPr/>
          <p:nvPr/>
        </p:nvSpPr>
        <p:spPr>
          <a:xfrm>
            <a:off x="5989320" y="3072384"/>
            <a:ext cx="150876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0.0006 ± 0.0002</a:t>
            </a:r>
          </a:p>
        </p:txBody>
      </p:sp>
      <p:sp>
        <p:nvSpPr>
          <p:cNvPr id="36" name="Rectangle 35"/>
          <p:cNvSpPr/>
          <p:nvPr/>
        </p:nvSpPr>
        <p:spPr>
          <a:xfrm>
            <a:off x="7498080" y="3072384"/>
            <a:ext cx="420624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0B0B0B"/>
                </a:solidFill>
              </a:rPr>
              <a:t>✓ Stable</a:t>
            </a:r>
          </a:p>
        </p:txBody>
      </p:sp>
      <p:sp>
        <p:nvSpPr>
          <p:cNvPr id="37" name="Rectangle 36"/>
          <p:cNvSpPr/>
          <p:nvPr/>
        </p:nvSpPr>
        <p:spPr>
          <a:xfrm>
            <a:off x="320040" y="3547872"/>
            <a:ext cx="146304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l"/>
            <a:r>
              <a:rPr sz="950" b="0">
                <a:solidFill>
                  <a:srgbClr val="0B0B0B"/>
                </a:solidFill>
              </a:rPr>
              <a:t>WikiCS</a:t>
            </a:r>
          </a:p>
        </p:txBody>
      </p:sp>
      <p:sp>
        <p:nvSpPr>
          <p:cNvPr id="38" name="Rectangle 37"/>
          <p:cNvSpPr/>
          <p:nvPr/>
        </p:nvSpPr>
        <p:spPr>
          <a:xfrm>
            <a:off x="1783080" y="3547872"/>
            <a:ext cx="118872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GNN router</a:t>
            </a:r>
          </a:p>
        </p:txBody>
      </p:sp>
      <p:sp>
        <p:nvSpPr>
          <p:cNvPr id="39" name="Rectangle 38"/>
          <p:cNvSpPr/>
          <p:nvPr/>
        </p:nvSpPr>
        <p:spPr>
          <a:xfrm>
            <a:off x="2971800" y="3547872"/>
            <a:ext cx="150876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0.0015 ± 0.0005</a:t>
            </a:r>
          </a:p>
        </p:txBody>
      </p:sp>
      <p:sp>
        <p:nvSpPr>
          <p:cNvPr id="40" name="Rectangle 39"/>
          <p:cNvSpPr/>
          <p:nvPr/>
        </p:nvSpPr>
        <p:spPr>
          <a:xfrm>
            <a:off x="4480560" y="3547872"/>
            <a:ext cx="150876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0.0020 ± 0.0008</a:t>
            </a:r>
          </a:p>
        </p:txBody>
      </p:sp>
      <p:sp>
        <p:nvSpPr>
          <p:cNvPr id="41" name="Rectangle 40"/>
          <p:cNvSpPr/>
          <p:nvPr/>
        </p:nvSpPr>
        <p:spPr>
          <a:xfrm>
            <a:off x="5989320" y="3547872"/>
            <a:ext cx="150876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0.0007 ± 0.0003</a:t>
            </a:r>
          </a:p>
        </p:txBody>
      </p:sp>
      <p:sp>
        <p:nvSpPr>
          <p:cNvPr id="42" name="Rectangle 41"/>
          <p:cNvSpPr/>
          <p:nvPr/>
        </p:nvSpPr>
        <p:spPr>
          <a:xfrm>
            <a:off x="7498080" y="3547872"/>
            <a:ext cx="4206240" cy="475488"/>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0B0B0B"/>
                </a:solidFill>
              </a:rPr>
              <a:t>✓ Stable</a:t>
            </a:r>
          </a:p>
        </p:txBody>
      </p:sp>
      <p:sp>
        <p:nvSpPr>
          <p:cNvPr id="43" name="Rectangle 42"/>
          <p:cNvSpPr/>
          <p:nvPr/>
        </p:nvSpPr>
        <p:spPr>
          <a:xfrm>
            <a:off x="320040" y="4023360"/>
            <a:ext cx="146304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l"/>
            <a:r>
              <a:rPr sz="950" b="0">
                <a:solidFill>
                  <a:srgbClr val="0B0B0B"/>
                </a:solidFill>
              </a:rPr>
              <a:t>WikiCS</a:t>
            </a:r>
          </a:p>
        </p:txBody>
      </p:sp>
      <p:sp>
        <p:nvSpPr>
          <p:cNvPr id="44" name="Rectangle 43"/>
          <p:cNvSpPr/>
          <p:nvPr/>
        </p:nvSpPr>
        <p:spPr>
          <a:xfrm>
            <a:off x="1783080" y="4023360"/>
            <a:ext cx="118872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LLM router</a:t>
            </a:r>
          </a:p>
        </p:txBody>
      </p:sp>
      <p:sp>
        <p:nvSpPr>
          <p:cNvPr id="45" name="Rectangle 44"/>
          <p:cNvSpPr/>
          <p:nvPr/>
        </p:nvSpPr>
        <p:spPr>
          <a:xfrm>
            <a:off x="2971800" y="4023360"/>
            <a:ext cx="150876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0.0014 ± 0.0006</a:t>
            </a:r>
          </a:p>
        </p:txBody>
      </p:sp>
      <p:sp>
        <p:nvSpPr>
          <p:cNvPr id="46" name="Rectangle 45"/>
          <p:cNvSpPr/>
          <p:nvPr/>
        </p:nvSpPr>
        <p:spPr>
          <a:xfrm>
            <a:off x="4480560" y="4023360"/>
            <a:ext cx="150876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0.0018 ± 0.0010</a:t>
            </a:r>
          </a:p>
        </p:txBody>
      </p:sp>
      <p:sp>
        <p:nvSpPr>
          <p:cNvPr id="47" name="Rectangle 46"/>
          <p:cNvSpPr/>
          <p:nvPr/>
        </p:nvSpPr>
        <p:spPr>
          <a:xfrm>
            <a:off x="5989320" y="4023360"/>
            <a:ext cx="150876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0.0003 ± 0.0002</a:t>
            </a:r>
          </a:p>
        </p:txBody>
      </p:sp>
      <p:sp>
        <p:nvSpPr>
          <p:cNvPr id="48" name="Rectangle 47"/>
          <p:cNvSpPr/>
          <p:nvPr/>
        </p:nvSpPr>
        <p:spPr>
          <a:xfrm>
            <a:off x="7498080" y="4023360"/>
            <a:ext cx="4206240" cy="475488"/>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0B0B0B"/>
                </a:solidFill>
              </a:rPr>
              <a:t>✓ Stable</a:t>
            </a:r>
          </a:p>
        </p:txBody>
      </p:sp>
      <p:sp>
        <p:nvSpPr>
          <p:cNvPr id="49" name="Rectangle 48"/>
          <p:cNvSpPr/>
          <p:nvPr/>
        </p:nvSpPr>
        <p:spPr>
          <a:xfrm>
            <a:off x="320040" y="4498848"/>
            <a:ext cx="1463040" cy="475488"/>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l"/>
            <a:r>
              <a:rPr sz="950" b="0">
                <a:solidFill>
                  <a:srgbClr val="0B0B0B"/>
                </a:solidFill>
              </a:rPr>
              <a:t>Arxiv</a:t>
            </a:r>
          </a:p>
        </p:txBody>
      </p:sp>
      <p:sp>
        <p:nvSpPr>
          <p:cNvPr id="50" name="Rectangle 49"/>
          <p:cNvSpPr/>
          <p:nvPr/>
        </p:nvSpPr>
        <p:spPr>
          <a:xfrm>
            <a:off x="1783080" y="4498848"/>
            <a:ext cx="1188720" cy="475488"/>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GNN router</a:t>
            </a:r>
          </a:p>
        </p:txBody>
      </p:sp>
      <p:sp>
        <p:nvSpPr>
          <p:cNvPr id="51" name="Rectangle 50"/>
          <p:cNvSpPr/>
          <p:nvPr/>
        </p:nvSpPr>
        <p:spPr>
          <a:xfrm>
            <a:off x="2971800" y="4498848"/>
            <a:ext cx="1508760" cy="475488"/>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E34948"/>
                </a:solidFill>
              </a:rPr>
              <a:t>0.0144 ± 0.0085</a:t>
            </a:r>
          </a:p>
        </p:txBody>
      </p:sp>
      <p:sp>
        <p:nvSpPr>
          <p:cNvPr id="52" name="Rectangle 51"/>
          <p:cNvSpPr/>
          <p:nvPr/>
        </p:nvSpPr>
        <p:spPr>
          <a:xfrm>
            <a:off x="4480560" y="4498848"/>
            <a:ext cx="1508760" cy="475488"/>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E34948"/>
                </a:solidFill>
              </a:rPr>
              <a:t>0.0243 ± 0.0032</a:t>
            </a:r>
          </a:p>
        </p:txBody>
      </p:sp>
      <p:sp>
        <p:nvSpPr>
          <p:cNvPr id="53" name="Rectangle 52"/>
          <p:cNvSpPr/>
          <p:nvPr/>
        </p:nvSpPr>
        <p:spPr>
          <a:xfrm>
            <a:off x="5989320" y="4498848"/>
            <a:ext cx="1508760" cy="475488"/>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E34948"/>
                </a:solidFill>
              </a:rPr>
              <a:t>0.0015 ± 0.0005</a:t>
            </a:r>
          </a:p>
        </p:txBody>
      </p:sp>
      <p:sp>
        <p:nvSpPr>
          <p:cNvPr id="54" name="Rectangle 53"/>
          <p:cNvSpPr/>
          <p:nvPr/>
        </p:nvSpPr>
        <p:spPr>
          <a:xfrm>
            <a:off x="7498080" y="4498848"/>
            <a:ext cx="4206240" cy="475488"/>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E34948"/>
                </a:solidFill>
              </a:rPr>
              <a:t>⚠ UNSTABLE</a:t>
            </a:r>
          </a:p>
        </p:txBody>
      </p:sp>
      <p:sp>
        <p:nvSpPr>
          <p:cNvPr id="55" name="Rectangle 54"/>
          <p:cNvSpPr/>
          <p:nvPr/>
        </p:nvSpPr>
        <p:spPr>
          <a:xfrm>
            <a:off x="320040" y="4974336"/>
            <a:ext cx="1463040" cy="475488"/>
          </a:xfrm>
          <a:prstGeom prst="rect">
            <a:avLst/>
          </a:prstGeom>
          <a:solidFill>
            <a:srgbClr val="F0FAF5"/>
          </a:solidFill>
          <a:ln w="9525">
            <a:solidFill>
              <a:srgbClr val="A8DFC6"/>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l"/>
            <a:r>
              <a:rPr sz="950" b="0">
                <a:solidFill>
                  <a:srgbClr val="0B0B0B"/>
                </a:solidFill>
              </a:rPr>
              <a:t>Arxiv</a:t>
            </a:r>
          </a:p>
        </p:txBody>
      </p:sp>
      <p:sp>
        <p:nvSpPr>
          <p:cNvPr id="56" name="Rectangle 55"/>
          <p:cNvSpPr/>
          <p:nvPr/>
        </p:nvSpPr>
        <p:spPr>
          <a:xfrm>
            <a:off x="1783080" y="4974336"/>
            <a:ext cx="1188720" cy="475488"/>
          </a:xfrm>
          <a:prstGeom prst="rect">
            <a:avLst/>
          </a:prstGeom>
          <a:solidFill>
            <a:srgbClr val="F0FAF5"/>
          </a:solidFill>
          <a:ln w="9525">
            <a:solidFill>
              <a:srgbClr val="A8DFC6"/>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B0B0B"/>
                </a:solidFill>
              </a:rPr>
              <a:t>LLM router</a:t>
            </a:r>
          </a:p>
        </p:txBody>
      </p:sp>
      <p:sp>
        <p:nvSpPr>
          <p:cNvPr id="57" name="Rectangle 56"/>
          <p:cNvSpPr/>
          <p:nvPr/>
        </p:nvSpPr>
        <p:spPr>
          <a:xfrm>
            <a:off x="2971800" y="4974336"/>
            <a:ext cx="1508760" cy="475488"/>
          </a:xfrm>
          <a:prstGeom prst="rect">
            <a:avLst/>
          </a:prstGeom>
          <a:solidFill>
            <a:srgbClr val="F0FAF5"/>
          </a:solidFill>
          <a:ln w="9525">
            <a:solidFill>
              <a:srgbClr val="A8DFC6"/>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0A5C41"/>
                </a:solidFill>
              </a:rPr>
              <a:t>0.0124 ± 0.0066</a:t>
            </a:r>
          </a:p>
        </p:txBody>
      </p:sp>
      <p:sp>
        <p:nvSpPr>
          <p:cNvPr id="58" name="Rectangle 57"/>
          <p:cNvSpPr/>
          <p:nvPr/>
        </p:nvSpPr>
        <p:spPr>
          <a:xfrm>
            <a:off x="4480560" y="4974336"/>
            <a:ext cx="1508760" cy="475488"/>
          </a:xfrm>
          <a:prstGeom prst="rect">
            <a:avLst/>
          </a:prstGeom>
          <a:solidFill>
            <a:srgbClr val="F0FAF5"/>
          </a:solidFill>
          <a:ln w="9525">
            <a:solidFill>
              <a:srgbClr val="A8DFC6"/>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0A5C41"/>
                </a:solidFill>
              </a:rPr>
              <a:t>0.0206 ± 0.0009</a:t>
            </a:r>
          </a:p>
        </p:txBody>
      </p:sp>
      <p:sp>
        <p:nvSpPr>
          <p:cNvPr id="59" name="Rectangle 58"/>
          <p:cNvSpPr/>
          <p:nvPr/>
        </p:nvSpPr>
        <p:spPr>
          <a:xfrm>
            <a:off x="5989320" y="4974336"/>
            <a:ext cx="1508760" cy="475488"/>
          </a:xfrm>
          <a:prstGeom prst="rect">
            <a:avLst/>
          </a:prstGeom>
          <a:solidFill>
            <a:srgbClr val="F0FAF5"/>
          </a:solidFill>
          <a:ln w="9525">
            <a:solidFill>
              <a:srgbClr val="A8DFC6"/>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0">
                <a:solidFill>
                  <a:srgbClr val="0A5C41"/>
                </a:solidFill>
              </a:rPr>
              <a:t>0.0008 ± 0.0001</a:t>
            </a:r>
          </a:p>
        </p:txBody>
      </p:sp>
      <p:sp>
        <p:nvSpPr>
          <p:cNvPr id="60" name="Rectangle 59"/>
          <p:cNvSpPr/>
          <p:nvPr/>
        </p:nvSpPr>
        <p:spPr>
          <a:xfrm>
            <a:off x="7498080" y="4974336"/>
            <a:ext cx="4206240" cy="475488"/>
          </a:xfrm>
          <a:prstGeom prst="rect">
            <a:avLst/>
          </a:prstGeom>
          <a:solidFill>
            <a:srgbClr val="F0FAF5"/>
          </a:solidFill>
          <a:ln w="9525">
            <a:solidFill>
              <a:srgbClr val="A8DFC6"/>
            </a:solidFill>
          </a:ln>
        </p:spPr>
        <p:style>
          <a:lnRef idx="1">
            <a:schemeClr val="accent1"/>
          </a:lnRef>
          <a:fillRef idx="3">
            <a:schemeClr val="accent1"/>
          </a:fillRef>
          <a:effectRef idx="2">
            <a:schemeClr val="accent1"/>
          </a:effectRef>
          <a:fontRef idx="minor">
            <a:schemeClr val="lt1"/>
          </a:fontRef>
        </p:style>
        <p:txBody>
          <a:bodyPr rtlCol="0" anchor="ctr" lIns="64008" tIns="73152"/>
          <a:lstStyle/>
          <a:p>
            <a:pPr algn="ctr"/>
            <a:r>
              <a:rPr sz="900" b="1">
                <a:solidFill>
                  <a:srgbClr val="0A5C41"/>
                </a:solidFill>
              </a:rPr>
              <a:t>✓ More stable</a:t>
            </a:r>
          </a:p>
        </p:txBody>
      </p:sp>
      <p:sp>
        <p:nvSpPr>
          <p:cNvPr id="61" name="Rectangle 60"/>
          <p:cNvSpPr/>
          <p:nvPr/>
        </p:nvSpPr>
        <p:spPr>
          <a:xfrm>
            <a:off x="320040" y="5989320"/>
            <a:ext cx="3749039" cy="731520"/>
          </a:xfrm>
          <a:prstGeom prst="rect">
            <a:avLst/>
          </a:prstGeom>
          <a:solidFill>
            <a:srgbClr val="FFF8E6"/>
          </a:solidFill>
          <a:ln w="19050">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a:lstStyle/>
          <a:p>
            <a:pPr algn="ctr"/>
            <a:r>
              <a:rPr sz="1100" b="1">
                <a:solidFill>
                  <a:srgbClr val="7A5400"/>
                </a:solidFill>
              </a:rPr>
              <a:t>Why small datasets are stable</a:t>
            </a:r>
          </a:p>
          <a:p>
            <a:pPr>
              <a:spcBef>
                <a:spcPts val="300"/>
              </a:spcBef>
            </a:pPr>
            <a:r>
              <a:rPr sz="950">
                <a:solidFill>
                  <a:srgbClr val="52514E"/>
                </a:solidFill>
              </a:rPr>
              <a:t>Cora (2K), Pubmed (20K), WikiCS (12K) — local degree shift doesn't produce enough structural diversity to shift routing distributions measurably (TV &lt; 0.002).</a:t>
            </a:r>
          </a:p>
        </p:txBody>
      </p:sp>
      <p:sp>
        <p:nvSpPr>
          <p:cNvPr id="62" name="Rectangle 61"/>
          <p:cNvSpPr/>
          <p:nvPr/>
        </p:nvSpPr>
        <p:spPr>
          <a:xfrm>
            <a:off x="4206240" y="5989320"/>
            <a:ext cx="3749039" cy="731520"/>
          </a:xfrm>
          <a:prstGeom prst="rect">
            <a:avLst/>
          </a:prstGeom>
          <a:solidFill>
            <a:srgbClr val="FFF5F5"/>
          </a:solidFill>
          <a:ln w="19050">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a:lstStyle/>
          <a:p>
            <a:pPr algn="ctr"/>
            <a:r>
              <a:rPr sz="1100" b="1">
                <a:solidFill>
                  <a:srgbClr val="E34948"/>
                </a:solidFill>
              </a:rPr>
              <a:t>Why Arxiv is hard</a:t>
            </a:r>
          </a:p>
          <a:p>
            <a:pPr>
              <a:spcBef>
                <a:spcPts val="300"/>
              </a:spcBef>
            </a:pPr>
            <a:r>
              <a:rPr sz="950">
                <a:solidFill>
                  <a:srgbClr val="52514E"/>
                </a:solidFill>
              </a:rPr>
              <a:t>169K nodes, 40 classes, heavy-tailed degree distribution. OOD-low nodes (bottom 15%) have degree 1-2 vs ID mean of ~13. Structural shift is extreme — routing can't stay stable.</a:t>
            </a:r>
          </a:p>
        </p:txBody>
      </p:sp>
      <p:sp>
        <p:nvSpPr>
          <p:cNvPr id="63" name="Rectangle 62"/>
          <p:cNvSpPr/>
          <p:nvPr/>
        </p:nvSpPr>
        <p:spPr>
          <a:xfrm>
            <a:off x="8092440" y="5989320"/>
            <a:ext cx="3776472" cy="731520"/>
          </a:xfrm>
          <a:prstGeom prst="rect">
            <a:avLst/>
          </a:prstGeom>
          <a:solidFill>
            <a:srgbClr val="F0FAF5"/>
          </a:solidFill>
          <a:ln w="19050">
            <a:solidFill>
              <a:srgbClr val="A8DFC6"/>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a:lstStyle/>
          <a:p>
            <a:pPr algn="ctr"/>
            <a:r>
              <a:rPr sz="1100" b="1">
                <a:solidFill>
                  <a:srgbClr val="0A5C41"/>
                </a:solidFill>
              </a:rPr>
              <a:t>LLM router advantage on Arxiv</a:t>
            </a:r>
          </a:p>
          <a:p>
            <a:pPr>
              <a:spcBef>
                <a:spcPts val="300"/>
              </a:spcBef>
            </a:pPr>
            <a:r>
              <a:rPr sz="950">
                <a:solidFill>
                  <a:srgbClr val="52514E"/>
                </a:solidFill>
              </a:rPr>
              <a:t>Layer 0 TV: GNN 0.0144 vs LLM 0.0124 (OOD-low). The LLM's structure-invariant routing drifts 14% less. On the hardest dataset, the LLM anchor is measurably more stable.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CFC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
            <a:ext cx="10972800" cy="228600"/>
          </a:xfrm>
          <a:prstGeom prst="rect">
            <a:avLst/>
          </a:prstGeom>
          <a:noFill/>
        </p:spPr>
        <p:txBody>
          <a:bodyPr wrap="none">
            <a:spAutoFit/>
          </a:bodyPr>
          <a:lstStyle/>
          <a:p>
            <a:pPr algn="l"/>
            <a:r>
              <a:rPr sz="800" b="1" i="0">
                <a:solidFill>
                  <a:srgbClr val="898781"/>
                </a:solidFill>
              </a:rPr>
              <a:t>FINDING 3  ·  PURITY vs OOD ACCURACY  ·  GNN ROUTER  ·  DEGREE SHIFT</a:t>
            </a:r>
          </a:p>
        </p:txBody>
      </p:sp>
      <p:sp>
        <p:nvSpPr>
          <p:cNvPr id="5" name="TextBox 4"/>
          <p:cNvSpPr txBox="1"/>
          <p:nvPr/>
        </p:nvSpPr>
        <p:spPr>
          <a:xfrm>
            <a:off x="411480" y="384048"/>
            <a:ext cx="11338560" cy="566928"/>
          </a:xfrm>
          <a:prstGeom prst="rect">
            <a:avLst/>
          </a:prstGeom>
          <a:noFill/>
        </p:spPr>
        <p:txBody>
          <a:bodyPr wrap="none">
            <a:spAutoFit/>
          </a:bodyPr>
          <a:lstStyle/>
          <a:p>
            <a:pPr algn="l"/>
            <a:r>
              <a:rPr sz="2200" b="1" i="0">
                <a:solidFill>
                  <a:srgbClr val="0B0B0B"/>
                </a:solidFill>
              </a:rPr>
              <a:t>Low Expert Purity Correlates with Large OOD Accuracy Drop</a:t>
            </a:r>
          </a:p>
        </p:txBody>
      </p:sp>
      <p:sp>
        <p:nvSpPr>
          <p:cNvPr id="6" name="TextBox 5"/>
          <p:cNvSpPr txBox="1"/>
          <p:nvPr/>
        </p:nvSpPr>
        <p:spPr>
          <a:xfrm>
            <a:off x="411480" y="841248"/>
            <a:ext cx="11338560" cy="411480"/>
          </a:xfrm>
          <a:prstGeom prst="rect">
            <a:avLst/>
          </a:prstGeom>
          <a:noFill/>
        </p:spPr>
        <p:txBody>
          <a:bodyPr wrap="none">
            <a:spAutoFit/>
          </a:bodyPr>
          <a:lstStyle/>
          <a:p>
            <a:pPr algn="l"/>
            <a:r>
              <a:rPr sz="1000" b="0" i="0">
                <a:solidFill>
                  <a:srgbClr val="52514E"/>
                </a:solidFill>
              </a:rPr>
              <a:t>Datasets where experts receive semantically mixed nodes (low purity) suffer more under structural OOD. This links expert routing quality to downstream robustness — and justifies KL alignment as the fix.</a:t>
            </a:r>
          </a:p>
        </p:txBody>
      </p:sp>
      <p:sp>
        <p:nvSpPr>
          <p:cNvPr id="7" name="Rectangle 6"/>
          <p:cNvSpPr/>
          <p:nvPr/>
        </p:nvSpPr>
        <p:spPr>
          <a:xfrm>
            <a:off x="365760" y="1298448"/>
            <a:ext cx="2816352" cy="10058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800" b="1">
                <a:solidFill>
                  <a:srgbClr val="898781"/>
                </a:solidFill>
              </a:rPr>
              <a:t>Pubmed — Layer 1 Purity</a:t>
            </a:r>
          </a:p>
          <a:p>
            <a:r>
              <a:rPr sz="2000" b="1">
                <a:solidFill>
                  <a:srgbClr val="2A78D6"/>
                </a:solidFill>
              </a:rPr>
              <a:t>0.468</a:t>
            </a:r>
          </a:p>
          <a:p>
            <a:r>
              <a:rPr sz="850">
                <a:solidFill>
                  <a:srgbClr val="898781"/>
                </a:solidFill>
              </a:rPr>
              <a:t>Highest purity</a:t>
            </a:r>
          </a:p>
        </p:txBody>
      </p:sp>
      <p:sp>
        <p:nvSpPr>
          <p:cNvPr id="8" name="Rectangle 7"/>
          <p:cNvSpPr/>
          <p:nvPr/>
        </p:nvSpPr>
        <p:spPr>
          <a:xfrm>
            <a:off x="3310128" y="1298448"/>
            <a:ext cx="2816352" cy="10058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800" b="1">
                <a:solidFill>
                  <a:srgbClr val="898781"/>
                </a:solidFill>
              </a:rPr>
              <a:t>Pubmed — OOD-low drop</a:t>
            </a:r>
          </a:p>
          <a:p>
            <a:r>
              <a:rPr sz="2000" b="1">
                <a:solidFill>
                  <a:srgbClr val="1C5CAB"/>
                </a:solidFill>
              </a:rPr>
              <a:t>−1.6%</a:t>
            </a:r>
          </a:p>
          <a:p>
            <a:r>
              <a:rPr sz="850">
                <a:solidFill>
                  <a:srgbClr val="898781"/>
                </a:solidFill>
              </a:rPr>
              <a:t>89.77% → 88.21%</a:t>
            </a:r>
          </a:p>
        </p:txBody>
      </p:sp>
      <p:sp>
        <p:nvSpPr>
          <p:cNvPr id="9" name="Rectangle 8"/>
          <p:cNvSpPr/>
          <p:nvPr/>
        </p:nvSpPr>
        <p:spPr>
          <a:xfrm>
            <a:off x="6254496" y="1298448"/>
            <a:ext cx="2816352" cy="10058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800" b="1">
                <a:solidFill>
                  <a:srgbClr val="898781"/>
                </a:solidFill>
              </a:rPr>
              <a:t>WikiCS — Layer 1 Purity</a:t>
            </a:r>
          </a:p>
          <a:p>
            <a:r>
              <a:rPr sz="2000" b="1">
                <a:solidFill>
                  <a:srgbClr val="E34948"/>
                </a:solidFill>
              </a:rPr>
              <a:t>0.336</a:t>
            </a:r>
          </a:p>
          <a:p>
            <a:r>
              <a:rPr sz="850">
                <a:solidFill>
                  <a:srgbClr val="898781"/>
                </a:solidFill>
              </a:rPr>
              <a:t>Lowest purity (10 classes)</a:t>
            </a:r>
          </a:p>
        </p:txBody>
      </p:sp>
      <p:sp>
        <p:nvSpPr>
          <p:cNvPr id="10" name="Rectangle 9"/>
          <p:cNvSpPr/>
          <p:nvPr/>
        </p:nvSpPr>
        <p:spPr>
          <a:xfrm>
            <a:off x="9198864" y="1298448"/>
            <a:ext cx="2816352" cy="10058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r>
              <a:rPr sz="800" b="1">
                <a:solidFill>
                  <a:srgbClr val="898781"/>
                </a:solidFill>
              </a:rPr>
              <a:t>WikiCS — OOD-low drop</a:t>
            </a:r>
          </a:p>
          <a:p>
            <a:r>
              <a:rPr sz="2000" b="1">
                <a:solidFill>
                  <a:srgbClr val="E34948"/>
                </a:solidFill>
              </a:rPr>
              <a:t>−10.0%</a:t>
            </a:r>
          </a:p>
          <a:p>
            <a:r>
              <a:rPr sz="850">
                <a:solidFill>
                  <a:srgbClr val="898781"/>
                </a:solidFill>
              </a:rPr>
              <a:t>85.48% → 75.45%</a:t>
            </a:r>
          </a:p>
        </p:txBody>
      </p:sp>
      <p:sp>
        <p:nvSpPr>
          <p:cNvPr id="11" name="Rectangle 10"/>
          <p:cNvSpPr/>
          <p:nvPr/>
        </p:nvSpPr>
        <p:spPr>
          <a:xfrm>
            <a:off x="320040" y="2487168"/>
            <a:ext cx="219456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
            </a:r>
          </a:p>
        </p:txBody>
      </p:sp>
      <p:sp>
        <p:nvSpPr>
          <p:cNvPr id="12" name="Rectangle 11"/>
          <p:cNvSpPr/>
          <p:nvPr/>
        </p:nvSpPr>
        <p:spPr>
          <a:xfrm>
            <a:off x="2514600" y="2487168"/>
            <a:ext cx="256032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Pubmed (3 cls)</a:t>
            </a:r>
          </a:p>
        </p:txBody>
      </p:sp>
      <p:sp>
        <p:nvSpPr>
          <p:cNvPr id="13" name="Rectangle 12"/>
          <p:cNvSpPr/>
          <p:nvPr/>
        </p:nvSpPr>
        <p:spPr>
          <a:xfrm>
            <a:off x="5074920" y="2487168"/>
            <a:ext cx="256032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WikiCS (10 cls)</a:t>
            </a:r>
          </a:p>
        </p:txBody>
      </p:sp>
      <p:sp>
        <p:nvSpPr>
          <p:cNvPr id="14" name="Rectangle 13"/>
          <p:cNvSpPr/>
          <p:nvPr/>
        </p:nvSpPr>
        <p:spPr>
          <a:xfrm>
            <a:off x="7635240" y="2487168"/>
            <a:ext cx="420624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Difference</a:t>
            </a:r>
          </a:p>
        </p:txBody>
      </p:sp>
      <p:sp>
        <p:nvSpPr>
          <p:cNvPr id="15" name="Rectangle 14"/>
          <p:cNvSpPr/>
          <p:nvPr/>
        </p:nvSpPr>
        <p:spPr>
          <a:xfrm>
            <a:off x="320040" y="2834640"/>
            <a:ext cx="219456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l"/>
            <a:r>
              <a:rPr sz="1000" b="1">
                <a:solidFill>
                  <a:srgbClr val="0B0B0B"/>
                </a:solidFill>
              </a:rPr>
              <a:t>Layer 0 class purity</a:t>
            </a:r>
          </a:p>
        </p:txBody>
      </p:sp>
      <p:sp>
        <p:nvSpPr>
          <p:cNvPr id="16" name="Rectangle 15"/>
          <p:cNvSpPr/>
          <p:nvPr/>
        </p:nvSpPr>
        <p:spPr>
          <a:xfrm>
            <a:off x="2514600" y="2834640"/>
            <a:ext cx="256032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1">
                <a:solidFill>
                  <a:srgbClr val="0B0B0B"/>
                </a:solidFill>
              </a:rPr>
              <a:t>0.441 ± 0.026</a:t>
            </a:r>
          </a:p>
        </p:txBody>
      </p:sp>
      <p:sp>
        <p:nvSpPr>
          <p:cNvPr id="17" name="Rectangle 16"/>
          <p:cNvSpPr/>
          <p:nvPr/>
        </p:nvSpPr>
        <p:spPr>
          <a:xfrm>
            <a:off x="5074920" y="2834640"/>
            <a:ext cx="256032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1">
                <a:solidFill>
                  <a:srgbClr val="0B0B0B"/>
                </a:solidFill>
              </a:rPr>
              <a:t>0.258 ± 0.017</a:t>
            </a:r>
          </a:p>
        </p:txBody>
      </p:sp>
      <p:sp>
        <p:nvSpPr>
          <p:cNvPr id="18" name="Rectangle 17"/>
          <p:cNvSpPr/>
          <p:nvPr/>
        </p:nvSpPr>
        <p:spPr>
          <a:xfrm>
            <a:off x="7635240" y="2834640"/>
            <a:ext cx="420624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1">
                <a:solidFill>
                  <a:srgbClr val="E34948"/>
                </a:solidFill>
              </a:rPr>
              <a:t>WikiCS 41% lower</a:t>
            </a:r>
          </a:p>
        </p:txBody>
      </p:sp>
      <p:sp>
        <p:nvSpPr>
          <p:cNvPr id="19" name="Rectangle 18"/>
          <p:cNvSpPr/>
          <p:nvPr/>
        </p:nvSpPr>
        <p:spPr>
          <a:xfrm>
            <a:off x="320040" y="3346704"/>
            <a:ext cx="219456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l"/>
            <a:r>
              <a:rPr sz="1000" b="1">
                <a:solidFill>
                  <a:srgbClr val="0B0B0B"/>
                </a:solidFill>
              </a:rPr>
              <a:t>Layer 1 class purity</a:t>
            </a:r>
          </a:p>
        </p:txBody>
      </p:sp>
      <p:sp>
        <p:nvSpPr>
          <p:cNvPr id="20" name="Rectangle 19"/>
          <p:cNvSpPr/>
          <p:nvPr/>
        </p:nvSpPr>
        <p:spPr>
          <a:xfrm>
            <a:off x="2514600" y="3346704"/>
            <a:ext cx="256032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1">
                <a:solidFill>
                  <a:srgbClr val="0B0B0B"/>
                </a:solidFill>
              </a:rPr>
              <a:t>0.468 ± 0.048</a:t>
            </a:r>
          </a:p>
        </p:txBody>
      </p:sp>
      <p:sp>
        <p:nvSpPr>
          <p:cNvPr id="21" name="Rectangle 20"/>
          <p:cNvSpPr/>
          <p:nvPr/>
        </p:nvSpPr>
        <p:spPr>
          <a:xfrm>
            <a:off x="5074920" y="3346704"/>
            <a:ext cx="256032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1">
                <a:solidFill>
                  <a:srgbClr val="0B0B0B"/>
                </a:solidFill>
              </a:rPr>
              <a:t>0.336 ± 0.050</a:t>
            </a:r>
          </a:p>
        </p:txBody>
      </p:sp>
      <p:sp>
        <p:nvSpPr>
          <p:cNvPr id="22" name="Rectangle 21"/>
          <p:cNvSpPr/>
          <p:nvPr/>
        </p:nvSpPr>
        <p:spPr>
          <a:xfrm>
            <a:off x="7635240" y="3346704"/>
            <a:ext cx="420624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1">
                <a:solidFill>
                  <a:srgbClr val="E34948"/>
                </a:solidFill>
              </a:rPr>
              <a:t>WikiCS 28% lower</a:t>
            </a:r>
          </a:p>
        </p:txBody>
      </p:sp>
      <p:sp>
        <p:nvSpPr>
          <p:cNvPr id="23" name="Rectangle 22"/>
          <p:cNvSpPr/>
          <p:nvPr/>
        </p:nvSpPr>
        <p:spPr>
          <a:xfrm>
            <a:off x="320040" y="3858768"/>
            <a:ext cx="219456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l"/>
            <a:r>
              <a:rPr sz="1000" b="0">
                <a:solidFill>
                  <a:srgbClr val="0B0B0B"/>
                </a:solidFill>
              </a:rPr>
              <a:t>ID accuracy</a:t>
            </a:r>
          </a:p>
        </p:txBody>
      </p:sp>
      <p:sp>
        <p:nvSpPr>
          <p:cNvPr id="24" name="Rectangle 23"/>
          <p:cNvSpPr/>
          <p:nvPr/>
        </p:nvSpPr>
        <p:spPr>
          <a:xfrm>
            <a:off x="2514600" y="3858768"/>
            <a:ext cx="256032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0">
                <a:solidFill>
                  <a:srgbClr val="0B0B0B"/>
                </a:solidFill>
              </a:rPr>
              <a:t>89.77 ± 0.31%</a:t>
            </a:r>
          </a:p>
        </p:txBody>
      </p:sp>
      <p:sp>
        <p:nvSpPr>
          <p:cNvPr id="25" name="Rectangle 24"/>
          <p:cNvSpPr/>
          <p:nvPr/>
        </p:nvSpPr>
        <p:spPr>
          <a:xfrm>
            <a:off x="5074920" y="3858768"/>
            <a:ext cx="256032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0">
                <a:solidFill>
                  <a:srgbClr val="0B0B0B"/>
                </a:solidFill>
              </a:rPr>
              <a:t>85.48 ± 0.64%</a:t>
            </a:r>
          </a:p>
        </p:txBody>
      </p:sp>
      <p:sp>
        <p:nvSpPr>
          <p:cNvPr id="26" name="Rectangle 25"/>
          <p:cNvSpPr/>
          <p:nvPr/>
        </p:nvSpPr>
        <p:spPr>
          <a:xfrm>
            <a:off x="7635240" y="3858768"/>
            <a:ext cx="420624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0">
                <a:solidFill>
                  <a:srgbClr val="0B0B0B"/>
                </a:solidFill>
              </a:rPr>
              <a:t>Pubmed +4.3%</a:t>
            </a:r>
          </a:p>
        </p:txBody>
      </p:sp>
      <p:sp>
        <p:nvSpPr>
          <p:cNvPr id="27" name="Rectangle 26"/>
          <p:cNvSpPr/>
          <p:nvPr/>
        </p:nvSpPr>
        <p:spPr>
          <a:xfrm>
            <a:off x="320040" y="4370832"/>
            <a:ext cx="219456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l"/>
            <a:r>
              <a:rPr sz="1000" b="0">
                <a:solidFill>
                  <a:srgbClr val="0B0B0B"/>
                </a:solidFill>
              </a:rPr>
              <a:t>OOD-low accuracy</a:t>
            </a:r>
          </a:p>
        </p:txBody>
      </p:sp>
      <p:sp>
        <p:nvSpPr>
          <p:cNvPr id="28" name="Rectangle 27"/>
          <p:cNvSpPr/>
          <p:nvPr/>
        </p:nvSpPr>
        <p:spPr>
          <a:xfrm>
            <a:off x="2514600" y="4370832"/>
            <a:ext cx="256032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0">
                <a:solidFill>
                  <a:srgbClr val="0B0B0B"/>
                </a:solidFill>
              </a:rPr>
              <a:t>88.21 ± 0.34%</a:t>
            </a:r>
          </a:p>
        </p:txBody>
      </p:sp>
      <p:sp>
        <p:nvSpPr>
          <p:cNvPr id="29" name="Rectangle 28"/>
          <p:cNvSpPr/>
          <p:nvPr/>
        </p:nvSpPr>
        <p:spPr>
          <a:xfrm>
            <a:off x="5074920" y="4370832"/>
            <a:ext cx="256032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0">
                <a:solidFill>
                  <a:srgbClr val="0B0B0B"/>
                </a:solidFill>
              </a:rPr>
              <a:t>75.45 ± 0.91%</a:t>
            </a:r>
          </a:p>
        </p:txBody>
      </p:sp>
      <p:sp>
        <p:nvSpPr>
          <p:cNvPr id="30" name="Rectangle 29"/>
          <p:cNvSpPr/>
          <p:nvPr/>
        </p:nvSpPr>
        <p:spPr>
          <a:xfrm>
            <a:off x="7635240" y="4370832"/>
            <a:ext cx="420624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0">
                <a:solidFill>
                  <a:srgbClr val="1C5CAB"/>
                </a:solidFill>
              </a:rPr>
              <a:t>Pubmed +12.8%</a:t>
            </a:r>
          </a:p>
        </p:txBody>
      </p:sp>
      <p:sp>
        <p:nvSpPr>
          <p:cNvPr id="31" name="Rectangle 30"/>
          <p:cNvSpPr/>
          <p:nvPr/>
        </p:nvSpPr>
        <p:spPr>
          <a:xfrm>
            <a:off x="320040" y="4882896"/>
            <a:ext cx="219456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l"/>
            <a:r>
              <a:rPr sz="1000" b="1">
                <a:solidFill>
                  <a:srgbClr val="0B0B0B"/>
                </a:solidFill>
              </a:rPr>
              <a:t>Drop  ID → OOD-low</a:t>
            </a:r>
          </a:p>
        </p:txBody>
      </p:sp>
      <p:sp>
        <p:nvSpPr>
          <p:cNvPr id="32" name="Rectangle 31"/>
          <p:cNvSpPr/>
          <p:nvPr/>
        </p:nvSpPr>
        <p:spPr>
          <a:xfrm>
            <a:off x="2514600" y="4882896"/>
            <a:ext cx="256032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1">
                <a:solidFill>
                  <a:srgbClr val="1C5CAB"/>
                </a:solidFill>
              </a:rPr>
              <a:t>−1.56%</a:t>
            </a:r>
          </a:p>
        </p:txBody>
      </p:sp>
      <p:sp>
        <p:nvSpPr>
          <p:cNvPr id="33" name="Rectangle 32"/>
          <p:cNvSpPr/>
          <p:nvPr/>
        </p:nvSpPr>
        <p:spPr>
          <a:xfrm>
            <a:off x="5074920" y="4882896"/>
            <a:ext cx="256032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1">
                <a:solidFill>
                  <a:srgbClr val="E34948"/>
                </a:solidFill>
              </a:rPr>
              <a:t>−10.03%</a:t>
            </a:r>
          </a:p>
        </p:txBody>
      </p:sp>
      <p:sp>
        <p:nvSpPr>
          <p:cNvPr id="34" name="Rectangle 33"/>
          <p:cNvSpPr/>
          <p:nvPr/>
        </p:nvSpPr>
        <p:spPr>
          <a:xfrm>
            <a:off x="7635240" y="4882896"/>
            <a:ext cx="4206240" cy="512064"/>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1">
                <a:solidFill>
                  <a:srgbClr val="E34948"/>
                </a:solidFill>
              </a:rPr>
              <a:t>WikiCS drop 6.4× larger</a:t>
            </a:r>
          </a:p>
        </p:txBody>
      </p:sp>
      <p:sp>
        <p:nvSpPr>
          <p:cNvPr id="35" name="Rectangle 34"/>
          <p:cNvSpPr/>
          <p:nvPr/>
        </p:nvSpPr>
        <p:spPr>
          <a:xfrm>
            <a:off x="320040" y="5394960"/>
            <a:ext cx="219456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l"/>
            <a:r>
              <a:rPr sz="1000" b="0">
                <a:solidFill>
                  <a:srgbClr val="0B0B0B"/>
                </a:solidFill>
              </a:rPr>
              <a:t>Layer 0 TV  (OOD-low)</a:t>
            </a:r>
          </a:p>
        </p:txBody>
      </p:sp>
      <p:sp>
        <p:nvSpPr>
          <p:cNvPr id="36" name="Rectangle 35"/>
          <p:cNvSpPr/>
          <p:nvPr/>
        </p:nvSpPr>
        <p:spPr>
          <a:xfrm>
            <a:off x="2514600" y="5394960"/>
            <a:ext cx="256032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0">
                <a:solidFill>
                  <a:srgbClr val="0B0B0B"/>
                </a:solidFill>
              </a:rPr>
              <a:t>0.0011 ± 0.0007</a:t>
            </a:r>
          </a:p>
        </p:txBody>
      </p:sp>
      <p:sp>
        <p:nvSpPr>
          <p:cNvPr id="37" name="Rectangle 36"/>
          <p:cNvSpPr/>
          <p:nvPr/>
        </p:nvSpPr>
        <p:spPr>
          <a:xfrm>
            <a:off x="5074920" y="5394960"/>
            <a:ext cx="256032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0">
                <a:solidFill>
                  <a:srgbClr val="0B0B0B"/>
                </a:solidFill>
              </a:rPr>
              <a:t>0.0015 ± 0.0005</a:t>
            </a:r>
          </a:p>
        </p:txBody>
      </p:sp>
      <p:sp>
        <p:nvSpPr>
          <p:cNvPr id="38" name="Rectangle 37"/>
          <p:cNvSpPr/>
          <p:nvPr/>
        </p:nvSpPr>
        <p:spPr>
          <a:xfrm>
            <a:off x="7635240" y="5394960"/>
            <a:ext cx="4206240" cy="512064"/>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73152" tIns="91440"/>
          <a:lstStyle/>
          <a:p>
            <a:pPr algn="ctr"/>
            <a:r>
              <a:rPr sz="1000" b="0">
                <a:solidFill>
                  <a:srgbClr val="0B0B0B"/>
                </a:solidFill>
              </a:rPr>
              <a:t>WikiCS 36% higher shift</a:t>
            </a:r>
          </a:p>
        </p:txBody>
      </p:sp>
      <p:sp>
        <p:nvSpPr>
          <p:cNvPr id="39" name="Rectangle 38"/>
          <p:cNvSpPr/>
          <p:nvPr/>
        </p:nvSpPr>
        <p:spPr>
          <a:xfrm>
            <a:off x="320040" y="5989320"/>
            <a:ext cx="11521440" cy="713232"/>
          </a:xfrm>
          <a:prstGeom prst="rect">
            <a:avLst/>
          </a:prstGeom>
          <a:solidFill>
            <a:srgbClr val="FFF8E6"/>
          </a:solidFill>
          <a:ln w="19050">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wrap="square" lIns="118872" rIns="118872" tIns="91440"/>
          <a:lstStyle/>
          <a:p>
            <a:pPr algn="ctr"/>
            <a:r>
              <a:rPr sz="1100" b="1">
                <a:solidFill>
                  <a:srgbClr val="7A5400"/>
                </a:solidFill>
              </a:rPr>
              <a:t>The mechanism: low purity → wrong expert → OOD robustness breaks</a:t>
            </a:r>
          </a:p>
          <a:p>
            <a:pPr>
              <a:spcBef>
                <a:spcPts val="300"/>
              </a:spcBef>
            </a:pPr>
            <a:r>
              <a:rPr sz="950">
                <a:solidFill>
                  <a:srgbClr val="52514E"/>
                </a:solidFill>
              </a:rPr>
              <a:t>WikiCS has 10 classes, heterophilic edges, and tight communities. The router can't cleanly separate them, so experts receive mixed content. Under degree shift, the already-confused routing degrades further — a 10% accuracy drop. Pubmed has 3 well-separated classes, high-purity routing, and nearly no OOD degradation. Conclusion: improving expert purity via KL alignment should directly improve OOD robustness, especially for WikiCS.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CFC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
            <a:ext cx="10972800" cy="228600"/>
          </a:xfrm>
          <a:prstGeom prst="rect">
            <a:avLst/>
          </a:prstGeom>
          <a:noFill/>
        </p:spPr>
        <p:txBody>
          <a:bodyPr wrap="none">
            <a:spAutoFit/>
          </a:bodyPr>
          <a:lstStyle/>
          <a:p>
            <a:pPr algn="l"/>
            <a:r>
              <a:rPr sz="800" b="1" i="0">
                <a:solidFill>
                  <a:srgbClr val="898781"/>
                </a:solidFill>
              </a:rPr>
              <a:t>FULL RESULTS TABLE  ·  GNN ROUTER vs LLM ROUTER  ·  DEGREE SHIFT + HOMOPHILY SHIFT</a:t>
            </a:r>
          </a:p>
        </p:txBody>
      </p:sp>
      <p:sp>
        <p:nvSpPr>
          <p:cNvPr id="5" name="TextBox 4"/>
          <p:cNvSpPr txBox="1"/>
          <p:nvPr/>
        </p:nvSpPr>
        <p:spPr>
          <a:xfrm>
            <a:off x="411480" y="384048"/>
            <a:ext cx="11338560" cy="566928"/>
          </a:xfrm>
          <a:prstGeom prst="rect">
            <a:avLst/>
          </a:prstGeom>
          <a:noFill/>
        </p:spPr>
        <p:txBody>
          <a:bodyPr wrap="none">
            <a:spAutoFit/>
          </a:bodyPr>
          <a:lstStyle/>
          <a:p>
            <a:pPr algn="l"/>
            <a:r>
              <a:rPr sz="2200" b="1" i="0">
                <a:solidFill>
                  <a:srgbClr val="0B0B0B"/>
                </a:solidFill>
              </a:rPr>
              <a:t>GNN and LLM Routers Match on Accuracy — but Differ Where It Matters</a:t>
            </a:r>
          </a:p>
        </p:txBody>
      </p:sp>
      <p:sp>
        <p:nvSpPr>
          <p:cNvPr id="6" name="TextBox 5"/>
          <p:cNvSpPr txBox="1"/>
          <p:nvPr/>
        </p:nvSpPr>
        <p:spPr>
          <a:xfrm>
            <a:off x="411480" y="841248"/>
            <a:ext cx="11338560" cy="411480"/>
          </a:xfrm>
          <a:prstGeom prst="rect">
            <a:avLst/>
          </a:prstGeom>
          <a:noFill/>
        </p:spPr>
        <p:txBody>
          <a:bodyPr wrap="none">
            <a:spAutoFit/>
          </a:bodyPr>
          <a:lstStyle/>
          <a:p>
            <a:pPr algn="l"/>
            <a:r>
              <a:rPr sz="1000" b="0" i="0">
                <a:solidFill>
                  <a:srgbClr val="52514E"/>
                </a:solidFill>
              </a:rPr>
              <a:t>Accuracy differences are within 1σ across all settings. The key gap is in expert purity and routing stability, not raw accuracy — which is why simple router-swapping doesn't work and KL reinforcement is needed.</a:t>
            </a:r>
          </a:p>
        </p:txBody>
      </p:sp>
      <p:sp>
        <p:nvSpPr>
          <p:cNvPr id="7" name="Rectangle 6"/>
          <p:cNvSpPr/>
          <p:nvPr/>
        </p:nvSpPr>
        <p:spPr>
          <a:xfrm>
            <a:off x="320040" y="1298448"/>
            <a:ext cx="118872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Dataset</a:t>
            </a:r>
          </a:p>
        </p:txBody>
      </p:sp>
      <p:sp>
        <p:nvSpPr>
          <p:cNvPr id="8" name="Rectangle 7"/>
          <p:cNvSpPr/>
          <p:nvPr/>
        </p:nvSpPr>
        <p:spPr>
          <a:xfrm>
            <a:off x="1508760" y="1298448"/>
            <a:ext cx="182880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Benchmark</a:t>
            </a:r>
          </a:p>
        </p:txBody>
      </p:sp>
      <p:sp>
        <p:nvSpPr>
          <p:cNvPr id="9" name="Rectangle 8"/>
          <p:cNvSpPr/>
          <p:nvPr/>
        </p:nvSpPr>
        <p:spPr>
          <a:xfrm>
            <a:off x="3337560" y="1298448"/>
            <a:ext cx="128016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Router</a:t>
            </a:r>
          </a:p>
        </p:txBody>
      </p:sp>
      <p:sp>
        <p:nvSpPr>
          <p:cNvPr id="10" name="Rectangle 9"/>
          <p:cNvSpPr/>
          <p:nvPr/>
        </p:nvSpPr>
        <p:spPr>
          <a:xfrm>
            <a:off x="4617720" y="1298448"/>
            <a:ext cx="192024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ID Acc (%)</a:t>
            </a:r>
          </a:p>
        </p:txBody>
      </p:sp>
      <p:sp>
        <p:nvSpPr>
          <p:cNvPr id="11" name="Rectangle 10"/>
          <p:cNvSpPr/>
          <p:nvPr/>
        </p:nvSpPr>
        <p:spPr>
          <a:xfrm>
            <a:off x="6537960" y="1298448"/>
            <a:ext cx="192024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OOD-low (%)</a:t>
            </a:r>
          </a:p>
        </p:txBody>
      </p:sp>
      <p:sp>
        <p:nvSpPr>
          <p:cNvPr id="12" name="Rectangle 11"/>
          <p:cNvSpPr/>
          <p:nvPr/>
        </p:nvSpPr>
        <p:spPr>
          <a:xfrm>
            <a:off x="8458200" y="1298448"/>
            <a:ext cx="1920240" cy="329184"/>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lIns="64008"/>
          <a:lstStyle/>
          <a:p>
            <a:pPr algn="ctr"/>
            <a:r>
              <a:rPr sz="900" b="1">
                <a:solidFill>
                  <a:srgbClr val="FFFFFF"/>
                </a:solidFill>
              </a:rPr>
              <a:t>OOD-high (%)</a:t>
            </a:r>
          </a:p>
        </p:txBody>
      </p:sp>
      <p:sp>
        <p:nvSpPr>
          <p:cNvPr id="13" name="Rectangle 12"/>
          <p:cNvSpPr/>
          <p:nvPr/>
        </p:nvSpPr>
        <p:spPr>
          <a:xfrm>
            <a:off x="320040" y="1645920"/>
            <a:ext cx="118872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Cora</a:t>
            </a:r>
          </a:p>
        </p:txBody>
      </p:sp>
      <p:sp>
        <p:nvSpPr>
          <p:cNvPr id="14" name="Rectangle 13"/>
          <p:cNvSpPr/>
          <p:nvPr/>
        </p:nvSpPr>
        <p:spPr>
          <a:xfrm>
            <a:off x="1508760" y="1645920"/>
            <a:ext cx="182880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degree_shift</a:t>
            </a:r>
          </a:p>
        </p:txBody>
      </p:sp>
      <p:sp>
        <p:nvSpPr>
          <p:cNvPr id="15" name="Rectangle 14"/>
          <p:cNvSpPr/>
          <p:nvPr/>
        </p:nvSpPr>
        <p:spPr>
          <a:xfrm>
            <a:off x="3337560" y="1645920"/>
            <a:ext cx="128016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GNN</a:t>
            </a:r>
          </a:p>
        </p:txBody>
      </p:sp>
      <p:sp>
        <p:nvSpPr>
          <p:cNvPr id="16" name="Rectangle 15"/>
          <p:cNvSpPr/>
          <p:nvPr/>
        </p:nvSpPr>
        <p:spPr>
          <a:xfrm>
            <a:off x="4617720" y="164592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87.47 ± 1.63</a:t>
            </a:r>
          </a:p>
        </p:txBody>
      </p:sp>
      <p:sp>
        <p:nvSpPr>
          <p:cNvPr id="17" name="Rectangle 16"/>
          <p:cNvSpPr/>
          <p:nvPr/>
        </p:nvSpPr>
        <p:spPr>
          <a:xfrm>
            <a:off x="6537960" y="164592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81.23 ± 2.09</a:t>
            </a:r>
          </a:p>
        </p:txBody>
      </p:sp>
      <p:sp>
        <p:nvSpPr>
          <p:cNvPr id="18" name="Rectangle 17"/>
          <p:cNvSpPr/>
          <p:nvPr/>
        </p:nvSpPr>
        <p:spPr>
          <a:xfrm>
            <a:off x="8458200" y="164592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85.91 ± 0.98</a:t>
            </a:r>
          </a:p>
        </p:txBody>
      </p:sp>
      <p:sp>
        <p:nvSpPr>
          <p:cNvPr id="19" name="Rectangle 18"/>
          <p:cNvSpPr/>
          <p:nvPr/>
        </p:nvSpPr>
        <p:spPr>
          <a:xfrm>
            <a:off x="320040" y="1965960"/>
            <a:ext cx="118872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Cora</a:t>
            </a:r>
          </a:p>
        </p:txBody>
      </p:sp>
      <p:sp>
        <p:nvSpPr>
          <p:cNvPr id="20" name="Rectangle 19"/>
          <p:cNvSpPr/>
          <p:nvPr/>
        </p:nvSpPr>
        <p:spPr>
          <a:xfrm>
            <a:off x="1508760" y="1965960"/>
            <a:ext cx="182880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degree_shift</a:t>
            </a:r>
          </a:p>
        </p:txBody>
      </p:sp>
      <p:sp>
        <p:nvSpPr>
          <p:cNvPr id="21" name="Rectangle 20"/>
          <p:cNvSpPr/>
          <p:nvPr/>
        </p:nvSpPr>
        <p:spPr>
          <a:xfrm>
            <a:off x="3337560" y="1965960"/>
            <a:ext cx="128016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EB6834"/>
                </a:solidFill>
              </a:rPr>
              <a:t>LLM</a:t>
            </a:r>
          </a:p>
        </p:txBody>
      </p:sp>
      <p:sp>
        <p:nvSpPr>
          <p:cNvPr id="22" name="Rectangle 21"/>
          <p:cNvSpPr/>
          <p:nvPr/>
        </p:nvSpPr>
        <p:spPr>
          <a:xfrm>
            <a:off x="4617720" y="196596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87.35 ± 1.40</a:t>
            </a:r>
          </a:p>
        </p:txBody>
      </p:sp>
      <p:sp>
        <p:nvSpPr>
          <p:cNvPr id="23" name="Rectangle 22"/>
          <p:cNvSpPr/>
          <p:nvPr/>
        </p:nvSpPr>
        <p:spPr>
          <a:xfrm>
            <a:off x="6537960" y="196596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81.18 ± 2.07</a:t>
            </a:r>
          </a:p>
        </p:txBody>
      </p:sp>
      <p:sp>
        <p:nvSpPr>
          <p:cNvPr id="24" name="Rectangle 23"/>
          <p:cNvSpPr/>
          <p:nvPr/>
        </p:nvSpPr>
        <p:spPr>
          <a:xfrm>
            <a:off x="8458200" y="196596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85.76 ± 0.65</a:t>
            </a:r>
          </a:p>
        </p:txBody>
      </p:sp>
      <p:sp>
        <p:nvSpPr>
          <p:cNvPr id="25" name="Rectangle 24"/>
          <p:cNvSpPr/>
          <p:nvPr/>
        </p:nvSpPr>
        <p:spPr>
          <a:xfrm>
            <a:off x="320040" y="2286000"/>
            <a:ext cx="118872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Pubmed</a:t>
            </a:r>
          </a:p>
        </p:txBody>
      </p:sp>
      <p:sp>
        <p:nvSpPr>
          <p:cNvPr id="26" name="Rectangle 25"/>
          <p:cNvSpPr/>
          <p:nvPr/>
        </p:nvSpPr>
        <p:spPr>
          <a:xfrm>
            <a:off x="1508760" y="2286000"/>
            <a:ext cx="182880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degree_shift</a:t>
            </a:r>
          </a:p>
        </p:txBody>
      </p:sp>
      <p:sp>
        <p:nvSpPr>
          <p:cNvPr id="27" name="Rectangle 26"/>
          <p:cNvSpPr/>
          <p:nvPr/>
        </p:nvSpPr>
        <p:spPr>
          <a:xfrm>
            <a:off x="3337560" y="2286000"/>
            <a:ext cx="128016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GNN</a:t>
            </a:r>
          </a:p>
        </p:txBody>
      </p:sp>
      <p:sp>
        <p:nvSpPr>
          <p:cNvPr id="28" name="Rectangle 27"/>
          <p:cNvSpPr/>
          <p:nvPr/>
        </p:nvSpPr>
        <p:spPr>
          <a:xfrm>
            <a:off x="4617720" y="228600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89.77 ± 0.31</a:t>
            </a:r>
          </a:p>
        </p:txBody>
      </p:sp>
      <p:sp>
        <p:nvSpPr>
          <p:cNvPr id="29" name="Rectangle 28"/>
          <p:cNvSpPr/>
          <p:nvPr/>
        </p:nvSpPr>
        <p:spPr>
          <a:xfrm>
            <a:off x="6537960" y="228600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88.21 ± 0.34</a:t>
            </a:r>
          </a:p>
        </p:txBody>
      </p:sp>
      <p:sp>
        <p:nvSpPr>
          <p:cNvPr id="30" name="Rectangle 29"/>
          <p:cNvSpPr/>
          <p:nvPr/>
        </p:nvSpPr>
        <p:spPr>
          <a:xfrm>
            <a:off x="8458200" y="228600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89.51 ± 0.31</a:t>
            </a:r>
          </a:p>
        </p:txBody>
      </p:sp>
      <p:sp>
        <p:nvSpPr>
          <p:cNvPr id="31" name="Rectangle 30"/>
          <p:cNvSpPr/>
          <p:nvPr/>
        </p:nvSpPr>
        <p:spPr>
          <a:xfrm>
            <a:off x="320040" y="2606040"/>
            <a:ext cx="118872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Pubmed</a:t>
            </a:r>
          </a:p>
        </p:txBody>
      </p:sp>
      <p:sp>
        <p:nvSpPr>
          <p:cNvPr id="32" name="Rectangle 31"/>
          <p:cNvSpPr/>
          <p:nvPr/>
        </p:nvSpPr>
        <p:spPr>
          <a:xfrm>
            <a:off x="1508760" y="2606040"/>
            <a:ext cx="182880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degree_shift</a:t>
            </a:r>
          </a:p>
        </p:txBody>
      </p:sp>
      <p:sp>
        <p:nvSpPr>
          <p:cNvPr id="33" name="Rectangle 32"/>
          <p:cNvSpPr/>
          <p:nvPr/>
        </p:nvSpPr>
        <p:spPr>
          <a:xfrm>
            <a:off x="3337560" y="2606040"/>
            <a:ext cx="128016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EB6834"/>
                </a:solidFill>
              </a:rPr>
              <a:t>LLM</a:t>
            </a:r>
          </a:p>
        </p:txBody>
      </p:sp>
      <p:sp>
        <p:nvSpPr>
          <p:cNvPr id="34" name="Rectangle 33"/>
          <p:cNvSpPr/>
          <p:nvPr/>
        </p:nvSpPr>
        <p:spPr>
          <a:xfrm>
            <a:off x="4617720" y="260604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89.65 ± 0.31</a:t>
            </a:r>
          </a:p>
        </p:txBody>
      </p:sp>
      <p:sp>
        <p:nvSpPr>
          <p:cNvPr id="35" name="Rectangle 34"/>
          <p:cNvSpPr/>
          <p:nvPr/>
        </p:nvSpPr>
        <p:spPr>
          <a:xfrm>
            <a:off x="6537960" y="260604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88.09 ± 0.36</a:t>
            </a:r>
          </a:p>
        </p:txBody>
      </p:sp>
      <p:sp>
        <p:nvSpPr>
          <p:cNvPr id="36" name="Rectangle 35"/>
          <p:cNvSpPr/>
          <p:nvPr/>
        </p:nvSpPr>
        <p:spPr>
          <a:xfrm>
            <a:off x="8458200" y="260604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89.33 ± 0.43</a:t>
            </a:r>
          </a:p>
        </p:txBody>
      </p:sp>
      <p:sp>
        <p:nvSpPr>
          <p:cNvPr id="37" name="Rectangle 36"/>
          <p:cNvSpPr/>
          <p:nvPr/>
        </p:nvSpPr>
        <p:spPr>
          <a:xfrm>
            <a:off x="320040" y="2926080"/>
            <a:ext cx="118872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WikiCS</a:t>
            </a:r>
          </a:p>
        </p:txBody>
      </p:sp>
      <p:sp>
        <p:nvSpPr>
          <p:cNvPr id="38" name="Rectangle 37"/>
          <p:cNvSpPr/>
          <p:nvPr/>
        </p:nvSpPr>
        <p:spPr>
          <a:xfrm>
            <a:off x="1508760" y="2926080"/>
            <a:ext cx="182880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degree_shift</a:t>
            </a:r>
          </a:p>
        </p:txBody>
      </p:sp>
      <p:sp>
        <p:nvSpPr>
          <p:cNvPr id="39" name="Rectangle 38"/>
          <p:cNvSpPr/>
          <p:nvPr/>
        </p:nvSpPr>
        <p:spPr>
          <a:xfrm>
            <a:off x="3337560" y="2926080"/>
            <a:ext cx="128016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GNN</a:t>
            </a:r>
          </a:p>
        </p:txBody>
      </p:sp>
      <p:sp>
        <p:nvSpPr>
          <p:cNvPr id="40" name="Rectangle 39"/>
          <p:cNvSpPr/>
          <p:nvPr/>
        </p:nvSpPr>
        <p:spPr>
          <a:xfrm>
            <a:off x="4617720" y="2926080"/>
            <a:ext cx="192024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85.48 ± 0.64</a:t>
            </a:r>
          </a:p>
        </p:txBody>
      </p:sp>
      <p:sp>
        <p:nvSpPr>
          <p:cNvPr id="41" name="Rectangle 40"/>
          <p:cNvSpPr/>
          <p:nvPr/>
        </p:nvSpPr>
        <p:spPr>
          <a:xfrm>
            <a:off x="6537960" y="2926080"/>
            <a:ext cx="192024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75.45 ± 0.91</a:t>
            </a:r>
          </a:p>
        </p:txBody>
      </p:sp>
      <p:sp>
        <p:nvSpPr>
          <p:cNvPr id="42" name="Rectangle 41"/>
          <p:cNvSpPr/>
          <p:nvPr/>
        </p:nvSpPr>
        <p:spPr>
          <a:xfrm>
            <a:off x="8458200" y="2926080"/>
            <a:ext cx="192024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86.29 ± 0.46</a:t>
            </a:r>
          </a:p>
        </p:txBody>
      </p:sp>
      <p:sp>
        <p:nvSpPr>
          <p:cNvPr id="43" name="Rectangle 42"/>
          <p:cNvSpPr/>
          <p:nvPr/>
        </p:nvSpPr>
        <p:spPr>
          <a:xfrm>
            <a:off x="320040" y="3246120"/>
            <a:ext cx="118872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WikiCS</a:t>
            </a:r>
          </a:p>
        </p:txBody>
      </p:sp>
      <p:sp>
        <p:nvSpPr>
          <p:cNvPr id="44" name="Rectangle 43"/>
          <p:cNvSpPr/>
          <p:nvPr/>
        </p:nvSpPr>
        <p:spPr>
          <a:xfrm>
            <a:off x="1508760" y="3246120"/>
            <a:ext cx="182880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degree_shift</a:t>
            </a:r>
          </a:p>
        </p:txBody>
      </p:sp>
      <p:sp>
        <p:nvSpPr>
          <p:cNvPr id="45" name="Rectangle 44"/>
          <p:cNvSpPr/>
          <p:nvPr/>
        </p:nvSpPr>
        <p:spPr>
          <a:xfrm>
            <a:off x="3337560" y="3246120"/>
            <a:ext cx="128016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EB6834"/>
                </a:solidFill>
              </a:rPr>
              <a:t>LLM</a:t>
            </a:r>
          </a:p>
        </p:txBody>
      </p:sp>
      <p:sp>
        <p:nvSpPr>
          <p:cNvPr id="46" name="Rectangle 45"/>
          <p:cNvSpPr/>
          <p:nvPr/>
        </p:nvSpPr>
        <p:spPr>
          <a:xfrm>
            <a:off x="4617720" y="3246120"/>
            <a:ext cx="192024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85.55 ± 0.78</a:t>
            </a:r>
          </a:p>
        </p:txBody>
      </p:sp>
      <p:sp>
        <p:nvSpPr>
          <p:cNvPr id="47" name="Rectangle 46"/>
          <p:cNvSpPr/>
          <p:nvPr/>
        </p:nvSpPr>
        <p:spPr>
          <a:xfrm>
            <a:off x="6537960" y="3246120"/>
            <a:ext cx="192024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75.41 ± 0.73</a:t>
            </a:r>
          </a:p>
        </p:txBody>
      </p:sp>
      <p:sp>
        <p:nvSpPr>
          <p:cNvPr id="48" name="Rectangle 47"/>
          <p:cNvSpPr/>
          <p:nvPr/>
        </p:nvSpPr>
        <p:spPr>
          <a:xfrm>
            <a:off x="8458200" y="3246120"/>
            <a:ext cx="1920240" cy="320040"/>
          </a:xfrm>
          <a:prstGeom prst="rect">
            <a:avLst/>
          </a:prstGeom>
          <a:solidFill>
            <a:srgbClr val="FFF8E6"/>
          </a:solidFill>
          <a:ln w="9525">
            <a:solidFill>
              <a:srgbClr val="F9D68A"/>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86.50 ± 0.74</a:t>
            </a:r>
          </a:p>
        </p:txBody>
      </p:sp>
      <p:sp>
        <p:nvSpPr>
          <p:cNvPr id="49" name="Rectangle 48"/>
          <p:cNvSpPr/>
          <p:nvPr/>
        </p:nvSpPr>
        <p:spPr>
          <a:xfrm>
            <a:off x="320040" y="3566160"/>
            <a:ext cx="118872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1">
                <a:solidFill>
                  <a:srgbClr val="0B0B0B"/>
                </a:solidFill>
              </a:rPr>
              <a:t>Arxiv</a:t>
            </a:r>
          </a:p>
        </p:txBody>
      </p:sp>
      <p:sp>
        <p:nvSpPr>
          <p:cNvPr id="50" name="Rectangle 49"/>
          <p:cNvSpPr/>
          <p:nvPr/>
        </p:nvSpPr>
        <p:spPr>
          <a:xfrm>
            <a:off x="1508760" y="3566160"/>
            <a:ext cx="182880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1">
                <a:solidFill>
                  <a:srgbClr val="0B0B0B"/>
                </a:solidFill>
              </a:rPr>
              <a:t>degree_shift</a:t>
            </a:r>
          </a:p>
        </p:txBody>
      </p:sp>
      <p:sp>
        <p:nvSpPr>
          <p:cNvPr id="51" name="Rectangle 50"/>
          <p:cNvSpPr/>
          <p:nvPr/>
        </p:nvSpPr>
        <p:spPr>
          <a:xfrm>
            <a:off x="3337560" y="3566160"/>
            <a:ext cx="128016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1">
                <a:solidFill>
                  <a:srgbClr val="0B0B0B"/>
                </a:solidFill>
              </a:rPr>
              <a:t>GNN</a:t>
            </a:r>
          </a:p>
        </p:txBody>
      </p:sp>
      <p:sp>
        <p:nvSpPr>
          <p:cNvPr id="52" name="Rectangle 51"/>
          <p:cNvSpPr/>
          <p:nvPr/>
        </p:nvSpPr>
        <p:spPr>
          <a:xfrm>
            <a:off x="4617720" y="3566160"/>
            <a:ext cx="192024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1">
                <a:solidFill>
                  <a:srgbClr val="E34948"/>
                </a:solidFill>
              </a:rPr>
              <a:t>72.35 ± 0.18</a:t>
            </a:r>
          </a:p>
        </p:txBody>
      </p:sp>
      <p:sp>
        <p:nvSpPr>
          <p:cNvPr id="53" name="Rectangle 52"/>
          <p:cNvSpPr/>
          <p:nvPr/>
        </p:nvSpPr>
        <p:spPr>
          <a:xfrm>
            <a:off x="6537960" y="3566160"/>
            <a:ext cx="192024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1">
                <a:solidFill>
                  <a:srgbClr val="E34948"/>
                </a:solidFill>
              </a:rPr>
              <a:t>59.33 ± 0.20</a:t>
            </a:r>
          </a:p>
        </p:txBody>
      </p:sp>
      <p:sp>
        <p:nvSpPr>
          <p:cNvPr id="54" name="Rectangle 53"/>
          <p:cNvSpPr/>
          <p:nvPr/>
        </p:nvSpPr>
        <p:spPr>
          <a:xfrm>
            <a:off x="8458200" y="3566160"/>
            <a:ext cx="192024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1">
                <a:solidFill>
                  <a:srgbClr val="E34948"/>
                </a:solidFill>
              </a:rPr>
              <a:t>80.83 ± 0.44</a:t>
            </a:r>
          </a:p>
        </p:txBody>
      </p:sp>
      <p:sp>
        <p:nvSpPr>
          <p:cNvPr id="55" name="Rectangle 54"/>
          <p:cNvSpPr/>
          <p:nvPr/>
        </p:nvSpPr>
        <p:spPr>
          <a:xfrm>
            <a:off x="320040" y="3886200"/>
            <a:ext cx="118872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1">
                <a:solidFill>
                  <a:srgbClr val="0B0B0B"/>
                </a:solidFill>
              </a:rPr>
              <a:t>Arxiv</a:t>
            </a:r>
          </a:p>
        </p:txBody>
      </p:sp>
      <p:sp>
        <p:nvSpPr>
          <p:cNvPr id="56" name="Rectangle 55"/>
          <p:cNvSpPr/>
          <p:nvPr/>
        </p:nvSpPr>
        <p:spPr>
          <a:xfrm>
            <a:off x="1508760" y="3886200"/>
            <a:ext cx="182880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1">
                <a:solidFill>
                  <a:srgbClr val="0B0B0B"/>
                </a:solidFill>
              </a:rPr>
              <a:t>degree_shift</a:t>
            </a:r>
          </a:p>
        </p:txBody>
      </p:sp>
      <p:sp>
        <p:nvSpPr>
          <p:cNvPr id="57" name="Rectangle 56"/>
          <p:cNvSpPr/>
          <p:nvPr/>
        </p:nvSpPr>
        <p:spPr>
          <a:xfrm>
            <a:off x="3337560" y="3886200"/>
            <a:ext cx="128016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1">
                <a:solidFill>
                  <a:srgbClr val="EB6834"/>
                </a:solidFill>
              </a:rPr>
              <a:t>LLM</a:t>
            </a:r>
          </a:p>
        </p:txBody>
      </p:sp>
      <p:sp>
        <p:nvSpPr>
          <p:cNvPr id="58" name="Rectangle 57"/>
          <p:cNvSpPr/>
          <p:nvPr/>
        </p:nvSpPr>
        <p:spPr>
          <a:xfrm>
            <a:off x="4617720" y="3886200"/>
            <a:ext cx="192024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1">
                <a:solidFill>
                  <a:srgbClr val="E34948"/>
                </a:solidFill>
              </a:rPr>
              <a:t>72.28 ± 0.20</a:t>
            </a:r>
          </a:p>
        </p:txBody>
      </p:sp>
      <p:sp>
        <p:nvSpPr>
          <p:cNvPr id="59" name="Rectangle 58"/>
          <p:cNvSpPr/>
          <p:nvPr/>
        </p:nvSpPr>
        <p:spPr>
          <a:xfrm>
            <a:off x="6537960" y="3886200"/>
            <a:ext cx="192024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1">
                <a:solidFill>
                  <a:srgbClr val="E34948"/>
                </a:solidFill>
              </a:rPr>
              <a:t>59.52 ± 0.11</a:t>
            </a:r>
          </a:p>
        </p:txBody>
      </p:sp>
      <p:sp>
        <p:nvSpPr>
          <p:cNvPr id="60" name="Rectangle 59"/>
          <p:cNvSpPr/>
          <p:nvPr/>
        </p:nvSpPr>
        <p:spPr>
          <a:xfrm>
            <a:off x="8458200" y="3886200"/>
            <a:ext cx="1920240" cy="320040"/>
          </a:xfrm>
          <a:prstGeom prst="rect">
            <a:avLst/>
          </a:prstGeom>
          <a:solidFill>
            <a:srgbClr val="FFF5F5"/>
          </a:solidFill>
          <a:ln w="9525">
            <a:solidFill>
              <a:srgbClr val="FCD0D0"/>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1">
                <a:solidFill>
                  <a:srgbClr val="E34948"/>
                </a:solidFill>
              </a:rPr>
              <a:t>80.88 ± 0.54</a:t>
            </a:r>
          </a:p>
        </p:txBody>
      </p:sp>
      <p:sp>
        <p:nvSpPr>
          <p:cNvPr id="61" name="Rectangle 60"/>
          <p:cNvSpPr/>
          <p:nvPr/>
        </p:nvSpPr>
        <p:spPr>
          <a:xfrm>
            <a:off x="320040" y="4206240"/>
            <a:ext cx="118872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Cora</a:t>
            </a:r>
          </a:p>
        </p:txBody>
      </p:sp>
      <p:sp>
        <p:nvSpPr>
          <p:cNvPr id="62" name="Rectangle 61"/>
          <p:cNvSpPr/>
          <p:nvPr/>
        </p:nvSpPr>
        <p:spPr>
          <a:xfrm>
            <a:off x="1508760" y="4206240"/>
            <a:ext cx="182880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homophily_shift</a:t>
            </a:r>
          </a:p>
        </p:txBody>
      </p:sp>
      <p:sp>
        <p:nvSpPr>
          <p:cNvPr id="63" name="Rectangle 62"/>
          <p:cNvSpPr/>
          <p:nvPr/>
        </p:nvSpPr>
        <p:spPr>
          <a:xfrm>
            <a:off x="3337560" y="4206240"/>
            <a:ext cx="128016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GNN</a:t>
            </a:r>
          </a:p>
        </p:txBody>
      </p:sp>
      <p:sp>
        <p:nvSpPr>
          <p:cNvPr id="64" name="Rectangle 63"/>
          <p:cNvSpPr/>
          <p:nvPr/>
        </p:nvSpPr>
        <p:spPr>
          <a:xfrm>
            <a:off x="4617720" y="420624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87.56 ± 0.92</a:t>
            </a:r>
          </a:p>
        </p:txBody>
      </p:sp>
      <p:sp>
        <p:nvSpPr>
          <p:cNvPr id="65" name="Rectangle 64"/>
          <p:cNvSpPr/>
          <p:nvPr/>
        </p:nvSpPr>
        <p:spPr>
          <a:xfrm>
            <a:off x="6537960" y="420624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78.33 ± 1.31</a:t>
            </a:r>
          </a:p>
        </p:txBody>
      </p:sp>
      <p:sp>
        <p:nvSpPr>
          <p:cNvPr id="66" name="Rectangle 65"/>
          <p:cNvSpPr/>
          <p:nvPr/>
        </p:nvSpPr>
        <p:spPr>
          <a:xfrm>
            <a:off x="8458200" y="420624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90.34 ± 0.63</a:t>
            </a:r>
          </a:p>
        </p:txBody>
      </p:sp>
      <p:sp>
        <p:nvSpPr>
          <p:cNvPr id="67" name="Rectangle 66"/>
          <p:cNvSpPr/>
          <p:nvPr/>
        </p:nvSpPr>
        <p:spPr>
          <a:xfrm>
            <a:off x="320040" y="4526280"/>
            <a:ext cx="118872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Cora</a:t>
            </a:r>
          </a:p>
        </p:txBody>
      </p:sp>
      <p:sp>
        <p:nvSpPr>
          <p:cNvPr id="68" name="Rectangle 67"/>
          <p:cNvSpPr/>
          <p:nvPr/>
        </p:nvSpPr>
        <p:spPr>
          <a:xfrm>
            <a:off x="1508760" y="4526280"/>
            <a:ext cx="182880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homophily_shift</a:t>
            </a:r>
          </a:p>
        </p:txBody>
      </p:sp>
      <p:sp>
        <p:nvSpPr>
          <p:cNvPr id="69" name="Rectangle 68"/>
          <p:cNvSpPr/>
          <p:nvPr/>
        </p:nvSpPr>
        <p:spPr>
          <a:xfrm>
            <a:off x="3337560" y="4526280"/>
            <a:ext cx="128016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EB6834"/>
                </a:solidFill>
              </a:rPr>
              <a:t>LLM</a:t>
            </a:r>
          </a:p>
        </p:txBody>
      </p:sp>
      <p:sp>
        <p:nvSpPr>
          <p:cNvPr id="70" name="Rectangle 69"/>
          <p:cNvSpPr/>
          <p:nvPr/>
        </p:nvSpPr>
        <p:spPr>
          <a:xfrm>
            <a:off x="4617720" y="452628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87.14 ± 1.24</a:t>
            </a:r>
          </a:p>
        </p:txBody>
      </p:sp>
      <p:sp>
        <p:nvSpPr>
          <p:cNvPr id="71" name="Rectangle 70"/>
          <p:cNvSpPr/>
          <p:nvPr/>
        </p:nvSpPr>
        <p:spPr>
          <a:xfrm>
            <a:off x="6537960" y="452628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77.73 ± 1.42</a:t>
            </a:r>
          </a:p>
        </p:txBody>
      </p:sp>
      <p:sp>
        <p:nvSpPr>
          <p:cNvPr id="72" name="Rectangle 71"/>
          <p:cNvSpPr/>
          <p:nvPr/>
        </p:nvSpPr>
        <p:spPr>
          <a:xfrm>
            <a:off x="8458200" y="452628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89.95 ± 0.79</a:t>
            </a:r>
          </a:p>
        </p:txBody>
      </p:sp>
      <p:sp>
        <p:nvSpPr>
          <p:cNvPr id="73" name="Rectangle 72"/>
          <p:cNvSpPr/>
          <p:nvPr/>
        </p:nvSpPr>
        <p:spPr>
          <a:xfrm>
            <a:off x="320040" y="4846320"/>
            <a:ext cx="118872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Pubmed</a:t>
            </a:r>
          </a:p>
        </p:txBody>
      </p:sp>
      <p:sp>
        <p:nvSpPr>
          <p:cNvPr id="74" name="Rectangle 73"/>
          <p:cNvSpPr/>
          <p:nvPr/>
        </p:nvSpPr>
        <p:spPr>
          <a:xfrm>
            <a:off x="1508760" y="4846320"/>
            <a:ext cx="182880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homophily_shift</a:t>
            </a:r>
          </a:p>
        </p:txBody>
      </p:sp>
      <p:sp>
        <p:nvSpPr>
          <p:cNvPr id="75" name="Rectangle 74"/>
          <p:cNvSpPr/>
          <p:nvPr/>
        </p:nvSpPr>
        <p:spPr>
          <a:xfrm>
            <a:off x="3337560" y="4846320"/>
            <a:ext cx="128016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GNN</a:t>
            </a:r>
          </a:p>
        </p:txBody>
      </p:sp>
      <p:sp>
        <p:nvSpPr>
          <p:cNvPr id="76" name="Rectangle 75"/>
          <p:cNvSpPr/>
          <p:nvPr/>
        </p:nvSpPr>
        <p:spPr>
          <a:xfrm>
            <a:off x="4617720" y="484632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89.51 ± 0.68</a:t>
            </a:r>
          </a:p>
        </p:txBody>
      </p:sp>
      <p:sp>
        <p:nvSpPr>
          <p:cNvPr id="77" name="Rectangle 76"/>
          <p:cNvSpPr/>
          <p:nvPr/>
        </p:nvSpPr>
        <p:spPr>
          <a:xfrm>
            <a:off x="6537960" y="484632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84.38 ± 0.38</a:t>
            </a:r>
          </a:p>
        </p:txBody>
      </p:sp>
      <p:sp>
        <p:nvSpPr>
          <p:cNvPr id="78" name="Rectangle 77"/>
          <p:cNvSpPr/>
          <p:nvPr/>
        </p:nvSpPr>
        <p:spPr>
          <a:xfrm>
            <a:off x="8458200" y="484632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91.73 ± 0.33</a:t>
            </a:r>
          </a:p>
        </p:txBody>
      </p:sp>
      <p:sp>
        <p:nvSpPr>
          <p:cNvPr id="79" name="Rectangle 78"/>
          <p:cNvSpPr/>
          <p:nvPr/>
        </p:nvSpPr>
        <p:spPr>
          <a:xfrm>
            <a:off x="320040" y="5166360"/>
            <a:ext cx="118872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Pubmed</a:t>
            </a:r>
          </a:p>
        </p:txBody>
      </p:sp>
      <p:sp>
        <p:nvSpPr>
          <p:cNvPr id="80" name="Rectangle 79"/>
          <p:cNvSpPr/>
          <p:nvPr/>
        </p:nvSpPr>
        <p:spPr>
          <a:xfrm>
            <a:off x="1508760" y="5166360"/>
            <a:ext cx="182880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homophily_shift</a:t>
            </a:r>
          </a:p>
        </p:txBody>
      </p:sp>
      <p:sp>
        <p:nvSpPr>
          <p:cNvPr id="81" name="Rectangle 80"/>
          <p:cNvSpPr/>
          <p:nvPr/>
        </p:nvSpPr>
        <p:spPr>
          <a:xfrm>
            <a:off x="3337560" y="5166360"/>
            <a:ext cx="128016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EB6834"/>
                </a:solidFill>
              </a:rPr>
              <a:t>LLM</a:t>
            </a:r>
          </a:p>
        </p:txBody>
      </p:sp>
      <p:sp>
        <p:nvSpPr>
          <p:cNvPr id="82" name="Rectangle 81"/>
          <p:cNvSpPr/>
          <p:nvPr/>
        </p:nvSpPr>
        <p:spPr>
          <a:xfrm>
            <a:off x="4617720" y="516636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89.48 ± 0.50</a:t>
            </a:r>
          </a:p>
        </p:txBody>
      </p:sp>
      <p:sp>
        <p:nvSpPr>
          <p:cNvPr id="83" name="Rectangle 82"/>
          <p:cNvSpPr/>
          <p:nvPr/>
        </p:nvSpPr>
        <p:spPr>
          <a:xfrm>
            <a:off x="6537960" y="516636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84.51 ± 0.30</a:t>
            </a:r>
          </a:p>
        </p:txBody>
      </p:sp>
      <p:sp>
        <p:nvSpPr>
          <p:cNvPr id="84" name="Rectangle 83"/>
          <p:cNvSpPr/>
          <p:nvPr/>
        </p:nvSpPr>
        <p:spPr>
          <a:xfrm>
            <a:off x="8458200" y="516636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91.46 ± 0.50</a:t>
            </a:r>
          </a:p>
        </p:txBody>
      </p:sp>
      <p:sp>
        <p:nvSpPr>
          <p:cNvPr id="85" name="Rectangle 84"/>
          <p:cNvSpPr/>
          <p:nvPr/>
        </p:nvSpPr>
        <p:spPr>
          <a:xfrm>
            <a:off x="320040" y="5486400"/>
            <a:ext cx="118872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WikiCS</a:t>
            </a:r>
          </a:p>
        </p:txBody>
      </p:sp>
      <p:sp>
        <p:nvSpPr>
          <p:cNvPr id="86" name="Rectangle 85"/>
          <p:cNvSpPr/>
          <p:nvPr/>
        </p:nvSpPr>
        <p:spPr>
          <a:xfrm>
            <a:off x="1508760" y="5486400"/>
            <a:ext cx="182880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homophily_shift</a:t>
            </a:r>
          </a:p>
        </p:txBody>
      </p:sp>
      <p:sp>
        <p:nvSpPr>
          <p:cNvPr id="87" name="Rectangle 86"/>
          <p:cNvSpPr/>
          <p:nvPr/>
        </p:nvSpPr>
        <p:spPr>
          <a:xfrm>
            <a:off x="3337560" y="5486400"/>
            <a:ext cx="128016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GNN</a:t>
            </a:r>
          </a:p>
        </p:txBody>
      </p:sp>
      <p:sp>
        <p:nvSpPr>
          <p:cNvPr id="88" name="Rectangle 87"/>
          <p:cNvSpPr/>
          <p:nvPr/>
        </p:nvSpPr>
        <p:spPr>
          <a:xfrm>
            <a:off x="4617720" y="548640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85.58 ± 0.78</a:t>
            </a:r>
          </a:p>
        </p:txBody>
      </p:sp>
      <p:sp>
        <p:nvSpPr>
          <p:cNvPr id="89" name="Rectangle 88"/>
          <p:cNvSpPr/>
          <p:nvPr/>
        </p:nvSpPr>
        <p:spPr>
          <a:xfrm>
            <a:off x="6537960" y="548640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80.55 ± 0.46</a:t>
            </a:r>
          </a:p>
        </p:txBody>
      </p:sp>
      <p:sp>
        <p:nvSpPr>
          <p:cNvPr id="90" name="Rectangle 89"/>
          <p:cNvSpPr/>
          <p:nvPr/>
        </p:nvSpPr>
        <p:spPr>
          <a:xfrm>
            <a:off x="8458200" y="5486400"/>
            <a:ext cx="1920240" cy="320040"/>
          </a:xfrm>
          <a:prstGeom prst="rect">
            <a:avLst/>
          </a:prstGeom>
          <a:solidFill>
            <a:srgbClr val="F9F9F7"/>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89.40 ± 0.50</a:t>
            </a:r>
          </a:p>
        </p:txBody>
      </p:sp>
      <p:sp>
        <p:nvSpPr>
          <p:cNvPr id="91" name="Rectangle 90"/>
          <p:cNvSpPr/>
          <p:nvPr/>
        </p:nvSpPr>
        <p:spPr>
          <a:xfrm>
            <a:off x="320040" y="5806440"/>
            <a:ext cx="118872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WikiCS</a:t>
            </a:r>
          </a:p>
        </p:txBody>
      </p:sp>
      <p:sp>
        <p:nvSpPr>
          <p:cNvPr id="92" name="Rectangle 91"/>
          <p:cNvSpPr/>
          <p:nvPr/>
        </p:nvSpPr>
        <p:spPr>
          <a:xfrm>
            <a:off x="1508760" y="5806440"/>
            <a:ext cx="182880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l"/>
            <a:r>
              <a:rPr sz="850" b="0">
                <a:solidFill>
                  <a:srgbClr val="0B0B0B"/>
                </a:solidFill>
              </a:rPr>
              <a:t>homophily_shift</a:t>
            </a:r>
          </a:p>
        </p:txBody>
      </p:sp>
      <p:sp>
        <p:nvSpPr>
          <p:cNvPr id="93" name="Rectangle 92"/>
          <p:cNvSpPr/>
          <p:nvPr/>
        </p:nvSpPr>
        <p:spPr>
          <a:xfrm>
            <a:off x="3337560" y="5806440"/>
            <a:ext cx="128016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EB6834"/>
                </a:solidFill>
              </a:rPr>
              <a:t>LLM</a:t>
            </a:r>
          </a:p>
        </p:txBody>
      </p:sp>
      <p:sp>
        <p:nvSpPr>
          <p:cNvPr id="94" name="Rectangle 93"/>
          <p:cNvSpPr/>
          <p:nvPr/>
        </p:nvSpPr>
        <p:spPr>
          <a:xfrm>
            <a:off x="4617720" y="580644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85.55 ± 0.63</a:t>
            </a:r>
          </a:p>
        </p:txBody>
      </p:sp>
      <p:sp>
        <p:nvSpPr>
          <p:cNvPr id="95" name="Rectangle 94"/>
          <p:cNvSpPr/>
          <p:nvPr/>
        </p:nvSpPr>
        <p:spPr>
          <a:xfrm>
            <a:off x="6537960" y="580644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80.42 ± 0.21</a:t>
            </a:r>
          </a:p>
        </p:txBody>
      </p:sp>
      <p:sp>
        <p:nvSpPr>
          <p:cNvPr id="96" name="Rectangle 95"/>
          <p:cNvSpPr/>
          <p:nvPr/>
        </p:nvSpPr>
        <p:spPr>
          <a:xfrm>
            <a:off x="8458200" y="5806440"/>
            <a:ext cx="1920240" cy="320040"/>
          </a:xfrm>
          <a:prstGeom prst="rect">
            <a:avLst/>
          </a:prstGeom>
          <a:solidFill>
            <a:srgbClr val="FCFCFB"/>
          </a:solidFill>
          <a:ln w="9525">
            <a:solidFill>
              <a:srgbClr val="E1E0D9"/>
            </a:solidFill>
          </a:ln>
        </p:spPr>
        <p:style>
          <a:lnRef idx="1">
            <a:schemeClr val="accent1"/>
          </a:lnRef>
          <a:fillRef idx="3">
            <a:schemeClr val="accent1"/>
          </a:fillRef>
          <a:effectRef idx="2">
            <a:schemeClr val="accent1"/>
          </a:effectRef>
          <a:fontRef idx="minor">
            <a:schemeClr val="lt1"/>
          </a:fontRef>
        </p:style>
        <p:txBody>
          <a:bodyPr rtlCol="0" anchor="ctr" lIns="64008" tIns="36576"/>
          <a:lstStyle/>
          <a:p>
            <a:pPr algn="ctr"/>
            <a:r>
              <a:rPr sz="850" b="0">
                <a:solidFill>
                  <a:srgbClr val="0B0B0B"/>
                </a:solidFill>
              </a:rPr>
              <a:t>89.33 ± 0.56</a:t>
            </a:r>
          </a:p>
        </p:txBody>
      </p:sp>
      <p:sp>
        <p:nvSpPr>
          <p:cNvPr id="97" name="TextBox 96"/>
          <p:cNvSpPr txBox="1"/>
          <p:nvPr/>
        </p:nvSpPr>
        <p:spPr>
          <a:xfrm>
            <a:off x="320040" y="6492240"/>
            <a:ext cx="11521440" cy="274320"/>
          </a:xfrm>
          <a:prstGeom prst="rect">
            <a:avLst/>
          </a:prstGeom>
          <a:noFill/>
        </p:spPr>
        <p:txBody>
          <a:bodyPr wrap="none">
            <a:spAutoFit/>
          </a:bodyPr>
          <a:lstStyle/>
          <a:p>
            <a:pPr algn="l"/>
            <a:r>
              <a:rPr sz="950" b="1" i="0">
                <a:solidFill>
                  <a:srgbClr val="1C5CAB"/>
                </a:solidFill>
              </a:rPr>
              <a:t>Key: accuracy gap GNN vs LLM is &lt;0.2% on every row — within noise. The real difference is purity (GNN +28% on Cora, +30% on WikiCS) and TV stability (LLM better on Arxiv).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CFC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E349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82880"/>
            <a:ext cx="10972800" cy="228600"/>
          </a:xfrm>
          <a:prstGeom prst="rect">
            <a:avLst/>
          </a:prstGeom>
          <a:noFill/>
        </p:spPr>
        <p:txBody>
          <a:bodyPr wrap="none">
            <a:spAutoFit/>
          </a:bodyPr>
          <a:lstStyle/>
          <a:p>
            <a:pPr algn="l"/>
            <a:r>
              <a:rPr sz="800" b="1" i="0">
                <a:solidFill>
                  <a:srgbClr val="898781"/>
                </a:solidFill>
              </a:rPr>
              <a:t>SYNTHESIS  ·  WHAT THE RESULTS TELL US  ·  MOTIVATION FOR KL ALIGNMENT</a:t>
            </a:r>
          </a:p>
        </p:txBody>
      </p:sp>
      <p:sp>
        <p:nvSpPr>
          <p:cNvPr id="5" name="TextBox 4"/>
          <p:cNvSpPr txBox="1"/>
          <p:nvPr/>
        </p:nvSpPr>
        <p:spPr>
          <a:xfrm>
            <a:off x="411480" y="384048"/>
            <a:ext cx="11338560" cy="566928"/>
          </a:xfrm>
          <a:prstGeom prst="rect">
            <a:avLst/>
          </a:prstGeom>
          <a:noFill/>
        </p:spPr>
        <p:txBody>
          <a:bodyPr wrap="none">
            <a:spAutoFit/>
          </a:bodyPr>
          <a:lstStyle/>
          <a:p>
            <a:pPr algn="l"/>
            <a:r>
              <a:rPr sz="2200" b="1" i="0">
                <a:solidFill>
                  <a:srgbClr val="0B0B0B"/>
                </a:solidFill>
              </a:rPr>
              <a:t>Three Findings, One Direction: Reinforce GNN Routing with LLM Stability</a:t>
            </a:r>
          </a:p>
        </p:txBody>
      </p:sp>
      <p:sp>
        <p:nvSpPr>
          <p:cNvPr id="6" name="TextBox 5"/>
          <p:cNvSpPr txBox="1"/>
          <p:nvPr/>
        </p:nvSpPr>
        <p:spPr>
          <a:xfrm>
            <a:off x="411480" y="841248"/>
            <a:ext cx="11338560" cy="411480"/>
          </a:xfrm>
          <a:prstGeom prst="rect">
            <a:avLst/>
          </a:prstGeom>
          <a:noFill/>
        </p:spPr>
        <p:txBody>
          <a:bodyPr wrap="none">
            <a:spAutoFit/>
          </a:bodyPr>
          <a:lstStyle/>
          <a:p>
            <a:pPr algn="l"/>
            <a:r>
              <a:rPr sz="1000" b="0" i="0">
                <a:solidFill>
                  <a:srgbClr val="52514E"/>
                </a:solidFill>
              </a:rPr>
              <a:t>Each finding closes a gap in the argument. Together they make the KL-alignment approach not just plausible — but evidence-driven.</a:t>
            </a:r>
          </a:p>
        </p:txBody>
      </p:sp>
      <p:sp>
        <p:nvSpPr>
          <p:cNvPr id="7" name="Rectangle 6"/>
          <p:cNvSpPr/>
          <p:nvPr/>
        </p:nvSpPr>
        <p:spPr>
          <a:xfrm>
            <a:off x="365760" y="1417320"/>
            <a:ext cx="3749039" cy="4572000"/>
          </a:xfrm>
          <a:prstGeom prst="rect">
            <a:avLst/>
          </a:prstGeom>
          <a:solidFill>
            <a:srgbClr val="E8F0FB"/>
          </a:solidFill>
          <a:ln w="25400">
            <a:solidFill>
              <a:srgbClr val="BCCEFF"/>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18872"/>
          <a:lstStyle/>
          <a:p>
            <a:pPr algn="ctr"/>
            <a:r>
              <a:rPr sz="1300" b="1">
                <a:solidFill>
                  <a:srgbClr val="1C5CAB"/>
                </a:solidFill>
              </a:rPr>
              <a:t>Finding 1 → Keep the GNN router</a:t>
            </a:r>
          </a:p>
          <a:p>
            <a:pPr>
              <a:spcBef>
                <a:spcPts val="500"/>
              </a:spcBef>
            </a:pPr>
            <a:r>
              <a:rPr sz="950">
                <a:solidFill>
                  <a:srgbClr val="52514E"/>
                </a:solidFill>
              </a:rPr>
              <a:t>GNN Layer 1 purity: Cora 0.456, Pubmed 0.468, WikiCS 0.336
LLM Layer 1 purity: Cora 0.357, Pubmed 0.434, WikiCS 0.258
The GNN's message-passing creates better expert specialisation. Replacing it with LLM routing would lose this. The GNN router stays — it just needs stabilising.</a:t>
            </a:r>
          </a:p>
        </p:txBody>
      </p:sp>
      <p:sp>
        <p:nvSpPr>
          <p:cNvPr id="8" name="Rectangle 7"/>
          <p:cNvSpPr/>
          <p:nvPr/>
        </p:nvSpPr>
        <p:spPr>
          <a:xfrm>
            <a:off x="502920" y="5102352"/>
            <a:ext cx="3474720" cy="65836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r>
              <a:rPr sz="1300" b="1">
                <a:solidFill>
                  <a:srgbClr val="FFFFFF"/>
                </a:solidFill>
              </a:rPr>
              <a:t>Don't replace GNN routing</a:t>
            </a:r>
          </a:p>
        </p:txBody>
      </p:sp>
      <p:sp>
        <p:nvSpPr>
          <p:cNvPr id="9" name="Rectangle 8"/>
          <p:cNvSpPr/>
          <p:nvPr/>
        </p:nvSpPr>
        <p:spPr>
          <a:xfrm>
            <a:off x="4343399" y="1417320"/>
            <a:ext cx="3749039" cy="4572000"/>
          </a:xfrm>
          <a:prstGeom prst="rect">
            <a:avLst/>
          </a:prstGeom>
          <a:solidFill>
            <a:srgbClr val="FFF0E8"/>
          </a:solidFill>
          <a:ln w="25400">
            <a:solidFill>
              <a:srgbClr val="F5C4A0"/>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18872"/>
          <a:lstStyle/>
          <a:p>
            <a:pPr algn="ctr"/>
            <a:r>
              <a:rPr sz="1300" b="1">
                <a:solidFill>
                  <a:srgbClr val="EB6834"/>
                </a:solidFill>
              </a:rPr>
              <a:t>Finding 2 → Use LLM as a stability anchor</a:t>
            </a:r>
          </a:p>
          <a:p>
            <a:pPr>
              <a:spcBef>
                <a:spcPts val="500"/>
              </a:spcBef>
            </a:pPr>
            <a:r>
              <a:rPr sz="950">
                <a:solidFill>
                  <a:srgbClr val="52514E"/>
                </a:solidFill>
              </a:rPr>
              <a:t>Arxiv TV shift:  GNN 0.0144  vs  LLM 0.0124  (OOD-low)
Small datasets:  both &lt; 0.002 — no difference
On the hardest dataset (Arxiv, 169K nodes, 40 classes), the LLM router is measurably more stable under structural OOD. This is the anchor we add to the GNN router via KL loss.</a:t>
            </a:r>
          </a:p>
        </p:txBody>
      </p:sp>
      <p:sp>
        <p:nvSpPr>
          <p:cNvPr id="10" name="Rectangle 9"/>
          <p:cNvSpPr/>
          <p:nvPr/>
        </p:nvSpPr>
        <p:spPr>
          <a:xfrm>
            <a:off x="4480559" y="5102352"/>
            <a:ext cx="3474720" cy="658368"/>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r>
              <a:rPr sz="1300" b="1">
                <a:solidFill>
                  <a:srgbClr val="FFFFFF"/>
                </a:solidFill>
              </a:rPr>
              <a:t>LLM resists structural drift</a:t>
            </a:r>
          </a:p>
        </p:txBody>
      </p:sp>
      <p:sp>
        <p:nvSpPr>
          <p:cNvPr id="11" name="Rectangle 10"/>
          <p:cNvSpPr/>
          <p:nvPr/>
        </p:nvSpPr>
        <p:spPr>
          <a:xfrm>
            <a:off x="8321038" y="1417320"/>
            <a:ext cx="3749039" cy="4572000"/>
          </a:xfrm>
          <a:prstGeom prst="rect">
            <a:avLst/>
          </a:prstGeom>
          <a:solidFill>
            <a:srgbClr val="F0FAF5"/>
          </a:solidFill>
          <a:ln w="25400">
            <a:solidFill>
              <a:srgbClr val="A8DFC6"/>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18872"/>
          <a:lstStyle/>
          <a:p>
            <a:pPr algn="ctr"/>
            <a:r>
              <a:rPr sz="1300" b="1">
                <a:solidFill>
                  <a:srgbClr val="0A5C41"/>
                </a:solidFill>
              </a:rPr>
              <a:t>Finding 3 → Target WikiCS with purity improvement</a:t>
            </a:r>
          </a:p>
          <a:p>
            <a:pPr>
              <a:spcBef>
                <a:spcPts val="500"/>
              </a:spcBef>
            </a:pPr>
            <a:r>
              <a:rPr sz="950">
                <a:solidFill>
                  <a:srgbClr val="52514E"/>
                </a:solidFill>
              </a:rPr>
              <a:t>WikiCS: purity 0.336, OOD-low drop −10.0%
Pubmed: purity 0.468, OOD-low drop −1.6%
The dataset with lowest expert purity has the worst OOD accuracy. KL alignment will push WikiCS routing toward higher purity — and we predict this will directly reduce its OOD accuracy gap.</a:t>
            </a:r>
          </a:p>
        </p:txBody>
      </p:sp>
      <p:sp>
        <p:nvSpPr>
          <p:cNvPr id="12" name="Rectangle 11"/>
          <p:cNvSpPr/>
          <p:nvPr/>
        </p:nvSpPr>
        <p:spPr>
          <a:xfrm>
            <a:off x="8458198" y="5102352"/>
            <a:ext cx="3474720" cy="658368"/>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tIns="137160"/>
          <a:lstStyle/>
          <a:p>
            <a:pPr algn="ctr"/>
            <a:r>
              <a:rPr sz="1300" b="1">
                <a:solidFill>
                  <a:srgbClr val="FFFFFF"/>
                </a:solidFill>
              </a:rPr>
              <a:t>Fix purity → fix OOD</a:t>
            </a:r>
          </a:p>
        </p:txBody>
      </p:sp>
      <p:sp>
        <p:nvSpPr>
          <p:cNvPr id="13" name="Rectangle 12"/>
          <p:cNvSpPr/>
          <p:nvPr/>
        </p:nvSpPr>
        <p:spPr>
          <a:xfrm>
            <a:off x="365760" y="5961888"/>
            <a:ext cx="11430000" cy="749808"/>
          </a:xfrm>
          <a:prstGeom prst="rect">
            <a:avLst/>
          </a:prstGeom>
          <a:solidFill>
            <a:srgbClr val="0B1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6144768"/>
            <a:ext cx="11064240" cy="384048"/>
          </a:xfrm>
          <a:prstGeom prst="rect">
            <a:avLst/>
          </a:prstGeom>
          <a:noFill/>
        </p:spPr>
        <p:txBody>
          <a:bodyPr wrap="none">
            <a:spAutoFit/>
          </a:bodyPr>
          <a:lstStyle/>
          <a:p>
            <a:pPr algn="ctr"/>
            <a:r>
              <a:rPr sz="1200" b="1" i="0">
                <a:solidFill>
                  <a:srgbClr val="FFFFFF"/>
                </a:solidFill>
              </a:rPr>
              <a:t>Proposed fix:    L_total = L_task  +  λ_route · KL(w_gnn ‖ w_llm)    →    GNN router stays, gains LLM's stability, improves expert purity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