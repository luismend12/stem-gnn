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0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88952" cy="2286000"/>
          </a:xfrm>
          <a:prstGeom prst="rect">
            <a:avLst/>
          </a:prstGeom>
          <a:solidFill>
            <a:srgbClr val="2D1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1460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LLM-Guided Semantic Trust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429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D6BCFA"/>
                </a:solidFill>
              </a:rPr>
              <a:t>Adaptive Neighbourhood Aggregation for Robust Text-Attributed GNNs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18096"/>
                </a:solidFill>
              </a:rPr>
              <a:t>Complement to STEM-GNN (KDD'26)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029200"/>
            <a:ext cx="2743200" cy="438912"/>
          </a:xfrm>
          <a:prstGeom prst="rect">
            <a:avLst/>
          </a:prstGeom>
          <a:solidFill>
            <a:srgbClr val="E8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Injection Robustness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029200"/>
            <a:ext cx="2743200" cy="438912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5029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Heterophily Generalization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5029200"/>
            <a:ext cx="2743200" cy="438912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502920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LLM Semantic Signals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Why do GNNs fail under distribution shift?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5394960" cy="4389120"/>
          </a:xfrm>
          <a:prstGeom prst="rect">
            <a:avLst/>
          </a:prstGeom>
          <a:solidFill>
            <a:srgbClr val="FFEBEB"/>
          </a:solidFill>
          <a:ln w="19050">
            <a:solidFill>
              <a:srgbClr val="E86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5394960" cy="502920"/>
          </a:xfrm>
          <a:prstGeom prst="rect">
            <a:avLst/>
          </a:prstGeom>
          <a:solidFill>
            <a:srgbClr val="E8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① Confusing-Edge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</a:rPr>
              <a:t>Text-similar but wrong-class neighbours
are injected into the graph.
GNNs blindly aggregate them → corrupted
node representations → accuracy drops.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4389120"/>
          </a:xfrm>
          <a:prstGeom prst="rect">
            <a:avLst/>
          </a:prstGeom>
          <a:solidFill>
            <a:srgbClr val="FAF5FF"/>
          </a:solidFill>
          <a:ln w="19050">
            <a:solidFill>
              <a:srgbClr val="553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94960" cy="50292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258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② Structural Heterophily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02C"/>
                </a:solidFill>
              </a:rPr>
              <a:t>Many real graphs connect nodes of
different classes (h &lt; 0.5).
Standard equal-weight aggregation
blurs class boundaries → poor accuracy.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89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53C9A"/>
                </a:solidFill>
              </a:rPr>
              <a:t>Core Question: When should a node trust its neighbours vs. its own text?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Prior Work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6 methods — none handles both challenges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188720"/>
            <a:ext cx="11795760" cy="411480"/>
          </a:xfrm>
          <a:prstGeom prst="rect">
            <a:avLst/>
          </a:prstGeom>
          <a:solidFill>
            <a:srgbClr val="EDED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188720"/>
            <a:ext cx="1691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02C"/>
                </a:solidFill>
              </a:rPr>
              <a:t>Method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18872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02C"/>
                </a:solidFill>
              </a:rPr>
              <a:t>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188720"/>
            <a:ext cx="4800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02C"/>
                </a:solidFill>
              </a:rPr>
              <a:t>Key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1887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02C"/>
                </a:solidFill>
              </a:rPr>
              <a:t>LLM
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188720"/>
            <a:ext cx="1051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02C"/>
                </a:solidFill>
              </a:rPr>
              <a:t>Injection
Robust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11887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02C"/>
                </a:solidFill>
              </a:rPr>
              <a:t>Hetero-
phily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600200"/>
            <a:ext cx="11795760" cy="57607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8600" y="1655064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GraphSAGE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1655064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NeurIPS'17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1655064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Uniform aggregation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1655064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1655064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165506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" y="2212848"/>
            <a:ext cx="117957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8600" y="226771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GNNGuard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2267712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NeurIPS'20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226771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Edge pruning by cosine sim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26771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2267712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226771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" y="2825496"/>
            <a:ext cx="11795760" cy="57607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2880360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H2GCN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65960" y="2880360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NeurIPS'20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2880360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Ego/neighbour separation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2880360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2880360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2880360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" y="3438144"/>
            <a:ext cx="117957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3493008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GPR-GNN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3493008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ICLR'21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63240" y="3493008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Learnable propagation coefficients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55279" y="3493008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493008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3493008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4050791"/>
            <a:ext cx="11795760" cy="576072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8600" y="4105655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TAPE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65960" y="4105655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ICLR'24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63240" y="4105655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LLM text features as node embeddings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4105655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4105655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4105655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2880" y="4663440"/>
            <a:ext cx="11795760" cy="5760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28600" y="4718304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STEM-GNN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65960" y="4718304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KDD'26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63240" y="4718304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02C"/>
                </a:solidFill>
              </a:rPr>
              <a:t>MoE router + VQ codebook (post-VQ)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718304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0" y="4718304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4718304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C2626"/>
                </a:solidFill>
              </a:rPr>
              <a:t>✗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5276088"/>
            <a:ext cx="11795760" cy="57607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82880" y="5276088"/>
            <a:ext cx="54864" cy="576072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5330952"/>
            <a:ext cx="1691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3C9A"/>
                </a:solidFill>
              </a:rPr>
              <a:t>Ours (Trust Gate)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65960" y="5330952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3C9A"/>
                </a:solidFill>
              </a:rPr>
              <a:t>—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063240" y="5330952"/>
            <a:ext cx="4800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3C9A"/>
                </a:solidFill>
              </a:rPr>
              <a:t>Semantic gate on pre-VQ embeddings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955279" y="5330952"/>
            <a:ext cx="1005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0" y="5330952"/>
            <a:ext cx="1051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5330952"/>
            <a:ext cx="1097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8600" y="60807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18096"/>
                </a:solidFill>
              </a:rPr>
              <a:t>No prior method simultaneously handles all three properties.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Our Method: Semantic Trust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β_v gates how much each node trusts its neighbours</a:t>
            </a:r>
          </a:p>
        </p:txBody>
      </p:sp>
      <p:pic>
        <p:nvPicPr>
          <p:cNvPr id="5" name="Picture 4" descr="arch_backb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11612880" cy="53113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852160"/>
            <a:ext cx="11612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3C9A"/>
                </a:solidFill>
              </a:rPr>
              <a:t>Key design: backbone (GCN/SAGE) encodes graph structure while frozen LLM embeddings act as a semantic oracle — generating β_v without entering the training signal.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Four Gate Signal Variants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What signal f drives β_v?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234440"/>
            <a:ext cx="27432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4C9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234440"/>
            <a:ext cx="2743200" cy="475488"/>
          </a:xfrm>
          <a:prstGeom prst="rect">
            <a:avLst/>
          </a:prstGeom>
          <a:solidFill>
            <a:srgbClr val="4C9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" y="1261872"/>
            <a:ext cx="2596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  —  Cosine Similarity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cos( h_v ,  mean h_u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514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Compares aggregated GNN hidden states.
Proxy for structural compatibility.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8688" y="1234440"/>
            <a:ext cx="27432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E86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1234440"/>
            <a:ext cx="2743200" cy="475488"/>
          </a:xfrm>
          <a:prstGeom prst="rect">
            <a:avLst/>
          </a:prstGeom>
          <a:solidFill>
            <a:srgbClr val="E86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261872"/>
            <a:ext cx="2596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  —  Model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1 − max softmax( logits_u 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514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High neighbour uncertainty → distrust.
Most robust to injection (−3.6 pp drop).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08776" y="1234440"/>
            <a:ext cx="27432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7C4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234440"/>
            <a:ext cx="2743200" cy="475488"/>
          </a:xfrm>
          <a:prstGeom prst="rect">
            <a:avLst/>
          </a:prstGeom>
          <a:solidFill>
            <a:srgbClr val="7C4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1261872"/>
            <a:ext cx="2596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  —  Learned MLP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0216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MLP( e_v ‖ mean e_u 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514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End-to-end learned gate.
Best on heterophily (81.1% Texas).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98864" y="1234440"/>
            <a:ext cx="2743200" cy="5257800"/>
          </a:xfrm>
          <a:prstGeom prst="rect">
            <a:avLst/>
          </a:prstGeom>
          <a:solidFill>
            <a:srgbClr val="FFFFFF"/>
          </a:solidFill>
          <a:ln w="22860">
            <a:solidFill>
              <a:srgbClr val="4C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98864" y="1234440"/>
            <a:ext cx="2743200" cy="475488"/>
          </a:xfrm>
          <a:prstGeom prst="rect">
            <a:avLst/>
          </a:prstGeom>
          <a:solidFill>
            <a:srgbClr val="4CC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72016" y="1261872"/>
            <a:ext cx="2596896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  —  LLM Text Cosine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1874519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cos( e_v ,  mean e_u 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514600"/>
            <a:ext cx="2560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Raw LLM embedding similarity.
Collapes to A under injection.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" y="6035040"/>
            <a:ext cx="11704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202C"/>
                </a:solidFill>
              </a:rPr>
              <a:t>All gates share the same aggregation rule:   h_v = β_v · W_self(e_v)  +  (1−β_v) · W_neigh(mean e_u)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 1 — Injection Robustness (Cora + PubMed)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Gate B most robust on both datasets: −3.6 pp (Cora), −2.6 pp (PubMed)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686800" cy="403584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98280" y="1143000"/>
            <a:ext cx="2880360" cy="5394960"/>
          </a:xfrm>
          <a:prstGeom prst="rect">
            <a:avLst/>
          </a:prstGeom>
          <a:solidFill>
            <a:srgbClr val="FFF8F3"/>
          </a:solidFill>
          <a:ln w="15240">
            <a:solidFill>
              <a:srgbClr val="9C42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23444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4221"/>
                </a:solidFill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78308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B (confidence) most robust on both Cora (−3.6) and PubMed (−2.6 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78892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C (learned MLP) also stable: −5.9 pp Cora, −1.1 pp PubMed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379476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Cosine gates (A, D): −8.4 pp — no robustness benefit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4800600"/>
            <a:ext cx="2697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Pattern consistent across two independent datasets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 2 — Heterophily Generalization (3 Datasets)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B &amp; C improve over baseline on ALL three datasets; cosine gates consistently hurt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43000"/>
            <a:ext cx="8229600" cy="435866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1143000"/>
            <a:ext cx="3291840" cy="5394960"/>
          </a:xfrm>
          <a:prstGeom prst="rect">
            <a:avLst/>
          </a:prstGeom>
          <a:solidFill>
            <a:srgbClr val="F0FFF4"/>
          </a:solidFill>
          <a:ln w="1524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0" y="1234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749"/>
                </a:solidFill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0" y="1783080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Texas:     B &amp; C → 81.1%  (+4.5 pp)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679191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Wisconsin: B &amp; C → 86.9%  (+5.9 pp)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3575304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Cornell:   B     → 76.6%  (+4.5 pp)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4471416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Cosine gates (A, D) hurt on ALL three — drop 15–20 pp below 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5367528"/>
            <a:ext cx="31089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Confidence signal reliable regardless of graph structure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 3 — Backbone Comparison: GCN vs GraphSAGE + LLM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LLM gate rescues GCN from −21.8 pp collapse; confidence gate matches SAGE on heterophily</a:t>
            </a:r>
          </a:p>
        </p:txBody>
      </p:sp>
      <p:pic>
        <p:nvPicPr>
          <p:cNvPr id="5" name="Picture 4" descr="backbo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686800" cy="335665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098280" y="1097280"/>
            <a:ext cx="2880360" cy="5486400"/>
          </a:xfrm>
          <a:prstGeom prst="rect">
            <a:avLst/>
          </a:prstGeom>
          <a:solidFill>
            <a:srgbClr val="EBF4FF"/>
          </a:solidFill>
          <a:ln w="1524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1188720"/>
            <a:ext cx="2697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</a:rPr>
              <a:t>Key Takeaways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89720" y="17373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GCN alone: −21.8 pp drop at 50% injection (catastrophic)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51460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GCN + LLM gate: only −5.2 pp — gate absorbs the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329183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GCN alone weak on heterophily (44–55%)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4069079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GCN + LLM gate recovers to 65–71%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484632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GCN + confidence gate matches or beats SAGE 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5623560"/>
            <a:ext cx="2697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02C"/>
                </a:solidFill>
              </a:rPr>
              <a:t>• LLM oracle signal generalises across backbone architectures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Summary — Contribution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6BCFA"/>
                </a:solidFill>
              </a:rPr>
              <a:t>Research gap filled + empirical evidence</a:t>
            </a:r>
          </a:p>
        </p:txBody>
      </p:sp>
      <p:pic>
        <p:nvPicPr>
          <p:cNvPr id="5" name="Picture 4" descr="contribu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97280"/>
            <a:ext cx="11887200" cy="29837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9C42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Research Direction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88720"/>
            <a:ext cx="3703320" cy="5029200"/>
          </a:xfrm>
          <a:prstGeom prst="rect">
            <a:avLst/>
          </a:prstGeom>
          <a:solidFill>
            <a:srgbClr val="EBF4FF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" y="1188720"/>
            <a:ext cx="3703320" cy="457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225296"/>
            <a:ext cx="3547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Short term — Strengthen experiments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" y="1810512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Run PubMed + WikiCS injection sweeps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560320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Wisconsin &amp; Cornell heterophily benchmarks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" y="3310128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Add GNNGuard as an active baseline in our injection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4059935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Report mean ± std over 5 seeds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703320" cy="5029200"/>
          </a:xfrm>
          <a:prstGeom prst="rect">
            <a:avLst/>
          </a:prstGeom>
          <a:solidFill>
            <a:srgbClr val="FAF5FF"/>
          </a:solidFill>
          <a:ln w="19050">
            <a:solidFill>
              <a:srgbClr val="553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188720"/>
            <a:ext cx="3703320" cy="457200"/>
          </a:xfrm>
          <a:prstGeom prst="rect">
            <a:avLst/>
          </a:prstGeom>
          <a:solidFill>
            <a:srgbClr val="553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225296"/>
            <a:ext cx="3547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Medium term — Improve the gate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810512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LLM label-support query: ask LLM if u's text supports v's 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Multi-hop gates: consider 2-hop neighbourhood trust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3310128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Plug into full STEM-GNN pretrain → finetune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059935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Joint training of gate + VQ codebook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03320" cy="5029200"/>
          </a:xfrm>
          <a:prstGeom prst="rect">
            <a:avLst/>
          </a:prstGeom>
          <a:solidFill>
            <a:srgbClr val="F0FFF4"/>
          </a:solidFill>
          <a:ln w="19050">
            <a:solidFill>
              <a:srgbClr val="276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3703320" cy="457200"/>
          </a:xfrm>
          <a:prstGeom prst="rect">
            <a:avLst/>
          </a:prstGeom>
          <a:solidFill>
            <a:srgbClr val="276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225296"/>
            <a:ext cx="35478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Long term — Research paper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8" y="1810512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Tri-objective evaluation: ID acc / OOD robustness / transfer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9328" y="2560320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Theoretical analysis: gate as Lipschitz regulariser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310128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Generalise to link prediction &amp; graph classification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4059935"/>
            <a:ext cx="351129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02C"/>
                </a:solidFill>
              </a:rPr>
              <a:t>• Submit to NeurIPS'25 / ICLR'26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5760720"/>
            <a:ext cx="11795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53C9A"/>
                </a:solidFill>
              </a:rPr>
              <a:t>Core claim: A semantic gate on pre-VQ LLM embeddings is a lightweight, drop-in complement to STEM-GNN that addresses both injection robustness and structural heterophily — filling a gap no existing method covers.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