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2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Pubmed OOD-low (%)</c:v>
                </c:pt>
              </c:strCache>
            </c:strRef>
          </c:tx>
          <c:spPr>
            <a:solidFill>
              <a:srgbClr val="2A78D6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Plain GNN</c:v>
                </c:pt>
                <c:pt idx="1">
                  <c:v>GNN + VQ</c:v>
                </c:pt>
                <c:pt idx="2">
                  <c:v>GNN+VQ+MoE+λ
(no pretrain)</c:v>
                </c:pt>
                <c:pt idx="3">
                  <c:v>STEM-GNN
+MoE+λ (ours)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88.79</c:v>
                </c:pt>
                <c:pt idx="1">
                  <c:v>88.74</c:v>
                </c:pt>
                <c:pt idx="2">
                  <c:v>88.04</c:v>
                </c:pt>
                <c:pt idx="3">
                  <c:v>88.0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WikiCS OOD-low (%)</c:v>
                </c:pt>
              </c:strCache>
            </c:strRef>
          </c:tx>
          <c:spPr>
            <a:solidFill>
              <a:srgbClr val="1BAF7A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Plain GNN</c:v>
                </c:pt>
                <c:pt idx="1">
                  <c:v>GNN + VQ</c:v>
                </c:pt>
                <c:pt idx="2">
                  <c:v>GNN+VQ+MoE+λ
(no pretrain)</c:v>
                </c:pt>
                <c:pt idx="3">
                  <c:v>STEM-GNN
+MoE+λ (ours)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76.48</c:v>
                </c:pt>
                <c:pt idx="1">
                  <c:v>61.12</c:v>
                </c:pt>
                <c:pt idx="2">
                  <c:v>73.97</c:v>
                </c:pt>
                <c:pt idx="3">
                  <c:v>73.13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52514E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2.0"/>
          <c:min val="55.0"/>
        </c:scaling>
        <c:delete val="0"/>
        <c:axPos val="l"/>
        <c:majorGridlines>
          <c:spPr>
            <a:ln>
              <a:solidFill>
                <a:srgbClr val="E1E0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898781"/>
                </a:solidFill>
              </a:defRPr>
            </a:pPr>
          </a:p>
        </c:txPr>
        <c:crossAx val="-2068027336"/>
        <c:crosses val="autoZero"/>
      </c:valAx>
    </c:plotArea>
    <c:legend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86B6EF"/>
                </a:solidFill>
              </a:rPr>
              <a:t>PROPOSED METHOD  ·  LLM-REINFORCED MoE  ·  OOD-ROBUST GRAPH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7498079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LLM-Reinforced Routing:
Using Text Semantics to Stabilize
Expert Assignment Under Distribution Shift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7498079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86B6EF"/>
                </a:solidFill>
              </a:rPr>
              <a:t>When graph structure shifts (OOD), GNN-based routing becomes unreliable — experts receive semantically inconsistent nodes. We use frozen LLM embeddings as a semantic anchor: a KL-divergence alignment loss trains the GNN router to stay close to LLM routing, reinforcing robustness without ever replacing the GNN.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657600"/>
            <a:ext cx="2423160" cy="804672"/>
          </a:xfrm>
          <a:prstGeom prst="rect">
            <a:avLst/>
          </a:prstGeom>
          <a:solidFill>
            <a:srgbClr val="0D2040"/>
          </a:solidFill>
          <a:ln w="19050">
            <a:solidFill>
              <a:srgbClr val="2A7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300" b="1">
                <a:solidFill>
                  <a:srgbClr val="2A78D6"/>
                </a:solidFill>
              </a:rPr>
              <a:t>Detect</a:t>
            </a:r>
          </a:p>
          <a:p>
            <a:r>
              <a:rPr sz="900">
                <a:solidFill>
                  <a:srgbClr val="86B6EF"/>
                </a:solidFill>
              </a:rPr>
              <a:t>TV(w_llm, w_gnn) reveals which experts are routing unreliably under OOD</a:t>
            </a:r>
          </a:p>
        </p:txBody>
      </p:sp>
      <p:sp>
        <p:nvSpPr>
          <p:cNvPr id="8" name="Rectangle 7"/>
          <p:cNvSpPr/>
          <p:nvPr/>
        </p:nvSpPr>
        <p:spPr>
          <a:xfrm>
            <a:off x="3108960" y="3657600"/>
            <a:ext cx="2423160" cy="804672"/>
          </a:xfrm>
          <a:prstGeom prst="rect">
            <a:avLst/>
          </a:prstGeom>
          <a:solidFill>
            <a:srgbClr val="0D2040"/>
          </a:solidFill>
          <a:ln w="19050">
            <a:solidFill>
              <a:srgbClr val="1BA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300" b="1">
                <a:solidFill>
                  <a:srgbClr val="1BAF7A"/>
                </a:solidFill>
              </a:rPr>
              <a:t>Reinforce</a:t>
            </a:r>
          </a:p>
          <a:p>
            <a:r>
              <a:rPr sz="900">
                <a:solidFill>
                  <a:srgbClr val="86B6EF"/>
                </a:solidFill>
              </a:rPr>
              <a:t>KL loss anchors GNN router to text-semantic routing during training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0" y="3657600"/>
            <a:ext cx="2423160" cy="804672"/>
          </a:xfrm>
          <a:prstGeom prst="rect">
            <a:avLst/>
          </a:prstGeom>
          <a:solidFill>
            <a:srgbClr val="0D2040"/>
          </a:solidFill>
          <a:ln w="19050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300" b="1">
                <a:solidFill>
                  <a:srgbClr val="EB6834"/>
                </a:solidFill>
              </a:rPr>
              <a:t>Robust</a:t>
            </a:r>
          </a:p>
          <a:p>
            <a:r>
              <a:rPr sz="900">
                <a:solidFill>
                  <a:srgbClr val="86B6EF"/>
                </a:solidFill>
              </a:rPr>
              <a:t>Experts receive semantically consistent nodes even when structure shifts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03920" y="502920"/>
            <a:ext cx="3474720" cy="6126480"/>
          </a:xfrm>
          <a:prstGeom prst="rect">
            <a:avLst/>
          </a:prstGeom>
          <a:solidFill>
            <a:srgbClr val="06101E"/>
          </a:solidFill>
          <a:ln w="9525">
            <a:solidFill>
              <a:srgbClr val="1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0" y="713232"/>
            <a:ext cx="3108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 i="0">
                <a:solidFill>
                  <a:srgbClr val="86B6EF"/>
                </a:solidFill>
              </a:rPr>
              <a:t>DEGREE SHIFT — OOD-LOW ACCURACY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95560" y="1005840"/>
            <a:ext cx="868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0">
                <a:solidFill>
                  <a:srgbClr val="898781"/>
                </a:solidFill>
              </a:rPr>
              <a:t>Pubmed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1005840"/>
            <a:ext cx="868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0">
                <a:solidFill>
                  <a:srgbClr val="898781"/>
                </a:solidFill>
              </a:rPr>
              <a:t>WikiCS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1234440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86B6EF"/>
                </a:solidFill>
              </a:rPr>
              <a:t>Plain GNN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95560" y="1234440"/>
            <a:ext cx="868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86B6EF"/>
                </a:solidFill>
              </a:rPr>
              <a:t>88.79%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1234440"/>
            <a:ext cx="868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86B6EF"/>
                </a:solidFill>
              </a:rPr>
              <a:t>76.48%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1581912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86B6EF"/>
                </a:solidFill>
              </a:rPr>
              <a:t>+ VQ Codebook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95560" y="1581912"/>
            <a:ext cx="868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86B6EF"/>
                </a:solidFill>
              </a:rPr>
              <a:t>88.74%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1581912"/>
            <a:ext cx="868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86B6EF"/>
                </a:solidFill>
              </a:rPr>
              <a:t>61.12%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1929384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1BAF7A"/>
                </a:solidFill>
              </a:rPr>
              <a:t>+ MoE + λ (ours)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95560" y="1929384"/>
            <a:ext cx="868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1BAF7A"/>
                </a:solidFill>
              </a:rPr>
              <a:t>88.00%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1929384"/>
            <a:ext cx="868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1BAF7A"/>
                </a:solidFill>
              </a:rPr>
              <a:t>73.13%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2276856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EB6834"/>
                </a:solidFill>
              </a:rPr>
              <a:t>+ LLM Reinforce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95560" y="2276856"/>
            <a:ext cx="868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EB6834"/>
                </a:solidFill>
              </a:rPr>
              <a:t>TBD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2276856"/>
            <a:ext cx="868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EB6834"/>
                </a:solidFill>
              </a:rPr>
              <a:t>TBD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4754880"/>
            <a:ext cx="3108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898781"/>
                </a:solidFill>
              </a:rPr>
              <a:t>Datasets: Pubmed (19K nodes), WikiCS (12K nodes)
Benchmark: degree_shift OOD · 10 runs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CF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34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898781"/>
                </a:solidFill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 i="0">
                <a:solidFill>
                  <a:srgbClr val="0B0B0B"/>
                </a:solidFill>
              </a:rPr>
              <a:t>Three Compounding Failures Under Structural OOD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41248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52514E"/>
                </a:solidFill>
              </a:rPr>
              <a:t>Graph structure shifts (degree / homophily) expose layered failure modes — each must be addressed for robust GNN performance.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3749039" cy="4663440"/>
          </a:xfrm>
          <a:prstGeom prst="rect">
            <a:avLst/>
          </a:prstGeom>
          <a:solidFill>
            <a:srgbClr val="FFF5F5"/>
          </a:solidFill>
          <a:ln w="19050">
            <a:solidFill>
              <a:srgbClr val="FC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9728"/>
          <a:lstStyle/>
          <a:p>
            <a:pPr algn="ctr"/>
            <a:r>
              <a:rPr sz="1200" b="1">
                <a:solidFill>
                  <a:srgbClr val="E34948"/>
                </a:solidFill>
              </a:rPr>
              <a:t>① Structural OOD Degrades GNNs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52514E"/>
                </a:solidFill>
              </a:rPr>
              <a:t>GNNs aggregate neighbor features. A node with 2 neighbors gets a very different representation than the same node with 20 neighbors — even if text is identical. Low-degree and atypical-homophily nodes are systematically disadvantaged.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493776" y="5212080"/>
            <a:ext cx="3493008" cy="731520"/>
          </a:xfrm>
          <a:prstGeom prst="rect">
            <a:avLst/>
          </a:prstGeom>
          <a:solidFill>
            <a:srgbClr val="E34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WikiCS OOD-low
−10.4% vs ID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399" y="1463040"/>
            <a:ext cx="3749039" cy="4663440"/>
          </a:xfrm>
          <a:prstGeom prst="rect">
            <a:avLst/>
          </a:prstGeom>
          <a:solidFill>
            <a:srgbClr val="FFF8E6"/>
          </a:solidFill>
          <a:ln w="19050">
            <a:solidFill>
              <a:srgbClr val="F9D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9728"/>
          <a:lstStyle/>
          <a:p>
            <a:pPr algn="ctr"/>
            <a:r>
              <a:rPr sz="1200" b="1">
                <a:solidFill>
                  <a:srgbClr val="EDA100"/>
                </a:solidFill>
              </a:rPr>
              <a:t>② Expert Collapse Destroys Specialization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52514E"/>
                </a:solidFill>
              </a:rPr>
              <a:t>Without regularization, all nodes route to one expert (max_usage ≈ 1.000). The MoE degenerates to a single GNN — zero diversity. λ_env = 0.1 entropy regularization fixes collapse but doesn't fix OOD routing quality.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71415" y="5212080"/>
            <a:ext cx="3493008" cy="731520"/>
          </a:xfrm>
          <a:prstGeom prst="rect">
            <a:avLst/>
          </a:prstGeom>
          <a:solidFill>
            <a:srgbClr val="ED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max_usage:
1.000 → 0.62±0.16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21038" y="1463040"/>
            <a:ext cx="3749039" cy="4663440"/>
          </a:xfrm>
          <a:prstGeom prst="rect">
            <a:avLst/>
          </a:prstGeom>
          <a:solidFill>
            <a:srgbClr val="FFF0E8"/>
          </a:solidFill>
          <a:ln w="19050">
            <a:solidFill>
              <a:srgbClr val="F5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9728"/>
          <a:lstStyle/>
          <a:p>
            <a:pPr algn="ctr"/>
            <a:r>
              <a:rPr sz="1200" b="1">
                <a:solidFill>
                  <a:srgbClr val="EB6834"/>
                </a:solidFill>
              </a:rPr>
              <a:t>③ Unstable Expert Routing Under OOD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52514E"/>
                </a:solidFill>
              </a:rPr>
              <a:t>Even after collapse is fixed, OOD nodes receive routing decisions driven by distorted GNN hidden states. The router has never seen these structural patterns. Experts receive semantically inconsistent nodes — degrading their specialization.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49054" y="5212080"/>
            <a:ext cx="3493008" cy="731520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TV shift ID→OOD
up to 0.028 per layer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CF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898781"/>
                </a:solidFill>
              </a:rPr>
              <a:t>ARCHITECTURE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47472"/>
            <a:ext cx="11430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 i="0">
                <a:solidFill>
                  <a:srgbClr val="0B0B0B"/>
                </a:solidFill>
              </a:rPr>
              <a:t>Baseline MoE vs Proposed: LLM-Reinforced Routing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5212080" cy="5577840"/>
          </a:xfrm>
          <a:prstGeom prst="rect">
            <a:avLst/>
          </a:prstGeom>
          <a:solidFill>
            <a:srgbClr val="F5F5F3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78992"/>
            <a:ext cx="4846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1" i="0">
                <a:solidFill>
                  <a:srgbClr val="898781"/>
                </a:solidFill>
              </a:rPr>
              <a:t>BASELINE MoE  (single GNN router)</a:t>
            </a:r>
          </a:p>
        </p:txBody>
      </p:sp>
      <p:sp>
        <p:nvSpPr>
          <p:cNvPr id="8" name="Rectangle 7"/>
          <p:cNvSpPr/>
          <p:nvPr/>
        </p:nvSpPr>
        <p:spPr>
          <a:xfrm>
            <a:off x="1325880" y="1444752"/>
            <a:ext cx="2926080" cy="475488"/>
          </a:xfrm>
          <a:prstGeom prst="rect">
            <a:avLst/>
          </a:prstGeom>
          <a:solidFill>
            <a:srgbClr val="E8F0FB"/>
          </a:solidFill>
          <a:ln w="19050">
            <a:solidFill>
              <a:srgbClr val="BCC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/>
            <a:r>
              <a:rPr sz="1000" b="1">
                <a:solidFill>
                  <a:srgbClr val="1C5CAB"/>
                </a:solidFill>
              </a:rPr>
              <a:t>Node Text (paper abstract)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938528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 i="0">
                <a:solidFill>
                  <a:srgbClr val="C3C2B7"/>
                </a:solidFill>
              </a:rPr>
              <a:t>↓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25880" y="2157984"/>
            <a:ext cx="2926080" cy="475488"/>
          </a:xfrm>
          <a:prstGeom prst="rect">
            <a:avLst/>
          </a:prstGeom>
          <a:solidFill>
            <a:srgbClr val="E8F0FB"/>
          </a:solidFill>
          <a:ln w="19050">
            <a:solidFill>
              <a:srgbClr val="BCC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/>
            <a:r>
              <a:rPr sz="1000" b="1">
                <a:solidFill>
                  <a:srgbClr val="1C5CAB"/>
                </a:solidFill>
              </a:rPr>
              <a:t>LLM Encoder  (offline, frozen)</a:t>
            </a:r>
          </a:p>
          <a:p>
            <a:pPr algn="ctr"/>
            <a:r>
              <a:rPr sz="1000" b="1">
                <a:solidFill>
                  <a:srgbClr val="1C5CAB"/>
                </a:solidFill>
              </a:rPr>
              <a:t>768-dim embedding  x_orig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65176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 i="0">
                <a:solidFill>
                  <a:srgbClr val="C3C2B7"/>
                </a:solidFill>
              </a:rPr>
              <a:t>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25880" y="2871216"/>
            <a:ext cx="2926080" cy="475488"/>
          </a:xfrm>
          <a:prstGeom prst="rect">
            <a:avLst/>
          </a:prstGeom>
          <a:solidFill>
            <a:srgbClr val="F0FAF5"/>
          </a:solidFill>
          <a:ln w="19050">
            <a:solidFill>
              <a:srgbClr val="A8D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/>
            <a:r>
              <a:rPr sz="1000" b="1">
                <a:solidFill>
                  <a:srgbClr val="0A5C41"/>
                </a:solidFill>
              </a:rPr>
              <a:t>GNN Encoder  (SAGEConv layers)</a:t>
            </a:r>
          </a:p>
          <a:p>
            <a:pPr algn="ctr"/>
            <a:r>
              <a:rPr sz="1000" b="1">
                <a:solidFill>
                  <a:srgbClr val="0A5C41"/>
                </a:solidFill>
              </a:rPr>
              <a:t>hidden state  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364992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 i="0">
                <a:solidFill>
                  <a:srgbClr val="C3C2B7"/>
                </a:solidFill>
              </a:rPr>
              <a:t>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25880" y="3584448"/>
            <a:ext cx="2926080" cy="475488"/>
          </a:xfrm>
          <a:prstGeom prst="rect">
            <a:avLst/>
          </a:prstGeom>
          <a:solidFill>
            <a:srgbClr val="FFF8E6"/>
          </a:solidFill>
          <a:ln w="19050">
            <a:solidFill>
              <a:srgbClr val="F9D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/>
            <a:r>
              <a:rPr sz="1000" b="1">
                <a:solidFill>
                  <a:srgbClr val="7A5400"/>
                </a:solidFill>
              </a:rPr>
              <a:t>Single Router   W·z → softmax</a:t>
            </a:r>
          </a:p>
          <a:p>
            <a:pPr algn="ctr"/>
            <a:r>
              <a:rPr sz="1000" b="1">
                <a:solidFill>
                  <a:srgbClr val="7A5400"/>
                </a:solidFill>
              </a:rPr>
              <a:t>w_gnn = [w₁  w₂  w₃]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078224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 i="0">
                <a:solidFill>
                  <a:srgbClr val="C3C2B7"/>
                </a:solidFill>
              </a:rPr>
              <a:t>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25880" y="4297680"/>
            <a:ext cx="804672" cy="402336"/>
          </a:xfrm>
          <a:prstGeom prst="rect">
            <a:avLst/>
          </a:prstGeom>
          <a:solidFill>
            <a:srgbClr val="F5F0FF"/>
          </a:solidFill>
          <a:ln w="19050">
            <a:solidFill>
              <a:srgbClr val="D3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/>
            <a:r>
              <a:rPr sz="1100" b="1">
                <a:solidFill>
                  <a:srgbClr val="4A3AA7"/>
                </a:solidFill>
              </a:rPr>
              <a:t>E1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95144" y="4297680"/>
            <a:ext cx="804672" cy="402336"/>
          </a:xfrm>
          <a:prstGeom prst="rect">
            <a:avLst/>
          </a:prstGeom>
          <a:solidFill>
            <a:srgbClr val="F5F0FF"/>
          </a:solidFill>
          <a:ln w="19050">
            <a:solidFill>
              <a:srgbClr val="D3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/>
            <a:r>
              <a:rPr sz="1100" b="1">
                <a:solidFill>
                  <a:srgbClr val="4A3AA7"/>
                </a:solidFill>
              </a:rPr>
              <a:t>E2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64408" y="4297680"/>
            <a:ext cx="804672" cy="402336"/>
          </a:xfrm>
          <a:prstGeom prst="rect">
            <a:avLst/>
          </a:prstGeom>
          <a:solidFill>
            <a:srgbClr val="F5F0FF"/>
          </a:solidFill>
          <a:ln w="19050">
            <a:solidFill>
              <a:srgbClr val="D3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/>
            <a:r>
              <a:rPr sz="1100" b="1">
                <a:solidFill>
                  <a:srgbClr val="4A3AA7"/>
                </a:solidFill>
              </a:rPr>
              <a:t>E3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709160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i="0">
                <a:solidFill>
                  <a:srgbClr val="C3C2B7"/>
                </a:solidFill>
              </a:rPr>
              <a:t>↙        ↓        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25880" y="4974336"/>
            <a:ext cx="2926080" cy="438912"/>
          </a:xfrm>
          <a:prstGeom prst="rect">
            <a:avLst/>
          </a:prstGeom>
          <a:solidFill>
            <a:srgbClr val="F9F9F7"/>
          </a:solidFill>
          <a:ln w="19050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/>
            <a:r>
              <a:rPr sz="1000" b="1">
                <a:solidFill>
                  <a:srgbClr val="52514E"/>
                </a:solidFill>
              </a:rPr>
              <a:t>Weighted Output → Prediction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52160" y="1005840"/>
            <a:ext cx="6035040" cy="5577840"/>
          </a:xfrm>
          <a:prstGeom prst="rect">
            <a:avLst/>
          </a:prstGeom>
          <a:solidFill>
            <a:srgbClr val="F0F7FF"/>
          </a:solidFill>
          <a:ln w="9525">
            <a:solidFill>
              <a:srgbClr val="BCC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35040" y="1078992"/>
            <a:ext cx="5669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1" i="0">
                <a:solidFill>
                  <a:srgbClr val="1C5CAB"/>
                </a:solidFill>
              </a:rPr>
              <a:t>PROPOSED: LLM-REINFORCED MoE  (dual router with KL alignment)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12280" y="1444752"/>
            <a:ext cx="2926080" cy="475488"/>
          </a:xfrm>
          <a:prstGeom prst="rect">
            <a:avLst/>
          </a:prstGeom>
          <a:solidFill>
            <a:srgbClr val="E8F0FB"/>
          </a:solidFill>
          <a:ln w="19050">
            <a:solidFill>
              <a:srgbClr val="BCC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/>
            <a:r>
              <a:rPr sz="1000" b="1">
                <a:solidFill>
                  <a:srgbClr val="1C5CAB"/>
                </a:solidFill>
              </a:rPr>
              <a:t>Node Text (paper abstract)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1938528"/>
            <a:ext cx="5852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C3C2B7"/>
                </a:solidFill>
              </a:rPr>
              <a:t>↓  ╔═══════════════════════════════╗  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326880" y="2212848"/>
            <a:ext cx="2468880" cy="475488"/>
          </a:xfrm>
          <a:prstGeom prst="rect">
            <a:avLst/>
          </a:prstGeom>
          <a:solidFill>
            <a:srgbClr val="E8F0FB"/>
          </a:solidFill>
          <a:ln w="19050">
            <a:solidFill>
              <a:srgbClr val="2A7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/>
            <a:r>
              <a:rPr sz="900" b="1">
                <a:solidFill>
                  <a:srgbClr val="1C5CAB"/>
                </a:solidFill>
              </a:rPr>
              <a:t>LLM Router   W·x_orig → softmax</a:t>
            </a:r>
          </a:p>
          <a:p>
            <a:pPr algn="ctr"/>
            <a:r>
              <a:rPr sz="900" b="1">
                <a:solidFill>
                  <a:srgbClr val="1C5CAB"/>
                </a:solidFill>
              </a:rPr>
              <a:t>w_llm  (semantic anchor, frozen)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12280" y="2212848"/>
            <a:ext cx="2926080" cy="475488"/>
          </a:xfrm>
          <a:prstGeom prst="rect">
            <a:avLst/>
          </a:prstGeom>
          <a:solidFill>
            <a:srgbClr val="F0FAF5"/>
          </a:solidFill>
          <a:ln w="19050">
            <a:solidFill>
              <a:srgbClr val="A8D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/>
            <a:r>
              <a:rPr sz="1000" b="1">
                <a:solidFill>
                  <a:srgbClr val="0A5C41"/>
                </a:solidFill>
              </a:rPr>
              <a:t>GNN Encoder  (SAGEConv layers)</a:t>
            </a:r>
          </a:p>
          <a:p>
            <a:pPr algn="ctr"/>
            <a:r>
              <a:rPr sz="1000" b="1">
                <a:solidFill>
                  <a:srgbClr val="0A5C41"/>
                </a:solidFill>
              </a:rPr>
              <a:t>hidden state  z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2706624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 i="0">
                <a:solidFill>
                  <a:srgbClr val="C3C2B7"/>
                </a:solidFill>
              </a:rPr>
              <a:t>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12280" y="2926080"/>
            <a:ext cx="2926080" cy="475488"/>
          </a:xfrm>
          <a:prstGeom prst="rect">
            <a:avLst/>
          </a:prstGeom>
          <a:solidFill>
            <a:srgbClr val="FFF8E6"/>
          </a:solidFill>
          <a:ln w="19050">
            <a:solidFill>
              <a:srgbClr val="F9D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/>
            <a:r>
              <a:rPr sz="1000" b="1">
                <a:solidFill>
                  <a:srgbClr val="7A5400"/>
                </a:solidFill>
              </a:rPr>
              <a:t>GNN Router   W·z → softmax</a:t>
            </a:r>
          </a:p>
          <a:p>
            <a:pPr algn="ctr"/>
            <a:r>
              <a:rPr sz="1000" b="1">
                <a:solidFill>
                  <a:srgbClr val="7A5400"/>
                </a:solidFill>
              </a:rPr>
              <a:t>w_gnn  (trained with LLM alignment)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2999232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EB6834"/>
                </a:solidFill>
              </a:rPr>
              <a:t>KL loss 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0" y="3218688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1">
                <a:solidFill>
                  <a:srgbClr val="7A5400"/>
                </a:solidFill>
              </a:rPr>
              <a:t>L += λ·KL(w_gnn ‖ w_llm)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2280" y="3419856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 i="0">
                <a:solidFill>
                  <a:srgbClr val="C3C2B7"/>
                </a:solidFill>
              </a:rPr>
              <a:t>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12280" y="3639312"/>
            <a:ext cx="2926080" cy="658368"/>
          </a:xfrm>
          <a:prstGeom prst="rect">
            <a:avLst/>
          </a:prstGeom>
          <a:solidFill>
            <a:srgbClr val="FFF0E8"/>
          </a:solidFill>
          <a:ln w="25400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tIns="54864"/>
          <a:lstStyle/>
          <a:p>
            <a:pPr algn="ctr"/>
            <a:r>
              <a:rPr sz="1000" b="1">
                <a:solidFill>
                  <a:srgbClr val="EB6834"/>
                </a:solidFill>
              </a:rPr>
              <a:t>⚡ Instability Probe  (diagnostic, no grad)</a:t>
            </a:r>
          </a:p>
          <a:p>
            <a:r>
              <a:rPr sz="900">
                <a:solidFill>
                  <a:srgbClr val="7A5400"/>
                </a:solidFill>
              </a:rPr>
              <a:t>s_node = 1 − TV(w_llm, w_gnn)   →   flags unreliable experts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2280" y="4315968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 i="0">
                <a:solidFill>
                  <a:srgbClr val="C3C2B7"/>
                </a:solidFill>
              </a:rPr>
              <a:t>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12280" y="4535424"/>
            <a:ext cx="804672" cy="402336"/>
          </a:xfrm>
          <a:prstGeom prst="rect">
            <a:avLst/>
          </a:prstGeom>
          <a:solidFill>
            <a:srgbClr val="F5F0FF"/>
          </a:solidFill>
          <a:ln w="19050">
            <a:solidFill>
              <a:srgbClr val="D3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/>
            <a:r>
              <a:rPr sz="1100" b="1">
                <a:solidFill>
                  <a:srgbClr val="4A3AA7"/>
                </a:solidFill>
              </a:rPr>
              <a:t>E1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81544" y="4535424"/>
            <a:ext cx="804672" cy="402336"/>
          </a:xfrm>
          <a:prstGeom prst="rect">
            <a:avLst/>
          </a:prstGeom>
          <a:solidFill>
            <a:srgbClr val="F5F0FF"/>
          </a:solidFill>
          <a:ln w="19050">
            <a:solidFill>
              <a:srgbClr val="D3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/>
            <a:r>
              <a:rPr sz="1100" b="1">
                <a:solidFill>
                  <a:srgbClr val="4A3AA7"/>
                </a:solidFill>
              </a:rPr>
              <a:t>E2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750808" y="4535424"/>
            <a:ext cx="804672" cy="402336"/>
          </a:xfrm>
          <a:prstGeom prst="rect">
            <a:avLst/>
          </a:prstGeom>
          <a:solidFill>
            <a:srgbClr val="F5F0FF"/>
          </a:solidFill>
          <a:ln w="19050">
            <a:solidFill>
              <a:srgbClr val="D3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/>
            <a:r>
              <a:rPr sz="1100" b="1">
                <a:solidFill>
                  <a:srgbClr val="4A3AA7"/>
                </a:solidFill>
              </a:rPr>
              <a:t>E3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12280" y="4937760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i="0">
                <a:solidFill>
                  <a:srgbClr val="C3C2B7"/>
                </a:solidFill>
              </a:rPr>
              <a:t>↙        ↓        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12280" y="5193792"/>
            <a:ext cx="2926080" cy="402336"/>
          </a:xfrm>
          <a:prstGeom prst="rect">
            <a:avLst/>
          </a:prstGeom>
          <a:solidFill>
            <a:srgbClr val="F9F9F7"/>
          </a:solidFill>
          <a:ln w="19050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/>
            <a:r>
              <a:rPr sz="1000" b="1">
                <a:solidFill>
                  <a:srgbClr val="52514E"/>
                </a:solidFill>
              </a:rPr>
              <a:t>Weighted Output → Prediction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0" y="6473952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 i="0">
                <a:solidFill>
                  <a:srgbClr val="1C5CAB"/>
                </a:solidFill>
              </a:rPr>
              <a:t>Training: L_total = L_task + λ_route · KL(w_gnn ‖ w_llm)    ·    Inference: w_final = w_gnn  (already reinforced)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CF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898781"/>
                </a:solidFill>
              </a:rPr>
              <a:t>MECHANISM  ·  INSTABILITY DETECTION + LLM REINFORCEMENT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1430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 i="0">
                <a:solidFill>
                  <a:srgbClr val="0B0B0B"/>
                </a:solidFill>
              </a:rPr>
              <a:t>How TV(w_llm, w_gnn) Finds Unreliable Experts — and How KL Loss Fixes Them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52514E"/>
                </a:solidFill>
              </a:rPr>
              <a:t>Step 1: Detect. Measure disagreement between LLM routing (text-only) and GNN routing (structure-driven). High disagreement = structurally confused node = unreliable expert assignment. Step 2: Reinforce. KL loss trains the router to stay semantically grounded.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5486400" cy="2148840"/>
          </a:xfrm>
          <a:prstGeom prst="rect">
            <a:avLst/>
          </a:prstGeom>
          <a:solidFill>
            <a:srgbClr val="F0FAF5"/>
          </a:solidFill>
          <a:ln w="9525">
            <a:solidFill>
              <a:srgbClr val="A8D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490472"/>
            <a:ext cx="52120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1" i="0">
                <a:solidFill>
                  <a:srgbClr val="0A5C41"/>
                </a:solidFill>
              </a:rPr>
              <a:t>✓  ID NODE  (typical degree, consistent neighborhood)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51206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52514E"/>
                </a:solidFill>
              </a:rPr>
              <a:t>LLM router  w_llm  (sees: ML paper text → Expert 1)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011680"/>
            <a:ext cx="2523744" cy="256032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2029968"/>
            <a:ext cx="2523744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E1: 68%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72384" y="2011680"/>
            <a:ext cx="768096" cy="256032"/>
          </a:xfrm>
          <a:prstGeom prst="rect">
            <a:avLst/>
          </a:prstGeom>
          <a:solidFill>
            <a:srgbClr val="1B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99816" y="2029968"/>
            <a:ext cx="76809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E2: 21%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0" y="2011680"/>
            <a:ext cx="438912" cy="256032"/>
          </a:xfrm>
          <a:prstGeom prst="rect">
            <a:avLst/>
          </a:prstGeom>
          <a:solidFill>
            <a:srgbClr val="ED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67912" y="2029968"/>
            <a:ext cx="43891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11%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322576"/>
            <a:ext cx="51206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52514E"/>
                </a:solidFill>
              </a:rPr>
              <a:t>GNN router  w_gnn  (sees: neighbours match → agrees)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551176"/>
            <a:ext cx="2377440" cy="256032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72" y="2569464"/>
            <a:ext cx="23774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E1: 65%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26080" y="2551176"/>
            <a:ext cx="841248" cy="256032"/>
          </a:xfrm>
          <a:prstGeom prst="rect">
            <a:avLst/>
          </a:prstGeom>
          <a:solidFill>
            <a:srgbClr val="1B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53512" y="2569464"/>
            <a:ext cx="84124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E2: 23%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67328" y="2551176"/>
            <a:ext cx="512064" cy="256032"/>
          </a:xfrm>
          <a:prstGeom prst="rect">
            <a:avLst/>
          </a:prstGeom>
          <a:solidFill>
            <a:srgbClr val="ED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94760" y="2569464"/>
            <a:ext cx="512064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12%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2862072"/>
            <a:ext cx="52120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0A5C41"/>
                </a:solidFill>
              </a:rPr>
              <a:t>TV = 0.03  →  s = 0.97  →  STABLE  →  expert receives correct content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703320"/>
            <a:ext cx="5486400" cy="2606040"/>
          </a:xfrm>
          <a:prstGeom prst="rect">
            <a:avLst/>
          </a:prstGeom>
          <a:solidFill>
            <a:srgbClr val="FFF5F5"/>
          </a:solidFill>
          <a:ln w="9525">
            <a:solidFill>
              <a:srgbClr val="FC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064" y="3785615"/>
            <a:ext cx="52120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1" i="0">
                <a:solidFill>
                  <a:srgbClr val="E34948"/>
                </a:solidFill>
              </a:rPr>
              <a:t>✗  OOD NODE  (low degree, neighbors from wrong domain)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078224"/>
            <a:ext cx="51206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52514E"/>
                </a:solidFill>
              </a:rPr>
              <a:t>LLM router  w_llm  (sees: ML paper text → Expert 1 is correct)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315968"/>
            <a:ext cx="2523744" cy="256032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6072" y="4334256"/>
            <a:ext cx="2523744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E1: 68%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72384" y="4315968"/>
            <a:ext cx="768096" cy="256032"/>
          </a:xfrm>
          <a:prstGeom prst="rect">
            <a:avLst/>
          </a:prstGeom>
          <a:solidFill>
            <a:srgbClr val="1B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99816" y="4334256"/>
            <a:ext cx="76809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E2: 21%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40480" y="4315968"/>
            <a:ext cx="438912" cy="256032"/>
          </a:xfrm>
          <a:prstGeom prst="rect">
            <a:avLst/>
          </a:prstGeom>
          <a:solidFill>
            <a:srgbClr val="ED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67912" y="4334256"/>
            <a:ext cx="43891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11%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636008"/>
            <a:ext cx="51206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52514E"/>
                </a:solidFill>
              </a:rPr>
              <a:t>GNN router  w_gnn  (sees: chemistry neighbors → confused, routes to E3)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864608"/>
            <a:ext cx="438912" cy="256032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6072" y="4882896"/>
            <a:ext cx="43891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11%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87552" y="4864608"/>
            <a:ext cx="841248" cy="256032"/>
          </a:xfrm>
          <a:prstGeom prst="rect">
            <a:avLst/>
          </a:prstGeom>
          <a:solidFill>
            <a:srgbClr val="1B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4984" y="4882896"/>
            <a:ext cx="84124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E2: 23%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828800" y="4864608"/>
            <a:ext cx="2450592" cy="256032"/>
          </a:xfrm>
          <a:prstGeom prst="rect">
            <a:avLst/>
          </a:prstGeom>
          <a:solidFill>
            <a:srgbClr val="E34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856232" y="4882896"/>
            <a:ext cx="245059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E3: 66%  ← wrong!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5184648"/>
            <a:ext cx="52120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E34948"/>
                </a:solidFill>
              </a:rPr>
              <a:t>TV = 0.46  →  s = 0.54  →  UNSTABLE  →  KL loss penalises this during training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26480" y="1417320"/>
            <a:ext cx="5760720" cy="1325880"/>
          </a:xfrm>
          <a:prstGeom prst="rect">
            <a:avLst/>
          </a:prstGeom>
          <a:solidFill>
            <a:srgbClr val="E8F0FB"/>
          </a:solidFill>
          <a:ln w="15240">
            <a:solidFill>
              <a:srgbClr val="BCC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82296"/>
          <a:lstStyle/>
          <a:p>
            <a:pPr algn="ctr"/>
            <a:r>
              <a:rPr sz="1100" b="1">
                <a:solidFill>
                  <a:srgbClr val="1C5CAB"/>
                </a:solidFill>
              </a:rPr>
              <a:t>Why LLM Router Is the Stable Reference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52514E"/>
                </a:solidFill>
              </a:rPr>
              <a:t>The LLM never sees the graph — it encodes only text. x_orig is identical regardless of how many neighbours a node has. So w_llm represents 'what expert SHOULD handle this content.' GNN deviation from w_llm = structural confusion.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26480" y="2834640"/>
            <a:ext cx="5760720" cy="1325880"/>
          </a:xfrm>
          <a:prstGeom prst="rect">
            <a:avLst/>
          </a:prstGeom>
          <a:solidFill>
            <a:srgbClr val="FFF0E8"/>
          </a:solidFill>
          <a:ln w="15240">
            <a:solidFill>
              <a:srgbClr val="F5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82296"/>
          <a:lstStyle/>
          <a:p>
            <a:pPr algn="ctr"/>
            <a:r>
              <a:rPr sz="1100" b="1">
                <a:solidFill>
                  <a:srgbClr val="EB6834"/>
                </a:solidFill>
              </a:rPr>
              <a:t>KL Loss Reinforces Routing (Training Time)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52514E"/>
                </a:solidFill>
              </a:rPr>
              <a:t>L_total = L_task + λ_route · KL(w_gnn ‖ w_llm)
This forces the GNN router to learn semantically grounded routing patterns. Under OOD at inference, the router is already robust — it was trained to stay close to the text-semantic anchor.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26480" y="4251960"/>
            <a:ext cx="5760720" cy="1325880"/>
          </a:xfrm>
          <a:prstGeom prst="rect">
            <a:avLst/>
          </a:prstGeom>
          <a:solidFill>
            <a:srgbClr val="FFF8E6"/>
          </a:solidFill>
          <a:ln w="15240">
            <a:solidFill>
              <a:srgbClr val="F9D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82296"/>
          <a:lstStyle/>
          <a:p>
            <a:pPr algn="ctr"/>
            <a:r>
              <a:rPr sz="1100" b="1">
                <a:solidFill>
                  <a:srgbClr val="7A5400"/>
                </a:solidFill>
              </a:rPr>
              <a:t>TV Score Diagnoses Expert Instability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52514E"/>
                </a:solidFill>
              </a:rPr>
              <a:t>s_node = 1 − TV(w_llm, w_gnn) can be aggregated per expert:
  s_expert_k = mean of s_node over nodes routed to expert k.
Low s_expert → that expert is receiving poorly-routed OOD nodes. This guides architecture decisions and hyperparameter tuning.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26480" y="5669280"/>
            <a:ext cx="5760720" cy="1024128"/>
          </a:xfrm>
          <a:prstGeom prst="rect">
            <a:avLst/>
          </a:prstGeom>
          <a:solidFill>
            <a:srgbClr val="F0FAF5"/>
          </a:solidFill>
          <a:ln w="15240">
            <a:solidFill>
              <a:srgbClr val="A8D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82296"/>
          <a:lstStyle/>
          <a:p>
            <a:pPr algn="ctr"/>
            <a:r>
              <a:rPr sz="1100" b="1">
                <a:solidFill>
                  <a:srgbClr val="0A5C41"/>
                </a:solidFill>
              </a:rPr>
              <a:t>No Replacement — Pure Reinforcement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52514E"/>
                </a:solidFill>
              </a:rPr>
              <a:t>w_final = w_gnn at inference (not a blend, not a switch). The LLM strengthens the router without taking over. The GNN's structural context is fully preserved.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CF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B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898781"/>
                </a:solidFill>
              </a:rPr>
              <a:t>QUANTITATIVE RESULTS  ·  DEGREE SHIFT OOD  ·  10 RUNS EACH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47472"/>
            <a:ext cx="11430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 i="0">
                <a:solidFill>
                  <a:srgbClr val="0B0B0B"/>
                </a:solidFill>
              </a:rPr>
              <a:t>Method Comparison: ID, OOD-low, OOD-high Accuracy (%) — Degree Shift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04672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52514E"/>
                </a:solidFill>
              </a:rPr>
              <a:t>OOD-low = bottom 15% nodes by degree (hardest). OOD-high = top 15% (usually easier than ID). Proposed LLM-reinforced method pending implementation; shown as target.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2423160" cy="402336"/>
          </a:xfrm>
          <a:prstGeom prst="rect">
            <a:avLst/>
          </a:prstGeom>
          <a:solidFill>
            <a:srgbClr val="0B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tIns="36576"/>
          <a:lstStyle/>
          <a:p>
            <a:pPr algn="l"/>
            <a:r>
              <a:rPr sz="850" b="1">
                <a:solidFill>
                  <a:srgbClr val="FFFFFF"/>
                </a:solidFill>
              </a:rPr>
              <a:t>Method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1261872"/>
            <a:ext cx="841248" cy="402336"/>
          </a:xfrm>
          <a:prstGeom prst="rect">
            <a:avLst/>
          </a:prstGeom>
          <a:solidFill>
            <a:srgbClr val="0B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tIns="36576"/>
          <a:lstStyle/>
          <a:p>
            <a:pPr algn="ctr"/>
            <a:r>
              <a:rPr sz="850" b="1">
                <a:solidFill>
                  <a:srgbClr val="FFFFFF"/>
                </a:solidFill>
              </a:rPr>
              <a:t>Cora
ID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84448" y="1261872"/>
            <a:ext cx="896112" cy="402336"/>
          </a:xfrm>
          <a:prstGeom prst="rect">
            <a:avLst/>
          </a:prstGeom>
          <a:solidFill>
            <a:srgbClr val="0B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tIns="36576"/>
          <a:lstStyle/>
          <a:p>
            <a:pPr algn="ctr"/>
            <a:r>
              <a:rPr sz="850" b="1">
                <a:solidFill>
                  <a:srgbClr val="FFFFFF"/>
                </a:solidFill>
              </a:rPr>
              <a:t>Cora
OOD-lo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261872"/>
            <a:ext cx="896112" cy="402336"/>
          </a:xfrm>
          <a:prstGeom prst="rect">
            <a:avLst/>
          </a:prstGeom>
          <a:solidFill>
            <a:srgbClr val="0B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tIns="36576"/>
          <a:lstStyle/>
          <a:p>
            <a:pPr algn="ctr"/>
            <a:r>
              <a:rPr sz="850" b="1">
                <a:solidFill>
                  <a:srgbClr val="FFFFFF"/>
                </a:solidFill>
              </a:rPr>
              <a:t>Pubmed
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76672" y="1261872"/>
            <a:ext cx="914400" cy="402336"/>
          </a:xfrm>
          <a:prstGeom prst="rect">
            <a:avLst/>
          </a:prstGeom>
          <a:solidFill>
            <a:srgbClr val="0B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tIns="36576"/>
          <a:lstStyle/>
          <a:p>
            <a:pPr algn="ctr"/>
            <a:r>
              <a:rPr sz="850" b="1">
                <a:solidFill>
                  <a:srgbClr val="FFFFFF"/>
                </a:solidFill>
              </a:rPr>
              <a:t>Pubmed
OOD-lo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91072" y="1261872"/>
            <a:ext cx="914400" cy="402336"/>
          </a:xfrm>
          <a:prstGeom prst="rect">
            <a:avLst/>
          </a:prstGeom>
          <a:solidFill>
            <a:srgbClr val="0B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tIns="36576"/>
          <a:lstStyle/>
          <a:p>
            <a:pPr algn="ctr"/>
            <a:r>
              <a:rPr sz="850" b="1">
                <a:solidFill>
                  <a:srgbClr val="FFFFFF"/>
                </a:solidFill>
              </a:rPr>
              <a:t>Pubmed
OOD-hi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05472" y="1261872"/>
            <a:ext cx="896112" cy="402336"/>
          </a:xfrm>
          <a:prstGeom prst="rect">
            <a:avLst/>
          </a:prstGeom>
          <a:solidFill>
            <a:srgbClr val="0B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tIns="36576"/>
          <a:lstStyle/>
          <a:p>
            <a:pPr algn="ctr"/>
            <a:r>
              <a:rPr sz="850" b="1">
                <a:solidFill>
                  <a:srgbClr val="FFFFFF"/>
                </a:solidFill>
              </a:rPr>
              <a:t>WikiCS
ID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01584" y="1261872"/>
            <a:ext cx="914400" cy="402336"/>
          </a:xfrm>
          <a:prstGeom prst="rect">
            <a:avLst/>
          </a:prstGeom>
          <a:solidFill>
            <a:srgbClr val="0B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tIns="36576"/>
          <a:lstStyle/>
          <a:p>
            <a:pPr algn="ctr"/>
            <a:r>
              <a:rPr sz="850" b="1">
                <a:solidFill>
                  <a:srgbClr val="FFFFFF"/>
                </a:solidFill>
              </a:rPr>
              <a:t>WikiCS
OOD-lo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15984" y="1261872"/>
            <a:ext cx="914400" cy="402336"/>
          </a:xfrm>
          <a:prstGeom prst="rect">
            <a:avLst/>
          </a:prstGeom>
          <a:solidFill>
            <a:srgbClr val="0B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tIns="36576"/>
          <a:lstStyle/>
          <a:p>
            <a:pPr algn="ctr"/>
            <a:r>
              <a:rPr sz="850" b="1">
                <a:solidFill>
                  <a:srgbClr val="FFFFFF"/>
                </a:solidFill>
              </a:rPr>
              <a:t>WikiCS
OOD-hi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682496"/>
            <a:ext cx="2423160" cy="749808"/>
          </a:xfrm>
          <a:prstGeom prst="rect">
            <a:avLst/>
          </a:prstGeom>
          <a:solidFill>
            <a:srgbClr val="F9F9F7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64008"/>
          <a:lstStyle/>
          <a:p>
            <a:pPr algn="l"/>
            <a:r>
              <a:rPr sz="950" b="0">
                <a:solidFill>
                  <a:srgbClr val="0B0B0B"/>
                </a:solidFill>
              </a:rPr>
              <a:t>Plain GNN  (no VQ, no MoE)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0" y="1682496"/>
            <a:ext cx="841248" cy="749808"/>
          </a:xfrm>
          <a:prstGeom prst="rect">
            <a:avLst/>
          </a:prstGeom>
          <a:solidFill>
            <a:srgbClr val="F9F9F7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64008"/>
          <a:lstStyle/>
          <a:p>
            <a:pPr algn="ctr"/>
            <a:r>
              <a:rPr sz="900" b="0">
                <a:solidFill>
                  <a:srgbClr val="0B0B0B"/>
                </a:solidFill>
              </a:rPr>
              <a:t>86.41
±2.01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84448" y="1682496"/>
            <a:ext cx="896112" cy="749808"/>
          </a:xfrm>
          <a:prstGeom prst="rect">
            <a:avLst/>
          </a:prstGeom>
          <a:solidFill>
            <a:srgbClr val="F9F9F7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64008"/>
          <a:lstStyle/>
          <a:p>
            <a:pPr algn="ctr"/>
            <a:r>
              <a:rPr sz="900" b="0">
                <a:solidFill>
                  <a:srgbClr val="0B0B0B"/>
                </a:solidFill>
              </a:rPr>
              <a:t>79.90
±1.41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1682496"/>
            <a:ext cx="896112" cy="749808"/>
          </a:xfrm>
          <a:prstGeom prst="rect">
            <a:avLst/>
          </a:prstGeom>
          <a:solidFill>
            <a:srgbClr val="F9F9F7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64008"/>
          <a:lstStyle/>
          <a:p>
            <a:pPr algn="ctr"/>
            <a:r>
              <a:rPr sz="900" b="1">
                <a:solidFill>
                  <a:srgbClr val="1C5CAB"/>
                </a:solidFill>
              </a:rPr>
              <a:t>89.96
±0.42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76672" y="1682496"/>
            <a:ext cx="914400" cy="749808"/>
          </a:xfrm>
          <a:prstGeom prst="rect">
            <a:avLst/>
          </a:prstGeom>
          <a:solidFill>
            <a:srgbClr val="F9F9F7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64008"/>
          <a:lstStyle/>
          <a:p>
            <a:pPr algn="ctr"/>
            <a:r>
              <a:rPr sz="900" b="1">
                <a:solidFill>
                  <a:srgbClr val="1C5CAB"/>
                </a:solidFill>
              </a:rPr>
              <a:t>88.79
±0.42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91072" y="1682496"/>
            <a:ext cx="914400" cy="749808"/>
          </a:xfrm>
          <a:prstGeom prst="rect">
            <a:avLst/>
          </a:prstGeom>
          <a:solidFill>
            <a:srgbClr val="F9F9F7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64008"/>
          <a:lstStyle/>
          <a:p>
            <a:pPr algn="ctr"/>
            <a:r>
              <a:rPr sz="900" b="0">
                <a:solidFill>
                  <a:srgbClr val="0B0B0B"/>
                </a:solidFill>
              </a:rPr>
              <a:t>89.33
±0.21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5472" y="1682496"/>
            <a:ext cx="896112" cy="749808"/>
          </a:xfrm>
          <a:prstGeom prst="rect">
            <a:avLst/>
          </a:prstGeom>
          <a:solidFill>
            <a:srgbClr val="F9F9F7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64008"/>
          <a:lstStyle/>
          <a:p>
            <a:pPr algn="ctr"/>
            <a:r>
              <a:rPr sz="900" b="0">
                <a:solidFill>
                  <a:srgbClr val="0B0B0B"/>
                </a:solidFill>
              </a:rPr>
              <a:t>83.52
±0.63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01584" y="1682496"/>
            <a:ext cx="914400" cy="749808"/>
          </a:xfrm>
          <a:prstGeom prst="rect">
            <a:avLst/>
          </a:prstGeom>
          <a:solidFill>
            <a:srgbClr val="F9F9F7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64008"/>
          <a:lstStyle/>
          <a:p>
            <a:pPr algn="ctr"/>
            <a:r>
              <a:rPr sz="900" b="1">
                <a:solidFill>
                  <a:srgbClr val="1C5CAB"/>
                </a:solidFill>
              </a:rPr>
              <a:t>76.48
±0.67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15984" y="1682496"/>
            <a:ext cx="914400" cy="749808"/>
          </a:xfrm>
          <a:prstGeom prst="rect">
            <a:avLst/>
          </a:prstGeom>
          <a:solidFill>
            <a:srgbClr val="F9F9F7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64008"/>
          <a:lstStyle/>
          <a:p>
            <a:pPr algn="ctr"/>
            <a:r>
              <a:rPr sz="900" b="0">
                <a:solidFill>
                  <a:srgbClr val="0B0B0B"/>
                </a:solidFill>
              </a:rPr>
              <a:t>84.97
±0.76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2432304"/>
            <a:ext cx="2423160" cy="749808"/>
          </a:xfrm>
          <a:prstGeom prst="rect">
            <a:avLst/>
          </a:prstGeom>
          <a:solidFill>
            <a:srgbClr val="FCFCFB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64008"/>
          <a:lstStyle/>
          <a:p>
            <a:pPr algn="l"/>
            <a:r>
              <a:rPr sz="950" b="0">
                <a:solidFill>
                  <a:srgbClr val="0B0B0B"/>
                </a:solidFill>
              </a:rPr>
              <a:t>GNN + VQ  (no MoE, no pretrain)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0" y="2432304"/>
            <a:ext cx="841248" cy="749808"/>
          </a:xfrm>
          <a:prstGeom prst="rect">
            <a:avLst/>
          </a:prstGeom>
          <a:solidFill>
            <a:srgbClr val="FCFCFB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64008"/>
          <a:lstStyle/>
          <a:p>
            <a:pPr algn="ctr"/>
            <a:r>
              <a:rPr sz="900" b="0">
                <a:solidFill>
                  <a:srgbClr val="0B0B0B"/>
                </a:solidFill>
              </a:rPr>
              <a:t>81.57
±5.08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84448" y="2432304"/>
            <a:ext cx="896112" cy="749808"/>
          </a:xfrm>
          <a:prstGeom prst="rect">
            <a:avLst/>
          </a:prstGeom>
          <a:solidFill>
            <a:srgbClr val="FCFCFB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64008"/>
          <a:lstStyle/>
          <a:p>
            <a:pPr algn="ctr"/>
            <a:r>
              <a:rPr sz="900" b="0">
                <a:solidFill>
                  <a:srgbClr val="0B0B0B"/>
                </a:solidFill>
              </a:rPr>
              <a:t>77.98
±3.29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2432304"/>
            <a:ext cx="896112" cy="749808"/>
          </a:xfrm>
          <a:prstGeom prst="rect">
            <a:avLst/>
          </a:prstGeom>
          <a:solidFill>
            <a:srgbClr val="FCFCFB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64008"/>
          <a:lstStyle/>
          <a:p>
            <a:pPr algn="ctr"/>
            <a:r>
              <a:rPr sz="900" b="0">
                <a:solidFill>
                  <a:srgbClr val="0B0B0B"/>
                </a:solidFill>
              </a:rPr>
              <a:t>89.80
±0.28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76672" y="2432304"/>
            <a:ext cx="914400" cy="749808"/>
          </a:xfrm>
          <a:prstGeom prst="rect">
            <a:avLst/>
          </a:prstGeom>
          <a:solidFill>
            <a:srgbClr val="FCFCFB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64008"/>
          <a:lstStyle/>
          <a:p>
            <a:pPr algn="ctr"/>
            <a:r>
              <a:rPr sz="900" b="0">
                <a:solidFill>
                  <a:srgbClr val="0B0B0B"/>
                </a:solidFill>
              </a:rPr>
              <a:t>88.74
±0.33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91072" y="2432304"/>
            <a:ext cx="914400" cy="749808"/>
          </a:xfrm>
          <a:prstGeom prst="rect">
            <a:avLst/>
          </a:prstGeom>
          <a:solidFill>
            <a:srgbClr val="FCFCFB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64008"/>
          <a:lstStyle/>
          <a:p>
            <a:pPr algn="ctr"/>
            <a:r>
              <a:rPr sz="900" b="0">
                <a:solidFill>
                  <a:srgbClr val="0B0B0B"/>
                </a:solidFill>
              </a:rPr>
              <a:t>89.34
±0.34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05472" y="2432304"/>
            <a:ext cx="896112" cy="749808"/>
          </a:xfrm>
          <a:prstGeom prst="rect">
            <a:avLst/>
          </a:prstGeom>
          <a:solidFill>
            <a:srgbClr val="FCFCFB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64008"/>
          <a:lstStyle/>
          <a:p>
            <a:pPr algn="ctr"/>
            <a:r>
              <a:rPr sz="900" b="0">
                <a:solidFill>
                  <a:srgbClr val="0B0B0B"/>
                </a:solidFill>
              </a:rPr>
              <a:t>72.65
±8.31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01584" y="2432304"/>
            <a:ext cx="914400" cy="749808"/>
          </a:xfrm>
          <a:prstGeom prst="rect">
            <a:avLst/>
          </a:prstGeom>
          <a:solidFill>
            <a:srgbClr val="FCFCFB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64008"/>
          <a:lstStyle/>
          <a:p>
            <a:pPr algn="ctr"/>
            <a:r>
              <a:rPr sz="900" b="0">
                <a:solidFill>
                  <a:srgbClr val="0B0B0B"/>
                </a:solidFill>
              </a:rPr>
              <a:t>61.12
±9.18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15984" y="2432304"/>
            <a:ext cx="914400" cy="749808"/>
          </a:xfrm>
          <a:prstGeom prst="rect">
            <a:avLst/>
          </a:prstGeom>
          <a:solidFill>
            <a:srgbClr val="FCFCFB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64008"/>
          <a:lstStyle/>
          <a:p>
            <a:pPr algn="ctr"/>
            <a:r>
              <a:rPr sz="900" b="0">
                <a:solidFill>
                  <a:srgbClr val="0B0B0B"/>
                </a:solidFill>
              </a:rPr>
              <a:t>74.92
±7.42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3182112"/>
            <a:ext cx="2423160" cy="749808"/>
          </a:xfrm>
          <a:prstGeom prst="rect">
            <a:avLst/>
          </a:prstGeom>
          <a:solidFill>
            <a:srgbClr val="F9F9F7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64008"/>
          <a:lstStyle/>
          <a:p>
            <a:pPr algn="l"/>
            <a:r>
              <a:rPr sz="950" b="0">
                <a:solidFill>
                  <a:srgbClr val="0B0B0B"/>
                </a:solidFill>
              </a:rPr>
              <a:t>+ VQ + MoE + λ_env  (no pretrain)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0" y="3182112"/>
            <a:ext cx="841248" cy="749808"/>
          </a:xfrm>
          <a:prstGeom prst="rect">
            <a:avLst/>
          </a:prstGeom>
          <a:solidFill>
            <a:srgbClr val="F9F9F7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64008"/>
          <a:lstStyle/>
          <a:p>
            <a:pPr algn="ctr"/>
            <a:r>
              <a:rPr sz="900" b="0">
                <a:solidFill>
                  <a:srgbClr val="0B0B0B"/>
                </a:solidFill>
              </a:rPr>
              <a:t>86.83
±2.10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584448" y="3182112"/>
            <a:ext cx="896112" cy="749808"/>
          </a:xfrm>
          <a:prstGeom prst="rect">
            <a:avLst/>
          </a:prstGeom>
          <a:solidFill>
            <a:srgbClr val="F9F9F7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64008"/>
          <a:lstStyle/>
          <a:p>
            <a:pPr algn="ctr"/>
            <a:r>
              <a:rPr sz="900" b="0">
                <a:solidFill>
                  <a:srgbClr val="0B0B0B"/>
                </a:solidFill>
              </a:rPr>
              <a:t>80.37
±0.99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480560" y="3182112"/>
            <a:ext cx="896112" cy="749808"/>
          </a:xfrm>
          <a:prstGeom prst="rect">
            <a:avLst/>
          </a:prstGeom>
          <a:solidFill>
            <a:srgbClr val="F9F9F7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64008"/>
          <a:lstStyle/>
          <a:p>
            <a:pPr algn="ctr"/>
            <a:r>
              <a:rPr sz="900" b="0">
                <a:solidFill>
                  <a:srgbClr val="0B0B0B"/>
                </a:solidFill>
              </a:rPr>
              <a:t>89.40
±0.40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76672" y="3182112"/>
            <a:ext cx="914400" cy="749808"/>
          </a:xfrm>
          <a:prstGeom prst="rect">
            <a:avLst/>
          </a:prstGeom>
          <a:solidFill>
            <a:srgbClr val="F9F9F7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64008"/>
          <a:lstStyle/>
          <a:p>
            <a:pPr algn="ctr"/>
            <a:r>
              <a:rPr sz="900" b="0">
                <a:solidFill>
                  <a:srgbClr val="0B0B0B"/>
                </a:solidFill>
              </a:rPr>
              <a:t>88.04
±0.17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91072" y="3182112"/>
            <a:ext cx="914400" cy="749808"/>
          </a:xfrm>
          <a:prstGeom prst="rect">
            <a:avLst/>
          </a:prstGeom>
          <a:solidFill>
            <a:srgbClr val="F9F9F7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64008"/>
          <a:lstStyle/>
          <a:p>
            <a:pPr algn="ctr"/>
            <a:r>
              <a:rPr sz="900" b="0">
                <a:solidFill>
                  <a:srgbClr val="0B0B0B"/>
                </a:solidFill>
              </a:rPr>
              <a:t>89.27
±0.39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205472" y="3182112"/>
            <a:ext cx="896112" cy="749808"/>
          </a:xfrm>
          <a:prstGeom prst="rect">
            <a:avLst/>
          </a:prstGeom>
          <a:solidFill>
            <a:srgbClr val="F9F9F7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64008"/>
          <a:lstStyle/>
          <a:p>
            <a:pPr algn="ctr"/>
            <a:r>
              <a:rPr sz="900" b="1">
                <a:solidFill>
                  <a:srgbClr val="1C5CAB"/>
                </a:solidFill>
              </a:rPr>
              <a:t>84.28
±1.53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01584" y="3182112"/>
            <a:ext cx="914400" cy="749808"/>
          </a:xfrm>
          <a:prstGeom prst="rect">
            <a:avLst/>
          </a:prstGeom>
          <a:solidFill>
            <a:srgbClr val="F9F9F7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64008"/>
          <a:lstStyle/>
          <a:p>
            <a:pPr algn="ctr"/>
            <a:r>
              <a:rPr sz="900" b="0">
                <a:solidFill>
                  <a:srgbClr val="0B0B0B"/>
                </a:solidFill>
              </a:rPr>
              <a:t>73.97
±2.04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015984" y="3182112"/>
            <a:ext cx="914400" cy="749808"/>
          </a:xfrm>
          <a:prstGeom prst="rect">
            <a:avLst/>
          </a:prstGeom>
          <a:solidFill>
            <a:srgbClr val="F9F9F7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64008"/>
          <a:lstStyle/>
          <a:p>
            <a:pPr algn="ctr"/>
            <a:r>
              <a:rPr sz="900" b="0">
                <a:solidFill>
                  <a:srgbClr val="0B0B0B"/>
                </a:solidFill>
              </a:rPr>
              <a:t>85.40
±2.48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3931920"/>
            <a:ext cx="2423160" cy="749808"/>
          </a:xfrm>
          <a:prstGeom prst="rect">
            <a:avLst/>
          </a:prstGeom>
          <a:solidFill>
            <a:srgbClr val="F0FAF5"/>
          </a:solidFill>
          <a:ln w="9525">
            <a:solidFill>
              <a:srgbClr val="A8D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64008"/>
          <a:lstStyle/>
          <a:p>
            <a:pPr algn="l"/>
            <a:r>
              <a:rPr sz="950" b="1">
                <a:solidFill>
                  <a:srgbClr val="0A5C41"/>
                </a:solidFill>
              </a:rPr>
              <a:t>STEM-GNN + MoE + λ_env  [ours]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0" y="3931920"/>
            <a:ext cx="841248" cy="749808"/>
          </a:xfrm>
          <a:prstGeom prst="rect">
            <a:avLst/>
          </a:prstGeom>
          <a:solidFill>
            <a:srgbClr val="F0FAF5"/>
          </a:solidFill>
          <a:ln w="9525">
            <a:solidFill>
              <a:srgbClr val="A8D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64008"/>
          <a:lstStyle/>
          <a:p>
            <a:pPr algn="ctr"/>
            <a:r>
              <a:rPr sz="900" b="1">
                <a:solidFill>
                  <a:srgbClr val="0A5C41"/>
                </a:solidFill>
              </a:rPr>
              <a:t>87.47
±1.63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84448" y="3931920"/>
            <a:ext cx="896112" cy="749808"/>
          </a:xfrm>
          <a:prstGeom prst="rect">
            <a:avLst/>
          </a:prstGeom>
          <a:solidFill>
            <a:srgbClr val="F0FAF5"/>
          </a:solidFill>
          <a:ln w="9525">
            <a:solidFill>
              <a:srgbClr val="A8D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64008"/>
          <a:lstStyle/>
          <a:p>
            <a:pPr algn="ctr"/>
            <a:r>
              <a:rPr sz="900" b="1">
                <a:solidFill>
                  <a:srgbClr val="0A5C41"/>
                </a:solidFill>
              </a:rPr>
              <a:t>81.23
±2.09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480560" y="3931920"/>
            <a:ext cx="896112" cy="749808"/>
          </a:xfrm>
          <a:prstGeom prst="rect">
            <a:avLst/>
          </a:prstGeom>
          <a:solidFill>
            <a:srgbClr val="F0FAF5"/>
          </a:solidFill>
          <a:ln w="9525">
            <a:solidFill>
              <a:srgbClr val="A8D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64008"/>
          <a:lstStyle/>
          <a:p>
            <a:pPr algn="ctr"/>
            <a:r>
              <a:rPr sz="900" b="1">
                <a:solidFill>
                  <a:srgbClr val="0A5C41"/>
                </a:solidFill>
              </a:rPr>
              <a:t>89.69
±0.26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376672" y="3931920"/>
            <a:ext cx="914400" cy="749808"/>
          </a:xfrm>
          <a:prstGeom prst="rect">
            <a:avLst/>
          </a:prstGeom>
          <a:solidFill>
            <a:srgbClr val="F0FAF5"/>
          </a:solidFill>
          <a:ln w="9525">
            <a:solidFill>
              <a:srgbClr val="A8D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64008"/>
          <a:lstStyle/>
          <a:p>
            <a:pPr algn="ctr"/>
            <a:r>
              <a:rPr sz="900" b="1">
                <a:solidFill>
                  <a:srgbClr val="0A5C41"/>
                </a:solidFill>
              </a:rPr>
              <a:t>88.00
±0.50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91072" y="3931920"/>
            <a:ext cx="914400" cy="749808"/>
          </a:xfrm>
          <a:prstGeom prst="rect">
            <a:avLst/>
          </a:prstGeom>
          <a:solidFill>
            <a:srgbClr val="F0FAF5"/>
          </a:solidFill>
          <a:ln w="9525">
            <a:solidFill>
              <a:srgbClr val="A8D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64008"/>
          <a:lstStyle/>
          <a:p>
            <a:pPr algn="ctr"/>
            <a:r>
              <a:rPr sz="900" b="1">
                <a:solidFill>
                  <a:srgbClr val="0A5C41"/>
                </a:solidFill>
              </a:rPr>
              <a:t>89.51
±0.26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205472" y="3931920"/>
            <a:ext cx="896112" cy="749808"/>
          </a:xfrm>
          <a:prstGeom prst="rect">
            <a:avLst/>
          </a:prstGeom>
          <a:solidFill>
            <a:srgbClr val="F0FAF5"/>
          </a:solidFill>
          <a:ln w="9525">
            <a:solidFill>
              <a:srgbClr val="A8D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64008"/>
          <a:lstStyle/>
          <a:p>
            <a:pPr algn="ctr"/>
            <a:r>
              <a:rPr sz="900" b="1">
                <a:solidFill>
                  <a:srgbClr val="0A5C41"/>
                </a:solidFill>
              </a:rPr>
              <a:t>83.56
±1.63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101584" y="3931920"/>
            <a:ext cx="914400" cy="749808"/>
          </a:xfrm>
          <a:prstGeom prst="rect">
            <a:avLst/>
          </a:prstGeom>
          <a:solidFill>
            <a:srgbClr val="F0FAF5"/>
          </a:solidFill>
          <a:ln w="9525">
            <a:solidFill>
              <a:srgbClr val="A8D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64008"/>
          <a:lstStyle/>
          <a:p>
            <a:pPr algn="ctr"/>
            <a:r>
              <a:rPr sz="900" b="1">
                <a:solidFill>
                  <a:srgbClr val="0A5C41"/>
                </a:solidFill>
              </a:rPr>
              <a:t>73.13
±2.53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15984" y="3931920"/>
            <a:ext cx="914400" cy="749808"/>
          </a:xfrm>
          <a:prstGeom prst="rect">
            <a:avLst/>
          </a:prstGeom>
          <a:solidFill>
            <a:srgbClr val="F0FAF5"/>
          </a:solidFill>
          <a:ln w="9525">
            <a:solidFill>
              <a:srgbClr val="A8D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64008"/>
          <a:lstStyle/>
          <a:p>
            <a:pPr algn="ctr"/>
            <a:r>
              <a:rPr sz="900" b="1">
                <a:solidFill>
                  <a:srgbClr val="0A5C41"/>
                </a:solidFill>
              </a:rPr>
              <a:t>85.86
±0.89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0040" y="4681728"/>
            <a:ext cx="2423160" cy="749808"/>
          </a:xfrm>
          <a:prstGeom prst="rect">
            <a:avLst/>
          </a:prstGeom>
          <a:solidFill>
            <a:srgbClr val="FFF0E8"/>
          </a:solidFill>
          <a:ln w="9525">
            <a:solidFill>
              <a:srgbClr val="F5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64008"/>
          <a:lstStyle/>
          <a:p>
            <a:pPr algn="l"/>
            <a:r>
              <a:rPr sz="950" b="1">
                <a:solidFill>
                  <a:srgbClr val="EB6834"/>
                </a:solidFill>
              </a:rPr>
              <a:t>+ LLM-Reinforced Router  [proposed]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0" y="4681728"/>
            <a:ext cx="841248" cy="749808"/>
          </a:xfrm>
          <a:prstGeom prst="rect">
            <a:avLst/>
          </a:prstGeom>
          <a:solidFill>
            <a:srgbClr val="FFF0E8"/>
          </a:solidFill>
          <a:ln w="9525">
            <a:solidFill>
              <a:srgbClr val="F5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64008"/>
          <a:lstStyle/>
          <a:p>
            <a:pPr algn="ctr"/>
            <a:r>
              <a:rPr sz="900" b="1">
                <a:solidFill>
                  <a:srgbClr val="EB6834"/>
                </a:solidFill>
              </a:rPr>
              <a:t>TBD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584448" y="4681728"/>
            <a:ext cx="896112" cy="749808"/>
          </a:xfrm>
          <a:prstGeom prst="rect">
            <a:avLst/>
          </a:prstGeom>
          <a:solidFill>
            <a:srgbClr val="FFF0E8"/>
          </a:solidFill>
          <a:ln w="9525">
            <a:solidFill>
              <a:srgbClr val="F5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64008"/>
          <a:lstStyle/>
          <a:p>
            <a:pPr algn="ctr"/>
            <a:r>
              <a:rPr sz="900" b="1">
                <a:solidFill>
                  <a:srgbClr val="EB6834"/>
                </a:solidFill>
              </a:rPr>
              <a:t>TBD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480560" y="4681728"/>
            <a:ext cx="896112" cy="749808"/>
          </a:xfrm>
          <a:prstGeom prst="rect">
            <a:avLst/>
          </a:prstGeom>
          <a:solidFill>
            <a:srgbClr val="FFF0E8"/>
          </a:solidFill>
          <a:ln w="9525">
            <a:solidFill>
              <a:srgbClr val="F5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64008"/>
          <a:lstStyle/>
          <a:p>
            <a:pPr algn="ctr"/>
            <a:r>
              <a:rPr sz="900" b="1">
                <a:solidFill>
                  <a:srgbClr val="EB6834"/>
                </a:solidFill>
              </a:rPr>
              <a:t>TBD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376672" y="4681728"/>
            <a:ext cx="914400" cy="749808"/>
          </a:xfrm>
          <a:prstGeom prst="rect">
            <a:avLst/>
          </a:prstGeom>
          <a:solidFill>
            <a:srgbClr val="FFF0E8"/>
          </a:solidFill>
          <a:ln w="9525">
            <a:solidFill>
              <a:srgbClr val="F5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64008"/>
          <a:lstStyle/>
          <a:p>
            <a:pPr algn="ctr"/>
            <a:r>
              <a:rPr sz="900" b="1">
                <a:solidFill>
                  <a:srgbClr val="EB6834"/>
                </a:solidFill>
              </a:rPr>
              <a:t>TBD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291072" y="4681728"/>
            <a:ext cx="914400" cy="749808"/>
          </a:xfrm>
          <a:prstGeom prst="rect">
            <a:avLst/>
          </a:prstGeom>
          <a:solidFill>
            <a:srgbClr val="FFF0E8"/>
          </a:solidFill>
          <a:ln w="9525">
            <a:solidFill>
              <a:srgbClr val="F5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64008"/>
          <a:lstStyle/>
          <a:p>
            <a:pPr algn="ctr"/>
            <a:r>
              <a:rPr sz="900" b="1">
                <a:solidFill>
                  <a:srgbClr val="EB6834"/>
                </a:solidFill>
              </a:rPr>
              <a:t>TBD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205472" y="4681728"/>
            <a:ext cx="896112" cy="749808"/>
          </a:xfrm>
          <a:prstGeom prst="rect">
            <a:avLst/>
          </a:prstGeom>
          <a:solidFill>
            <a:srgbClr val="FFF0E8"/>
          </a:solidFill>
          <a:ln w="9525">
            <a:solidFill>
              <a:srgbClr val="F5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64008"/>
          <a:lstStyle/>
          <a:p>
            <a:pPr algn="ctr"/>
            <a:r>
              <a:rPr sz="900" b="1">
                <a:solidFill>
                  <a:srgbClr val="EB6834"/>
                </a:solidFill>
              </a:rPr>
              <a:t>TBD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101584" y="4681728"/>
            <a:ext cx="914400" cy="749808"/>
          </a:xfrm>
          <a:prstGeom prst="rect">
            <a:avLst/>
          </a:prstGeom>
          <a:solidFill>
            <a:srgbClr val="FFF0E8"/>
          </a:solidFill>
          <a:ln w="9525">
            <a:solidFill>
              <a:srgbClr val="F5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64008"/>
          <a:lstStyle/>
          <a:p>
            <a:pPr algn="ctr"/>
            <a:r>
              <a:rPr sz="900" b="1">
                <a:solidFill>
                  <a:srgbClr val="EB6834"/>
                </a:solidFill>
              </a:rPr>
              <a:t>TBD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015984" y="4681728"/>
            <a:ext cx="914400" cy="749808"/>
          </a:xfrm>
          <a:prstGeom prst="rect">
            <a:avLst/>
          </a:prstGeom>
          <a:solidFill>
            <a:srgbClr val="FFF0E8"/>
          </a:solidFill>
          <a:ln w="9525">
            <a:solidFill>
              <a:srgbClr val="F5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64008"/>
          <a:lstStyle/>
          <a:p>
            <a:pPr algn="ctr"/>
            <a:r>
              <a:rPr sz="900" b="1">
                <a:solidFill>
                  <a:srgbClr val="EB6834"/>
                </a:solidFill>
              </a:rPr>
              <a:t>TBD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CF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D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898781"/>
                </a:solidFill>
              </a:rPr>
              <a:t>OOD ROBUSTNESS ANALYSIS  ·  DEGREE SHIFT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47472"/>
            <a:ext cx="11430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 i="0">
                <a:solidFill>
                  <a:srgbClr val="0B0B0B"/>
                </a:solidFill>
              </a:rPr>
              <a:t>OOD-low Accuracy Across Methods: Where Each Component Helps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2296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52514E"/>
                </a:solidFill>
              </a:rPr>
              <a:t>OOD-low = bottom 15% by degree — the hardest structural shift. VQ alone collapses on WikiCS. MoE + pretrain partially recovers. LLM-reinforced routing targets the remaining gap vs plain GNN.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365760" y="1298448"/>
          <a:ext cx="7680960" cy="5257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8229600" y="1298448"/>
            <a:ext cx="3794760" cy="1234440"/>
          </a:xfrm>
          <a:prstGeom prst="rect">
            <a:avLst/>
          </a:prstGeom>
          <a:solidFill>
            <a:srgbClr val="E8F0FB"/>
          </a:solidFill>
          <a:ln w="15240">
            <a:solidFill>
              <a:srgbClr val="BCC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82296"/>
          <a:lstStyle/>
          <a:p>
            <a:pPr algn="ctr"/>
            <a:r>
              <a:rPr sz="1100" b="1">
                <a:solidFill>
                  <a:srgbClr val="1C5CAB"/>
                </a:solidFill>
              </a:rPr>
              <a:t>Plain GNN: strong baseline on Pubmed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52514E"/>
                </a:solidFill>
              </a:rPr>
              <a:t>88.79% OOD-low — adding VQ / MoE barely moves this. Pubmed (3 classes, smooth homophily) is close to saturation. WikiCS (10 classes, heterophily) is where structural shifts hurt more.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2642616"/>
            <a:ext cx="3794760" cy="1234440"/>
          </a:xfrm>
          <a:prstGeom prst="rect">
            <a:avLst/>
          </a:prstGeom>
          <a:solidFill>
            <a:srgbClr val="FFF5F5"/>
          </a:solidFill>
          <a:ln w="15240">
            <a:solidFill>
              <a:srgbClr val="FC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82296"/>
          <a:lstStyle/>
          <a:p>
            <a:pPr algn="ctr"/>
            <a:r>
              <a:rPr sz="1100" b="1">
                <a:solidFill>
                  <a:srgbClr val="E34948"/>
                </a:solidFill>
              </a:rPr>
              <a:t>VQ alone collapses on WikiCS: −15.4%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52514E"/>
                </a:solidFill>
              </a:rPr>
              <a:t>61.12% (±9.18%) — a catastrophic drop from 76.48%. Without pretrain the VQ codebook collapses on 10-class heterophilic data. High variance confirms instability.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3986784"/>
            <a:ext cx="3794760" cy="1234440"/>
          </a:xfrm>
          <a:prstGeom prst="rect">
            <a:avLst/>
          </a:prstGeom>
          <a:solidFill>
            <a:srgbClr val="FFF0E8"/>
          </a:solidFill>
          <a:ln w="15240">
            <a:solidFill>
              <a:srgbClr val="F5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82296"/>
          <a:lstStyle/>
          <a:p>
            <a:pPr algn="ctr"/>
            <a:r>
              <a:rPr sz="1100" b="1">
                <a:solidFill>
                  <a:srgbClr val="EB6834"/>
                </a:solidFill>
              </a:rPr>
              <a:t>MoE + λ recovers but gap remains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52514E"/>
                </a:solidFill>
              </a:rPr>
              <a:t>With pretrain: 73.13% (WikiCS). Without: 73.97%. Roughly equal — pretrain adds stability (lower variance) not better mean. Gap vs plain GNN = 3.35%. This is the LLM reinforcement target.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5330952"/>
            <a:ext cx="3794760" cy="1234440"/>
          </a:xfrm>
          <a:prstGeom prst="rect">
            <a:avLst/>
          </a:prstGeom>
          <a:solidFill>
            <a:srgbClr val="F0FAF5"/>
          </a:solidFill>
          <a:ln w="15240">
            <a:solidFill>
              <a:srgbClr val="A8D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82296"/>
          <a:lstStyle/>
          <a:p>
            <a:pPr algn="ctr"/>
            <a:r>
              <a:rPr sz="1100" b="1">
                <a:solidFill>
                  <a:srgbClr val="1BAF7A"/>
                </a:solidFill>
              </a:rPr>
              <a:t>LLM reinforcement targets the gap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52514E"/>
                </a:solidFill>
              </a:rPr>
              <a:t>By anchoring GNN routing to text semantics (KL loss), OOD nodes get assigned to the correct expert even when neighbours shift. Expected to close gap vs plain GNN.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CF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A3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898781"/>
                </a:solidFill>
              </a:rPr>
              <a:t>GENERALIZATION  ·  ALL 5 OOD BENCHMARKS  ·  STEM-GNN + MoE + λ=0.1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47472"/>
            <a:ext cx="11430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 i="0">
                <a:solidFill>
                  <a:srgbClr val="0B0B0B"/>
                </a:solidFill>
              </a:rPr>
              <a:t>STEM-GNN Generalizes Across All 5 OOD Benchmark Types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2296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52514E"/>
                </a:solidFill>
              </a:rPr>
              <a:t>Degree shift, homophily shift, missing features, edge dropout, and tri-objective tests. Strong on structural benchmarks. Feature/edge perturbation benchmarks are new targets for LLM reinforcement.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0B0B0B"/>
                </a:solidFill>
              </a:rPr>
              <a:t>Pubmed (19,717 nodes · 3 classes)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81328"/>
            <a:ext cx="2331720" cy="292608"/>
          </a:xfrm>
          <a:prstGeom prst="rect">
            <a:avLst/>
          </a:prstGeom>
          <a:solidFill>
            <a:srgbClr val="0B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tIns="36576"/>
          <a:lstStyle/>
          <a:p>
            <a:pPr algn="l"/>
            <a:r>
              <a:rPr sz="850" b="1">
                <a:solidFill>
                  <a:srgbClr val="FFFFFF"/>
                </a:solidFill>
              </a:rPr>
              <a:t>Benchmark</a:t>
            </a:r>
          </a:p>
        </p:txBody>
      </p:sp>
      <p:sp>
        <p:nvSpPr>
          <p:cNvPr id="9" name="Rectangle 8"/>
          <p:cNvSpPr/>
          <p:nvPr/>
        </p:nvSpPr>
        <p:spPr>
          <a:xfrm>
            <a:off x="2697480" y="1481328"/>
            <a:ext cx="841248" cy="292608"/>
          </a:xfrm>
          <a:prstGeom prst="rect">
            <a:avLst/>
          </a:prstGeom>
          <a:solidFill>
            <a:srgbClr val="0B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tIns="36576"/>
          <a:lstStyle/>
          <a:p>
            <a:pPr algn="ctr"/>
            <a:r>
              <a:rPr sz="850" b="1">
                <a:solidFill>
                  <a:srgbClr val="FFFFFF"/>
                </a:solidFill>
              </a:rPr>
              <a:t>ID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38728" y="1481328"/>
            <a:ext cx="960120" cy="292608"/>
          </a:xfrm>
          <a:prstGeom prst="rect">
            <a:avLst/>
          </a:prstGeom>
          <a:solidFill>
            <a:srgbClr val="0B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tIns="36576"/>
          <a:lstStyle/>
          <a:p>
            <a:pPr algn="ctr"/>
            <a:r>
              <a:rPr sz="850" b="1">
                <a:solidFill>
                  <a:srgbClr val="FFFFFF"/>
                </a:solidFill>
              </a:rPr>
              <a:t>OOD-low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98848" y="1481328"/>
            <a:ext cx="960120" cy="292608"/>
          </a:xfrm>
          <a:prstGeom prst="rect">
            <a:avLst/>
          </a:prstGeom>
          <a:solidFill>
            <a:srgbClr val="0B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tIns="36576"/>
          <a:lstStyle/>
          <a:p>
            <a:pPr algn="ctr"/>
            <a:r>
              <a:rPr sz="850" b="1">
                <a:solidFill>
                  <a:srgbClr val="FFFFFF"/>
                </a:solidFill>
              </a:rPr>
              <a:t>OOD-high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773936"/>
            <a:ext cx="2331720" cy="603504"/>
          </a:xfrm>
          <a:prstGeom prst="rect">
            <a:avLst/>
          </a:prstGeom>
          <a:solidFill>
            <a:srgbClr val="F0FAF5"/>
          </a:solidFill>
          <a:ln w="9525">
            <a:solidFill>
              <a:srgbClr val="A8D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73152"/>
          <a:lstStyle/>
          <a:p>
            <a:pPr algn="l"/>
            <a:r>
              <a:rPr sz="850" b="0">
                <a:solidFill>
                  <a:srgbClr val="0B0B0B"/>
                </a:solidFill>
              </a:rPr>
              <a:t>✓ Degree Shift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97480" y="1773936"/>
            <a:ext cx="841248" cy="603504"/>
          </a:xfrm>
          <a:prstGeom prst="rect">
            <a:avLst/>
          </a:prstGeom>
          <a:solidFill>
            <a:srgbClr val="F0FAF5"/>
          </a:solidFill>
          <a:ln w="9525">
            <a:solidFill>
              <a:srgbClr val="A8D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73152"/>
          <a:lstStyle/>
          <a:p>
            <a:pPr algn="ctr"/>
            <a:r>
              <a:rPr sz="900" b="1">
                <a:solidFill>
                  <a:srgbClr val="1C5CAB"/>
                </a:solidFill>
              </a:rPr>
              <a:t>89.69±0.26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38728" y="1773936"/>
            <a:ext cx="960120" cy="603504"/>
          </a:xfrm>
          <a:prstGeom prst="rect">
            <a:avLst/>
          </a:prstGeom>
          <a:solidFill>
            <a:srgbClr val="F0FAF5"/>
          </a:solidFill>
          <a:ln w="9525">
            <a:solidFill>
              <a:srgbClr val="A8D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73152"/>
          <a:lstStyle/>
          <a:p>
            <a:pPr algn="ctr"/>
            <a:r>
              <a:rPr sz="900" b="1">
                <a:solidFill>
                  <a:srgbClr val="0B0B0B"/>
                </a:solidFill>
              </a:rPr>
              <a:t>88.00±0.50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98848" y="1773936"/>
            <a:ext cx="960120" cy="603504"/>
          </a:xfrm>
          <a:prstGeom prst="rect">
            <a:avLst/>
          </a:prstGeom>
          <a:solidFill>
            <a:srgbClr val="F0FAF5"/>
          </a:solidFill>
          <a:ln w="9525">
            <a:solidFill>
              <a:srgbClr val="A8D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73152"/>
          <a:lstStyle/>
          <a:p>
            <a:pPr algn="ctr"/>
            <a:r>
              <a:rPr sz="900" b="1">
                <a:solidFill>
                  <a:srgbClr val="0B0B0B"/>
                </a:solidFill>
              </a:rPr>
              <a:t>89.51±0.26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377440"/>
            <a:ext cx="2331720" cy="603504"/>
          </a:xfrm>
          <a:prstGeom prst="rect">
            <a:avLst/>
          </a:prstGeom>
          <a:solidFill>
            <a:srgbClr val="F0FAF5"/>
          </a:solidFill>
          <a:ln w="9525">
            <a:solidFill>
              <a:srgbClr val="A8D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73152"/>
          <a:lstStyle/>
          <a:p>
            <a:pPr algn="l"/>
            <a:r>
              <a:rPr sz="850" b="0">
                <a:solidFill>
                  <a:srgbClr val="0B0B0B"/>
                </a:solidFill>
              </a:rPr>
              <a:t>✓ Homophily Shift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97480" y="2377440"/>
            <a:ext cx="841248" cy="603504"/>
          </a:xfrm>
          <a:prstGeom prst="rect">
            <a:avLst/>
          </a:prstGeom>
          <a:solidFill>
            <a:srgbClr val="F0FAF5"/>
          </a:solidFill>
          <a:ln w="9525">
            <a:solidFill>
              <a:srgbClr val="A8D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73152"/>
          <a:lstStyle/>
          <a:p>
            <a:pPr algn="ctr"/>
            <a:r>
              <a:rPr sz="900" b="1">
                <a:solidFill>
                  <a:srgbClr val="1C5CAB"/>
                </a:solidFill>
              </a:rPr>
              <a:t>89.73±0.53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38728" y="2377440"/>
            <a:ext cx="960120" cy="603504"/>
          </a:xfrm>
          <a:prstGeom prst="rect">
            <a:avLst/>
          </a:prstGeom>
          <a:solidFill>
            <a:srgbClr val="F0FAF5"/>
          </a:solidFill>
          <a:ln w="9525">
            <a:solidFill>
              <a:srgbClr val="A8D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73152"/>
          <a:lstStyle/>
          <a:p>
            <a:pPr algn="ctr"/>
            <a:r>
              <a:rPr sz="900" b="1">
                <a:solidFill>
                  <a:srgbClr val="0B0B0B"/>
                </a:solidFill>
              </a:rPr>
              <a:t>84.79±0.41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98848" y="2377440"/>
            <a:ext cx="960120" cy="603504"/>
          </a:xfrm>
          <a:prstGeom prst="rect">
            <a:avLst/>
          </a:prstGeom>
          <a:solidFill>
            <a:srgbClr val="F0FAF5"/>
          </a:solidFill>
          <a:ln w="9525">
            <a:solidFill>
              <a:srgbClr val="A8D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73152"/>
          <a:lstStyle/>
          <a:p>
            <a:pPr algn="ctr"/>
            <a:r>
              <a:rPr sz="900" b="1">
                <a:solidFill>
                  <a:srgbClr val="0B0B0B"/>
                </a:solidFill>
              </a:rPr>
              <a:t>91.96±0.37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980944"/>
            <a:ext cx="2331720" cy="603504"/>
          </a:xfrm>
          <a:prstGeom prst="rect">
            <a:avLst/>
          </a:prstGeom>
          <a:solidFill>
            <a:srgbClr val="FFF8E6"/>
          </a:solidFill>
          <a:ln w="9525">
            <a:solidFill>
              <a:srgbClr val="F9D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73152"/>
          <a:lstStyle/>
          <a:p>
            <a:pPr algn="l"/>
            <a:r>
              <a:rPr sz="850" b="0">
                <a:solidFill>
                  <a:srgbClr val="0B0B0B"/>
                </a:solidFill>
              </a:rPr>
              <a:t>  Missing Feat.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97480" y="2980944"/>
            <a:ext cx="841248" cy="603504"/>
          </a:xfrm>
          <a:prstGeom prst="rect">
            <a:avLst/>
          </a:prstGeom>
          <a:solidFill>
            <a:srgbClr val="FFF8E6"/>
          </a:solidFill>
          <a:ln w="9525">
            <a:solidFill>
              <a:srgbClr val="F9D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73152"/>
          <a:lstStyle/>
          <a:p>
            <a:pPr algn="ctr"/>
            <a:r>
              <a:rPr sz="900" b="1">
                <a:solidFill>
                  <a:srgbClr val="1C5CAB"/>
                </a:solidFill>
              </a:rPr>
              <a:t>75.88±1.82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38728" y="2980944"/>
            <a:ext cx="960120" cy="603504"/>
          </a:xfrm>
          <a:prstGeom prst="rect">
            <a:avLst/>
          </a:prstGeom>
          <a:solidFill>
            <a:srgbClr val="FFF8E6"/>
          </a:solidFill>
          <a:ln w="9525">
            <a:solidFill>
              <a:srgbClr val="F9D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73152"/>
          <a:lstStyle/>
          <a:p>
            <a:pPr algn="ctr"/>
            <a:r>
              <a:rPr sz="900" b="0">
                <a:solidFill>
                  <a:srgbClr val="0B0B0B"/>
                </a:solidFill>
              </a:rPr>
              <a:t>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98848" y="2980944"/>
            <a:ext cx="960120" cy="603504"/>
          </a:xfrm>
          <a:prstGeom prst="rect">
            <a:avLst/>
          </a:prstGeom>
          <a:solidFill>
            <a:srgbClr val="FFF8E6"/>
          </a:solidFill>
          <a:ln w="9525">
            <a:solidFill>
              <a:srgbClr val="F9D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73152"/>
          <a:lstStyle/>
          <a:p>
            <a:pPr algn="ctr"/>
            <a:r>
              <a:rPr sz="900" b="0">
                <a:solidFill>
                  <a:srgbClr val="0B0B0B"/>
                </a:solidFill>
              </a:rPr>
              <a:t>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584448"/>
            <a:ext cx="2331720" cy="603504"/>
          </a:xfrm>
          <a:prstGeom prst="rect">
            <a:avLst/>
          </a:prstGeom>
          <a:solidFill>
            <a:srgbClr val="FFF8E6"/>
          </a:solidFill>
          <a:ln w="9525">
            <a:solidFill>
              <a:srgbClr val="F9D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73152"/>
          <a:lstStyle/>
          <a:p>
            <a:pPr algn="l"/>
            <a:r>
              <a:rPr sz="850" b="0">
                <a:solidFill>
                  <a:srgbClr val="0B0B0B"/>
                </a:solidFill>
              </a:rPr>
              <a:t>  Edge Drop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97480" y="3584448"/>
            <a:ext cx="841248" cy="603504"/>
          </a:xfrm>
          <a:prstGeom prst="rect">
            <a:avLst/>
          </a:prstGeom>
          <a:solidFill>
            <a:srgbClr val="FFF8E6"/>
          </a:solidFill>
          <a:ln w="9525">
            <a:solidFill>
              <a:srgbClr val="F9D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73152"/>
          <a:lstStyle/>
          <a:p>
            <a:pPr algn="ctr"/>
            <a:r>
              <a:rPr sz="900" b="1">
                <a:solidFill>
                  <a:srgbClr val="1C5CAB"/>
                </a:solidFill>
              </a:rPr>
              <a:t>75.14±2.14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38728" y="3584448"/>
            <a:ext cx="960120" cy="603504"/>
          </a:xfrm>
          <a:prstGeom prst="rect">
            <a:avLst/>
          </a:prstGeom>
          <a:solidFill>
            <a:srgbClr val="FFF8E6"/>
          </a:solidFill>
          <a:ln w="9525">
            <a:solidFill>
              <a:srgbClr val="F9D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73152"/>
          <a:lstStyle/>
          <a:p>
            <a:pPr algn="ctr"/>
            <a:r>
              <a:rPr sz="900" b="0">
                <a:solidFill>
                  <a:srgbClr val="0B0B0B"/>
                </a:solidFill>
              </a:rPr>
              <a:t>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98848" y="3584448"/>
            <a:ext cx="960120" cy="603504"/>
          </a:xfrm>
          <a:prstGeom prst="rect">
            <a:avLst/>
          </a:prstGeom>
          <a:solidFill>
            <a:srgbClr val="FFF8E6"/>
          </a:solidFill>
          <a:ln w="9525">
            <a:solidFill>
              <a:srgbClr val="F9D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73152"/>
          <a:lstStyle/>
          <a:p>
            <a:pPr algn="ctr"/>
            <a:r>
              <a:rPr sz="900" b="0">
                <a:solidFill>
                  <a:srgbClr val="0B0B0B"/>
                </a:solidFill>
              </a:rPr>
              <a:t>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187952"/>
            <a:ext cx="2331720" cy="603504"/>
          </a:xfrm>
          <a:prstGeom prst="rect">
            <a:avLst/>
          </a:prstGeom>
          <a:solidFill>
            <a:srgbClr val="F9F9F7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73152"/>
          <a:lstStyle/>
          <a:p>
            <a:pPr algn="l"/>
            <a:r>
              <a:rPr sz="850" b="0">
                <a:solidFill>
                  <a:srgbClr val="0B0B0B"/>
                </a:solidFill>
              </a:rPr>
              <a:t>  Tri-Objective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97480" y="4187952"/>
            <a:ext cx="841248" cy="603504"/>
          </a:xfrm>
          <a:prstGeom prst="rect">
            <a:avLst/>
          </a:prstGeom>
          <a:solidFill>
            <a:srgbClr val="F9F9F7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73152"/>
          <a:lstStyle/>
          <a:p>
            <a:pPr algn="ctr"/>
            <a:r>
              <a:rPr sz="900" b="1">
                <a:solidFill>
                  <a:srgbClr val="1C5CAB"/>
                </a:solidFill>
              </a:rPr>
              <a:t>89.29±0.58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38728" y="4187952"/>
            <a:ext cx="960120" cy="603504"/>
          </a:xfrm>
          <a:prstGeom prst="rect">
            <a:avLst/>
          </a:prstGeom>
          <a:solidFill>
            <a:srgbClr val="F9F9F7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73152"/>
          <a:lstStyle/>
          <a:p>
            <a:pPr algn="ctr"/>
            <a:r>
              <a:rPr sz="900" b="0">
                <a:solidFill>
                  <a:srgbClr val="0B0B0B"/>
                </a:solidFill>
              </a:rPr>
              <a:t>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98848" y="4187952"/>
            <a:ext cx="960120" cy="603504"/>
          </a:xfrm>
          <a:prstGeom prst="rect">
            <a:avLst/>
          </a:prstGeom>
          <a:solidFill>
            <a:srgbClr val="F9F9F7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73152"/>
          <a:lstStyle/>
          <a:p>
            <a:pPr algn="ctr"/>
            <a:r>
              <a:rPr sz="900" b="0">
                <a:solidFill>
                  <a:srgbClr val="0B0B0B"/>
                </a:solidFill>
              </a:rP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11887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0B0B0B"/>
                </a:solidFill>
              </a:rPr>
              <a:t>WikiCS (11,701 nodes · 10 classes)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1481328"/>
            <a:ext cx="2331720" cy="292608"/>
          </a:xfrm>
          <a:prstGeom prst="rect">
            <a:avLst/>
          </a:prstGeom>
          <a:solidFill>
            <a:srgbClr val="0B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tIns="36576"/>
          <a:lstStyle/>
          <a:p>
            <a:pPr algn="l"/>
            <a:r>
              <a:rPr sz="850" b="1">
                <a:solidFill>
                  <a:srgbClr val="FFFFFF"/>
                </a:solidFill>
              </a:rPr>
              <a:t>Benchmark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595360" y="1481328"/>
            <a:ext cx="841248" cy="292608"/>
          </a:xfrm>
          <a:prstGeom prst="rect">
            <a:avLst/>
          </a:prstGeom>
          <a:solidFill>
            <a:srgbClr val="0B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tIns="36576"/>
          <a:lstStyle/>
          <a:p>
            <a:pPr algn="ctr"/>
            <a:r>
              <a:rPr sz="850" b="1">
                <a:solidFill>
                  <a:srgbClr val="FFFFFF"/>
                </a:solidFill>
              </a:rPr>
              <a:t>ID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36608" y="1481328"/>
            <a:ext cx="960120" cy="292608"/>
          </a:xfrm>
          <a:prstGeom prst="rect">
            <a:avLst/>
          </a:prstGeom>
          <a:solidFill>
            <a:srgbClr val="0B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tIns="36576"/>
          <a:lstStyle/>
          <a:p>
            <a:pPr algn="ctr"/>
            <a:r>
              <a:rPr sz="850" b="1">
                <a:solidFill>
                  <a:srgbClr val="FFFFFF"/>
                </a:solidFill>
              </a:rPr>
              <a:t>OOD-low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396728" y="1481328"/>
            <a:ext cx="960120" cy="292608"/>
          </a:xfrm>
          <a:prstGeom prst="rect">
            <a:avLst/>
          </a:prstGeom>
          <a:solidFill>
            <a:srgbClr val="0B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tIns="36576"/>
          <a:lstStyle/>
          <a:p>
            <a:pPr algn="ctr"/>
            <a:r>
              <a:rPr sz="850" b="1">
                <a:solidFill>
                  <a:srgbClr val="FFFFFF"/>
                </a:solidFill>
              </a:rPr>
              <a:t>OOD-high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3640" y="1773936"/>
            <a:ext cx="2331720" cy="603504"/>
          </a:xfrm>
          <a:prstGeom prst="rect">
            <a:avLst/>
          </a:prstGeom>
          <a:solidFill>
            <a:srgbClr val="FFF8E6"/>
          </a:solidFill>
          <a:ln w="9525">
            <a:solidFill>
              <a:srgbClr val="F9D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73152"/>
          <a:lstStyle/>
          <a:p>
            <a:pPr algn="l"/>
            <a:r>
              <a:rPr sz="850" b="0">
                <a:solidFill>
                  <a:srgbClr val="0B0B0B"/>
                </a:solidFill>
              </a:rPr>
              <a:t>⚠ Degree Shift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595360" y="1773936"/>
            <a:ext cx="841248" cy="603504"/>
          </a:xfrm>
          <a:prstGeom prst="rect">
            <a:avLst/>
          </a:prstGeom>
          <a:solidFill>
            <a:srgbClr val="FFF8E6"/>
          </a:solidFill>
          <a:ln w="9525">
            <a:solidFill>
              <a:srgbClr val="F9D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73152"/>
          <a:lstStyle/>
          <a:p>
            <a:pPr algn="ctr"/>
            <a:r>
              <a:rPr sz="900" b="1">
                <a:solidFill>
                  <a:srgbClr val="1C5CAB"/>
                </a:solidFill>
              </a:rPr>
              <a:t>83.56±1.63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436608" y="1773936"/>
            <a:ext cx="960120" cy="603504"/>
          </a:xfrm>
          <a:prstGeom prst="rect">
            <a:avLst/>
          </a:prstGeom>
          <a:solidFill>
            <a:srgbClr val="FFF8E6"/>
          </a:solidFill>
          <a:ln w="9525">
            <a:solidFill>
              <a:srgbClr val="F9D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73152"/>
          <a:lstStyle/>
          <a:p>
            <a:pPr algn="ctr"/>
            <a:r>
              <a:rPr sz="900" b="1">
                <a:solidFill>
                  <a:srgbClr val="E34948"/>
                </a:solidFill>
              </a:rPr>
              <a:t>73.13±2.53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396728" y="1773936"/>
            <a:ext cx="960120" cy="603504"/>
          </a:xfrm>
          <a:prstGeom prst="rect">
            <a:avLst/>
          </a:prstGeom>
          <a:solidFill>
            <a:srgbClr val="FFF8E6"/>
          </a:solidFill>
          <a:ln w="9525">
            <a:solidFill>
              <a:srgbClr val="F9D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73152"/>
          <a:lstStyle/>
          <a:p>
            <a:pPr algn="ctr"/>
            <a:r>
              <a:rPr sz="900" b="1">
                <a:solidFill>
                  <a:srgbClr val="0B0B0B"/>
                </a:solidFill>
              </a:rPr>
              <a:t>85.86±0.89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63640" y="2377440"/>
            <a:ext cx="2331720" cy="603504"/>
          </a:xfrm>
          <a:prstGeom prst="rect">
            <a:avLst/>
          </a:prstGeom>
          <a:solidFill>
            <a:srgbClr val="F9F9F7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73152"/>
          <a:lstStyle/>
          <a:p>
            <a:pPr algn="l"/>
            <a:r>
              <a:rPr sz="850" b="0">
                <a:solidFill>
                  <a:srgbClr val="0B0B0B"/>
                </a:solidFill>
              </a:rPr>
              <a:t>  Homophily Shift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95360" y="2377440"/>
            <a:ext cx="841248" cy="603504"/>
          </a:xfrm>
          <a:prstGeom prst="rect">
            <a:avLst/>
          </a:prstGeom>
          <a:solidFill>
            <a:srgbClr val="F9F9F7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73152"/>
          <a:lstStyle/>
          <a:p>
            <a:pPr algn="ctr"/>
            <a:r>
              <a:rPr sz="900" b="1">
                <a:solidFill>
                  <a:srgbClr val="1C5CAB"/>
                </a:solidFill>
              </a:rPr>
              <a:t>80.68±2.91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436608" y="2377440"/>
            <a:ext cx="960120" cy="603504"/>
          </a:xfrm>
          <a:prstGeom prst="rect">
            <a:avLst/>
          </a:prstGeom>
          <a:solidFill>
            <a:srgbClr val="F9F9F7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73152"/>
          <a:lstStyle/>
          <a:p>
            <a:pPr algn="ctr"/>
            <a:r>
              <a:rPr sz="900" b="1">
                <a:solidFill>
                  <a:srgbClr val="0B0B0B"/>
                </a:solidFill>
              </a:rPr>
              <a:t>76.75±4.88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396728" y="2377440"/>
            <a:ext cx="960120" cy="603504"/>
          </a:xfrm>
          <a:prstGeom prst="rect">
            <a:avLst/>
          </a:prstGeom>
          <a:solidFill>
            <a:srgbClr val="F9F9F7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73152"/>
          <a:lstStyle/>
          <a:p>
            <a:pPr algn="ctr"/>
            <a:r>
              <a:rPr sz="900" b="1">
                <a:solidFill>
                  <a:srgbClr val="0B0B0B"/>
                </a:solidFill>
              </a:rPr>
              <a:t>82.31±5.03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63640" y="2980944"/>
            <a:ext cx="2331720" cy="603504"/>
          </a:xfrm>
          <a:prstGeom prst="rect">
            <a:avLst/>
          </a:prstGeom>
          <a:solidFill>
            <a:srgbClr val="F9F9F7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73152"/>
          <a:lstStyle/>
          <a:p>
            <a:pPr algn="l"/>
            <a:r>
              <a:rPr sz="850" b="0">
                <a:solidFill>
                  <a:srgbClr val="0B0B0B"/>
                </a:solidFill>
              </a:rPr>
              <a:t>  Missing Feat.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595360" y="2980944"/>
            <a:ext cx="841248" cy="603504"/>
          </a:xfrm>
          <a:prstGeom prst="rect">
            <a:avLst/>
          </a:prstGeom>
          <a:solidFill>
            <a:srgbClr val="F9F9F7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73152"/>
          <a:lstStyle/>
          <a:p>
            <a:pPr algn="ctr"/>
            <a:r>
              <a:rPr sz="900" b="1">
                <a:solidFill>
                  <a:srgbClr val="1C5CAB"/>
                </a:solidFill>
              </a:rPr>
              <a:t>76.47±2.41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436608" y="2980944"/>
            <a:ext cx="960120" cy="603504"/>
          </a:xfrm>
          <a:prstGeom prst="rect">
            <a:avLst/>
          </a:prstGeom>
          <a:solidFill>
            <a:srgbClr val="F9F9F7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73152"/>
          <a:lstStyle/>
          <a:p>
            <a:pPr algn="ctr"/>
            <a:r>
              <a:rPr sz="900" b="0">
                <a:solidFill>
                  <a:srgbClr val="0B0B0B"/>
                </a:solidFill>
              </a:rPr>
              <a:t>—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396728" y="2980944"/>
            <a:ext cx="960120" cy="603504"/>
          </a:xfrm>
          <a:prstGeom prst="rect">
            <a:avLst/>
          </a:prstGeom>
          <a:solidFill>
            <a:srgbClr val="F9F9F7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73152"/>
          <a:lstStyle/>
          <a:p>
            <a:pPr algn="ctr"/>
            <a:r>
              <a:rPr sz="900" b="0">
                <a:solidFill>
                  <a:srgbClr val="0B0B0B"/>
                </a:solidFill>
              </a:rPr>
              <a:t>—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63640" y="3584448"/>
            <a:ext cx="2331720" cy="603504"/>
          </a:xfrm>
          <a:prstGeom prst="rect">
            <a:avLst/>
          </a:prstGeom>
          <a:solidFill>
            <a:srgbClr val="F9F9F7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73152"/>
          <a:lstStyle/>
          <a:p>
            <a:pPr algn="l"/>
            <a:r>
              <a:rPr sz="850" b="0">
                <a:solidFill>
                  <a:srgbClr val="0B0B0B"/>
                </a:solidFill>
              </a:rPr>
              <a:t>  Edge Drop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595360" y="3584448"/>
            <a:ext cx="841248" cy="603504"/>
          </a:xfrm>
          <a:prstGeom prst="rect">
            <a:avLst/>
          </a:prstGeom>
          <a:solidFill>
            <a:srgbClr val="F9F9F7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73152"/>
          <a:lstStyle/>
          <a:p>
            <a:pPr algn="ctr"/>
            <a:r>
              <a:rPr sz="900" b="1">
                <a:solidFill>
                  <a:srgbClr val="1C5CAB"/>
                </a:solidFill>
              </a:rPr>
              <a:t>76.49±3.23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436608" y="3584448"/>
            <a:ext cx="960120" cy="603504"/>
          </a:xfrm>
          <a:prstGeom prst="rect">
            <a:avLst/>
          </a:prstGeom>
          <a:solidFill>
            <a:srgbClr val="F9F9F7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73152"/>
          <a:lstStyle/>
          <a:p>
            <a:pPr algn="ctr"/>
            <a:r>
              <a:rPr sz="900" b="0">
                <a:solidFill>
                  <a:srgbClr val="0B0B0B"/>
                </a:solidFill>
              </a:rPr>
              <a:t>—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396728" y="3584448"/>
            <a:ext cx="960120" cy="603504"/>
          </a:xfrm>
          <a:prstGeom prst="rect">
            <a:avLst/>
          </a:prstGeom>
          <a:solidFill>
            <a:srgbClr val="F9F9F7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73152"/>
          <a:lstStyle/>
          <a:p>
            <a:pPr algn="ctr"/>
            <a:r>
              <a:rPr sz="900" b="0">
                <a:solidFill>
                  <a:srgbClr val="0B0B0B"/>
                </a:solidFill>
              </a:rPr>
              <a:t>—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63640" y="4187952"/>
            <a:ext cx="2331720" cy="603504"/>
          </a:xfrm>
          <a:prstGeom prst="rect">
            <a:avLst/>
          </a:prstGeom>
          <a:solidFill>
            <a:srgbClr val="F9F9F7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73152"/>
          <a:lstStyle/>
          <a:p>
            <a:pPr algn="l"/>
            <a:r>
              <a:rPr sz="850" b="0">
                <a:solidFill>
                  <a:srgbClr val="0B0B0B"/>
                </a:solidFill>
              </a:rPr>
              <a:t>  Tri-Objective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595360" y="4187952"/>
            <a:ext cx="841248" cy="603504"/>
          </a:xfrm>
          <a:prstGeom prst="rect">
            <a:avLst/>
          </a:prstGeom>
          <a:solidFill>
            <a:srgbClr val="F9F9F7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73152"/>
          <a:lstStyle/>
          <a:p>
            <a:pPr algn="ctr"/>
            <a:r>
              <a:rPr sz="900" b="1">
                <a:solidFill>
                  <a:srgbClr val="1C5CAB"/>
                </a:solidFill>
              </a:rPr>
              <a:t>83.28±3.76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436608" y="4187952"/>
            <a:ext cx="960120" cy="603504"/>
          </a:xfrm>
          <a:prstGeom prst="rect">
            <a:avLst/>
          </a:prstGeom>
          <a:solidFill>
            <a:srgbClr val="F9F9F7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73152"/>
          <a:lstStyle/>
          <a:p>
            <a:pPr algn="ctr"/>
            <a:r>
              <a:rPr sz="900" b="0">
                <a:solidFill>
                  <a:srgbClr val="0B0B0B"/>
                </a:solidFill>
              </a:rPr>
              <a:t>—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396728" y="4187952"/>
            <a:ext cx="960120" cy="603504"/>
          </a:xfrm>
          <a:prstGeom prst="rect">
            <a:avLst/>
          </a:prstGeom>
          <a:solidFill>
            <a:srgbClr val="F9F9F7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73152"/>
          <a:lstStyle/>
          <a:p>
            <a:pPr algn="ctr"/>
            <a:r>
              <a:rPr sz="900" b="0">
                <a:solidFill>
                  <a:srgbClr val="0B0B0B"/>
                </a:solidFill>
              </a:rPr>
              <a:t>—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" y="6309360"/>
            <a:ext cx="11430000" cy="438912"/>
          </a:xfrm>
          <a:prstGeom prst="rect">
            <a:avLst/>
          </a:prstGeom>
          <a:solidFill>
            <a:srgbClr val="0B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48640" y="6355080"/>
            <a:ext cx="110642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6B6EF"/>
                </a:solidFill>
              </a:rPr>
              <a:t>✓ Robust benchmark    ⚠ Gap identified — LLM reinforcement target    Missing feat. &amp; edge drop show a separate failure mode: feature perturbation unaddressed by structural OOD methods — future work for LLM anchoring.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