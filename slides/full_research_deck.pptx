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88952" cy="2331720"/>
          </a:xfrm>
          <a:prstGeom prst="rect">
            <a:avLst/>
          </a:prstGeom>
          <a:solidFill>
            <a:srgbClr val="14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LLM-Guided Semantic Trust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59BFF"/>
                </a:solidFill>
              </a:rPr>
              <a:t>for Text-Attributed Graph Neural Networks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14600"/>
            <a:ext cx="256032" cy="502920"/>
          </a:xfrm>
          <a:prstGeom prst="rect">
            <a:avLst/>
          </a:prstGeom>
          <a:solidFill>
            <a:srgbClr val="7F3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7F2A"/>
                </a:solidFill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Standard GNNs aggregate all neighbours equally — ignoring whether a neighbour is semantically relevant for the current node's prediction.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191256"/>
            <a:ext cx="256032" cy="502920"/>
          </a:xfrm>
          <a:prstGeom prst="rect">
            <a:avLst/>
          </a:prstGeom>
          <a:solidFill>
            <a:srgbClr val="2262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191256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5C4FF"/>
                </a:solidFill>
              </a:rP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36976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Use a frozen LLM to assess per-edge semantic reliability and gate the self vs. neighbour aggregation path accordingly.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867912"/>
            <a:ext cx="256032" cy="502920"/>
          </a:xfrm>
          <a:prstGeom prst="rect">
            <a:avLst/>
          </a:prstGeom>
          <a:solidFill>
            <a:srgbClr val="176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67912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</a:rPr>
              <a:t>Contribution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3632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First formal study of 4 trust-gate signals under 2 stress conditions (injection attacks + structural heterophily) benchmarked against 6 baselines.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00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93A8"/>
                </a:solidFill>
              </a:rPr>
              <a:t>Benchmarked on: Cora · Texas WebKB · 6 baselines  (GraphSAGE, GNNGuard, H2GCN, GPR-GNN, TAPE, STEM-GNN)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Research Problem  —  Formal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When is a GNN neighbour semantically trustworthy?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" y="1143000"/>
            <a:ext cx="5394960" cy="5394960"/>
          </a:xfrm>
          <a:prstGeom prst="rect">
            <a:avLst/>
          </a:prstGeom>
          <a:solidFill>
            <a:srgbClr val="101420"/>
          </a:solidFill>
          <a:ln w="1270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61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642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G = (V, E, 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339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8A93A8"/>
                </a:solidFill>
              </a:rPr>
              <a:t>  V: nodes,  E: edges,  T = {t_v}: text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037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7345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φ : t_v → e_v ∈ ℝ^768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43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1">
                <a:solidFill>
                  <a:srgbClr val="8A93A8"/>
                </a:solidFill>
              </a:rPr>
              <a:t>  frozen LLM encoder (SentenceTransformer)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129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826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Standard GNN aggregation: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524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45C4FF"/>
                </a:solidFill>
              </a:rPr>
              <a:t>  h_v = σ( W · MEAN({h_u : u ∈ N(v) ∪ {v}})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221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1">
                <a:solidFill>
                  <a:srgbClr val="8A93A8"/>
                </a:solidFill>
              </a:rPr>
              <a:t>  treats all neighbours equally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0919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616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4D4D"/>
                </a:solidFill>
              </a:rPr>
              <a:t>Problem: noisy/wrong-class neighbours corrupt h_v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314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4D4D"/>
                </a:solidFill>
              </a:rPr>
              <a:t>— more so when edges are structurally forced (hetero-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011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4D4D"/>
                </a:solidFill>
              </a:rPr>
              <a:t>  phily) or adversarially injected (text-similar, wrong class).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143000"/>
            <a:ext cx="5486400" cy="5394960"/>
          </a:xfrm>
          <a:prstGeom prst="rect">
            <a:avLst/>
          </a:prstGeom>
          <a:solidFill>
            <a:srgbClr val="101420"/>
          </a:solidFill>
          <a:ln w="1524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Our Formulation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16642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Goal: learn per-node trust gate β_v ∈ [0, 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192298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18175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5C4FF"/>
                </a:solidFill>
              </a:rPr>
              <a:t>h_v  =  β_v · W_self(e_v)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244053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5C4FF"/>
                </a:solidFill>
              </a:rPr>
              <a:t>    + (1−β_v) · W_neigh( MEAN({e_u : u∈N(v)}) 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26993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295808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where β_v is driven by LLM semantic assessment: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21685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107"/>
                </a:solidFill>
              </a:rPr>
              <a:t>  Q: 'Is neighbour u relevant for v's class label?'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47563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7344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4 gate signals studied: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99318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4D4D"/>
                </a:solidFill>
              </a:rPr>
              <a:t>  A  cos( h_v, mean(h_u) )    [GNN hidden states]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425195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7F2A"/>
                </a:solidFill>
              </a:rPr>
              <a:t>  B  1 − max softmax(logits)  [model confidence]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51073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6CFF"/>
                </a:solidFill>
              </a:rPr>
              <a:t>  C  MLP(e_v ‖ mean(e_u))     [learned gate]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7695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5C4FF"/>
                </a:solidFill>
              </a:rPr>
              <a:t>  D  cos( e_v, mean(e_u) )    [LLM text cosine]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02828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528705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Proposed: replace D with LLM label-support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545833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  so β_v uses semantic reasoning, not just cosine.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Survey  —  6 Related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Prior work across robustness, heterophily, and text-attributed graphs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1143000"/>
            <a:ext cx="11338560" cy="384048"/>
          </a:xfrm>
          <a:prstGeom prst="rect">
            <a:avLst/>
          </a:prstGeom>
          <a:solidFill>
            <a:srgbClr val="14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Method (venue)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170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Text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170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170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Agg. weight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1704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Core idea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554480"/>
            <a:ext cx="11338560" cy="768096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554480"/>
            <a:ext cx="50292" cy="768096"/>
          </a:xfrm>
          <a:prstGeom prst="rect">
            <a:avLst/>
          </a:prstGeom>
          <a:solidFill>
            <a:srgbClr val="8A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6002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A93A8"/>
                </a:solidFill>
              </a:rPr>
              <a:t>GraphSAGE
NeurIPS '17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282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7282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Mean agg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7282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Equal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6002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Inductive GNN with mean/max/LSTM aggregation over sampled neighbours.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350008"/>
            <a:ext cx="11338560" cy="76809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350008"/>
            <a:ext cx="50292" cy="76809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" y="2395728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GNNGuard
NeurIPS '20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2523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None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523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Cosine prune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523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Edge-level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39572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Computes cosine similarity between adjacent node features; drops or down-weights dissimilar edges before aggregation.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145536"/>
            <a:ext cx="11338560" cy="768096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145536"/>
            <a:ext cx="50292" cy="76809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3191256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H2GCN
NeurIPS '20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3319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None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319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Ego-sep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319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Node-level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191256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Separates ego (self) and neighbour channels; combines multi-hop neighbourhoods explicitly for heterophilic graphs.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941064"/>
            <a:ext cx="11338560" cy="76809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3941064"/>
            <a:ext cx="50292" cy="7680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3986784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</a:rPr>
              <a:t>GPR-GNN
ICLR '21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8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PageRank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4114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Layer-level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986784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Learnable generalized PageRank coefficients per propagation step; adapts how much each hop contributes to the final representation.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736592"/>
            <a:ext cx="11338560" cy="768096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4736592"/>
            <a:ext cx="50292" cy="768096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" y="4782312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90FF"/>
                </a:solidFill>
              </a:rPr>
              <a:t>TAPE
ICLR '24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97480" y="4910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LLM feat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910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Standard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4910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Equal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478231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Uses LLM-generated text explanations as node features; plugs into any GNN backbone with equal-weight aggregation.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5532120"/>
            <a:ext cx="11338560" cy="768096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5532120"/>
            <a:ext cx="50292" cy="768096"/>
          </a:xfrm>
          <a:prstGeom prst="rect">
            <a:avLst/>
          </a:prstGeom>
          <a:solidFill>
            <a:srgbClr val="FF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" y="55778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2A"/>
                </a:solidFill>
              </a:rPr>
              <a:t>STEM-GNN
KDD '26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97480" y="57058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VQ tokens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7058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MoE route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57058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3A8"/>
                </a:solidFill>
              </a:rPr>
              <a:t>Expert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03720" y="557784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MoE encoder + VQ codebook + Lipschitz regularisation; routes per node to specialised experts for OOD robustness.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Limitations  —  Where Existing Methods Fall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No single prior method handles both injection attacks and structural heterophily with text semantics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1143000"/>
            <a:ext cx="11338560" cy="384048"/>
          </a:xfrm>
          <a:prstGeom prst="rect">
            <a:avLst/>
          </a:prstGeom>
          <a:solidFill>
            <a:srgbClr val="14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1704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Injection↓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1704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Heterophily↑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1704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Text↑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170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9BFF"/>
                </a:solidFill>
              </a:rPr>
              <a:t>Key limitation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554480"/>
            <a:ext cx="11338560" cy="685800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1554480"/>
            <a:ext cx="45720" cy="685800"/>
          </a:xfrm>
          <a:prstGeom prst="rect">
            <a:avLst/>
          </a:prstGeom>
          <a:solidFill>
            <a:srgbClr val="8A9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6642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A93A8"/>
                </a:solidFill>
              </a:rPr>
              <a:t>GraphSAGE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6642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62763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Equal-weight mean agg; no mechanism to down-weight misleading neighbours under injection or heterophily.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267712"/>
            <a:ext cx="11338560" cy="68580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267712"/>
            <a:ext cx="45720" cy="6858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4D4D"/>
                </a:solidFill>
              </a:rPr>
              <a:t>GNNGuard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~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34086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Cosine prune helps under feature noise but fails when injected edges are deliberately text-similar to the victim — exactly our attack.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980944"/>
            <a:ext cx="11338560" cy="685800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2980944"/>
            <a:ext cx="4572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30906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ECC71"/>
                </a:solidFill>
              </a:rPr>
              <a:t>H2GCN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0540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Strong on heterophily by ego-separation, but no robustness mechanism; injection degrades performance as severely as SAGE.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694176"/>
            <a:ext cx="11338560" cy="68580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3694176"/>
            <a:ext cx="45720" cy="685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5488" y="38039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107"/>
                </a:solidFill>
              </a:rPr>
              <a:t>GPR-GNN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38039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8039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38039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7673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Learnable hop weights adapt globally, not per node. Cannot identify which specific neighbours are unreliable.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407408"/>
            <a:ext cx="11338560" cy="685800"/>
          </a:xfrm>
          <a:prstGeom prst="rect">
            <a:avLst/>
          </a:prstGeom>
          <a:solidFill>
            <a:srgbClr val="10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4407408"/>
            <a:ext cx="45720" cy="68580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45171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90FF"/>
                </a:solidFill>
              </a:rPr>
              <a:t>TAPE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451713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51713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4D4D"/>
                </a:solidFill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451713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~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4805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Rich text features but equal-weight aggregation: LLM knowledge is in the features, not in the routing — still vulnerable to both.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5120640"/>
            <a:ext cx="11338560" cy="685800"/>
          </a:xfrm>
          <a:prstGeom prst="rect">
            <a:avLst/>
          </a:prstGeom>
          <a:solidFill>
            <a:srgbClr val="1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5120640"/>
            <a:ext cx="45720" cy="685800"/>
          </a:xfrm>
          <a:prstGeom prst="rect">
            <a:avLst/>
          </a:prstGeom>
          <a:solidFill>
            <a:srgbClr val="FF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52303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7F2A"/>
                </a:solidFill>
              </a:rPr>
              <a:t>STEM-GNN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5230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~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230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~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9240" y="5230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</a:rPr>
              <a:t>~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519379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Router uses post-aggregation z_v (already corrupted by noisy neighbours). No upstream semantic neighbour assessment.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5833872"/>
            <a:ext cx="11338560" cy="685800"/>
          </a:xfrm>
          <a:prstGeom prst="rect">
            <a:avLst/>
          </a:prstGeom>
          <a:solidFill>
            <a:srgbClr val="12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5833872"/>
            <a:ext cx="45720" cy="685800"/>
          </a:xfrm>
          <a:prstGeom prst="rect">
            <a:avLst/>
          </a:prstGeom>
          <a:solidFill>
            <a:srgbClr val="45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" y="5943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5C4FF"/>
                </a:solidFill>
              </a:rPr>
              <a:t>Ours (goal)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0360" y="5943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0" y="5943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49240" y="5943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590702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LLM judges per-edge semantic relevance BEFORE aggregation. Gate β_v adapts to injection and heterophily via text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Proposed Method  —  Trust-Gated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93A8"/>
                </a:solidFill>
              </a:rPr>
              <a:t>Trust gate taps e_v BEFORE VQ quantization — cleaner semantic signal than STEM-GNN's post-VQ router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05840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rch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78992"/>
            <a:ext cx="11475720" cy="37673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4956048"/>
            <a:ext cx="11475720" cy="1764792"/>
          </a:xfrm>
          <a:prstGeom prst="rect">
            <a:avLst/>
          </a:prstGeom>
          <a:solidFill>
            <a:srgbClr val="101420"/>
          </a:solidFill>
          <a:ln w="1016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47488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45C4FF"/>
                </a:solidFill>
              </a:rPr>
              <a:t>h_v  =  β_v · W_self(e_v)  +  (1 − β_v) · W_neigh( MEAN{ e_u : u ∈ N(v) } 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5532120"/>
            <a:ext cx="11137392" cy="0"/>
          </a:xfrm>
          <a:prstGeom prst="line">
            <a:avLst/>
          </a:prstGeom>
          <a:ln w="7620">
            <a:solidFill>
              <a:srgbClr val="353C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2920" y="5596128"/>
            <a:ext cx="54864" cy="10515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559612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A  Cosine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925312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FFFFFF"/>
                </a:solidFill>
              </a:rPr>
              <a:t>1 − σ(cos(h_v, mean h_u))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5496" y="5596128"/>
            <a:ext cx="54864" cy="1051560"/>
          </a:xfrm>
          <a:prstGeom prst="rect">
            <a:avLst/>
          </a:prstGeom>
          <a:solidFill>
            <a:srgbClr val="FF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35224" y="559612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2A"/>
                </a:solidFill>
              </a:rPr>
              <a:t>B 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5925312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FFFFFF"/>
                </a:solidFill>
              </a:rPr>
              <a:t>1 − mean[max softmax(logits_u)]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48072" y="5596128"/>
            <a:ext cx="54864" cy="105156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559612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6CFF"/>
                </a:solidFill>
              </a:rPr>
              <a:t>C  Learned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5925312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FFFFFF"/>
                </a:solidFill>
              </a:rPr>
              <a:t>MLP(e_v ‖ mean e_u).sigmoid()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70648" y="5596128"/>
            <a:ext cx="54864" cy="1051560"/>
          </a:xfrm>
          <a:prstGeom prst="rect">
            <a:avLst/>
          </a:prstGeom>
          <a:solidFill>
            <a:srgbClr val="45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0376" y="559612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5C4FF"/>
                </a:solidFill>
              </a:rPr>
              <a:t>D  LLM cosine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6" y="5925312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FFFFFF"/>
                </a:solidFill>
              </a:rPr>
              <a:t>1 − σ(cos(e_v, mean e_u))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93224" y="5596128"/>
            <a:ext cx="54864" cy="10515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2952" y="5596128"/>
            <a:ext cx="21762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Proposed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2952" y="5925312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FFFFFF"/>
                </a:solidFill>
              </a:rPr>
              <a:t>LLM('is u relevant for v?') → β_v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Experiment Design  —  Tri-Objective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Following STEM-GNN's evaluation protocol: ID performance · OOD robustness · Cross-dataset transfer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1170432"/>
            <a:ext cx="3611880" cy="3931920"/>
          </a:xfrm>
          <a:prstGeom prst="rect">
            <a:avLst/>
          </a:prstGeom>
          <a:solidFill>
            <a:srgbClr val="101420"/>
          </a:solidFill>
          <a:ln w="22860">
            <a:solidFill>
              <a:srgbClr val="45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70432"/>
            <a:ext cx="3611880" cy="566928"/>
          </a:xfrm>
          <a:prstGeom prst="rect">
            <a:avLst/>
          </a:prstGeom>
          <a:solidFill>
            <a:srgbClr val="17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59BFF"/>
                </a:solidFill>
              </a:rPr>
              <a:t>Objective 1
ID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Standard train/val/test splits.
Measure clean test accuracy on Cora, PubMed, ArXiv (OFA format), Texas, Wisconsin.
Primary baseline: STEM-GNN published numbers.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170432"/>
            <a:ext cx="3611880" cy="3931920"/>
          </a:xfrm>
          <a:prstGeom prst="rect">
            <a:avLst/>
          </a:prstGeom>
          <a:solidFill>
            <a:srgbClr val="101420"/>
          </a:solidFill>
          <a:ln w="2286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170432"/>
            <a:ext cx="3611880" cy="566928"/>
          </a:xfrm>
          <a:prstGeom prst="rect">
            <a:avLst/>
          </a:prstGeom>
          <a:solidFill>
            <a:srgbClr val="55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188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Objective 2
OOD 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Stress test 1 — Confusing-edge injection:
Add k% edges connecting text-similar, wrong-class node pairs.
Ratios: 0%, 10%, 20%, 30%, 40%, 50%.
Stress test 2 — Structural heterophily:
Texas (h=0.31), Wisconsin (h=0.20) WebKB datasets.
Metric: accuracy × 3 splits.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170432"/>
            <a:ext cx="3611880" cy="3931920"/>
          </a:xfrm>
          <a:prstGeom prst="rect">
            <a:avLst/>
          </a:prstGeom>
          <a:solidFill>
            <a:srgbClr val="101420"/>
          </a:solidFill>
          <a:ln w="228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170432"/>
            <a:ext cx="3611880" cy="566928"/>
          </a:xfrm>
          <a:prstGeom prst="rect">
            <a:avLst/>
          </a:prstGeom>
          <a:solidFill>
            <a:srgbClr val="0F44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188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Objective 3
Transfer /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429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Pretrain trust gate on Cora;
zero-shot evaluate on PubMed &amp; ArXiv.
Measure how well learned gate β_v
transfers across domains without
retraining the gate signal.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257800"/>
            <a:ext cx="11338560" cy="1417320"/>
          </a:xfrm>
          <a:prstGeom prst="rect">
            <a:avLst/>
          </a:prstGeom>
          <a:solidFill>
            <a:srgbClr val="101420"/>
          </a:solidFill>
          <a:ln w="889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349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Datasets &amp; Splits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742432"/>
            <a:ext cx="45720" cy="868680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74243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59BFF"/>
                </a:solidFill>
              </a:rPr>
              <a:t>Cora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61081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3A8"/>
                </a:solidFill>
              </a:rPr>
              <a:t>2708 nodes · 5429 edges · 7 classes
3 seeds · OFA splits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5742432"/>
            <a:ext cx="45720" cy="86868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98648" y="574243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Texas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61081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3A8"/>
                </a:solidFill>
              </a:rPr>
              <a:t>183 nodes · 295 edges · 5 classes
10 official splits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5742432"/>
            <a:ext cx="45720" cy="868680"/>
          </a:xfrm>
          <a:prstGeom prst="rect">
            <a:avLst/>
          </a:prstGeom>
          <a:solidFill>
            <a:srgbClr val="FF7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93208" y="574243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A"/>
                </a:solidFill>
              </a:rPr>
              <a:t>Wisconsin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61081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3A8"/>
                </a:solidFill>
              </a:rPr>
              <a:t>251 nodes · 466 edges · 5 classes
10 official splits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5742432"/>
            <a:ext cx="45720" cy="868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87768" y="574243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PubMed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61081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3A8"/>
                </a:solidFill>
              </a:rPr>
              <a:t>19717 nodes · 44324 edges · 3 classes
OFA format · 3 seeds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5742432"/>
            <a:ext cx="45720" cy="8686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82328" y="574243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</a:rPr>
              <a:t>STEM-GNN
  baselines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82328" y="6108192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3A8"/>
                </a:solidFill>
              </a:rPr>
              <a:t>Clean avg 80.79%
OOD-low Cora 82.73%
OOD-worst 78.45%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Results  —  Trust Gate vs. 6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Cora injection sweep (3 seeds, 200 ep)  ·  Texas WebKB heterophily (3 splits, 200 ep)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research_figur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75720" cy="397763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5760" y="5257800"/>
            <a:ext cx="11475720" cy="1417320"/>
          </a:xfrm>
          <a:prstGeom prst="rect">
            <a:avLst/>
          </a:prstGeom>
          <a:solidFill>
            <a:srgbClr val="101420"/>
          </a:solidFill>
          <a:ln w="8890">
            <a:solidFill>
              <a:srgbClr val="353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349240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F2A"/>
                </a:solidFill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349240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B_confidence most injection-robust  —  −3.6 pp drop at 50% injection (vs −8.4 pp for cosine gates A and 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78424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D4D"/>
                </a:solidFill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678424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D_llm = A_cosine under injection  —  Both drop −8.4 pp — text cosine trusts wrong-class text-similar injected edges.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07608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007608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B and C dominate on heterophily  —  81.1% on Texas vs 76.6% for SAGE; cosine gates A (58.6%) and D (60.4%) hurt.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36792"/>
            <a:ext cx="2560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5C4FF"/>
                </a:solidFill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633679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Gap motivates full proposal  —  No single gate wins both. LLM label-support reasoning expected to handle both.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8564"/>
            <a:ext cx="12188952" cy="59436"/>
          </a:xfrm>
          <a:prstGeom prst="rect">
            <a:avLst/>
          </a:prstGeom>
          <a:solidFill>
            <a:srgbClr val="459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  &amp; 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3A8"/>
                </a:solidFill>
              </a:rPr>
              <a:t>What the experiments confirm and what remains to build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33271"/>
            <a:ext cx="11183112" cy="0"/>
          </a:xfrm>
          <a:prstGeom prst="line">
            <a:avLst/>
          </a:prstGeom>
          <a:ln w="11430">
            <a:solidFill>
              <a:srgbClr val="459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11480" y="1170432"/>
            <a:ext cx="5394960" cy="5440680"/>
          </a:xfrm>
          <a:prstGeom prst="rect">
            <a:avLst/>
          </a:prstGeom>
          <a:solidFill>
            <a:srgbClr val="101420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What this work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• No single existing gate signal handles both stress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59736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• Cosine-based gates (A, D) are vulnerable to injection by design — injected edges are chosen to be text-similar, so cosine trusts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27832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• Confidence and learned gates (B, C) are more injection-robust but lack direct text understanding for heterophilic settings.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95928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• Text cosine (D) ≠ semantic label-support — a node can be text-similar but irrelevant or misleading for the classification task.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64024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• The full LLM label-support gate is the natural next step: robust to injection (semantic judgment) and heterophily (class-aware).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532120"/>
            <a:ext cx="50749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FFFFFF"/>
                </a:solidFill>
              </a:rPr>
              <a:t>• Experiment design follows STEM-GNN's tri-objective framework, enabling direct comparison to KDD '26 results.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70432"/>
            <a:ext cx="5623560" cy="5440680"/>
          </a:xfrm>
          <a:prstGeom prst="rect">
            <a:avLst/>
          </a:prstGeom>
          <a:solidFill>
            <a:srgbClr val="101420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6187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</a:rPr>
              <a:t>Open Questions  /  Next Steps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737360"/>
            <a:ext cx="475488" cy="658368"/>
          </a:xfrm>
          <a:prstGeom prst="rect">
            <a:avLst/>
          </a:prstGeom>
          <a:solidFill>
            <a:srgbClr val="5540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737360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C107"/>
                </a:solidFill>
              </a:rPr>
              <a:t>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182880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Can an LLM generate reliable per-edge trust scores at scale without fine-tuning?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487168"/>
            <a:ext cx="475488" cy="658368"/>
          </a:xfrm>
          <a:prstGeom prst="rect">
            <a:avLst/>
          </a:prstGeom>
          <a:solidFill>
            <a:srgbClr val="55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487168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4D4D"/>
                </a:solidFill>
              </a:rPr>
              <a:t>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578608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How to handle the label leakage risk when LLM uses class-label text in the trust query?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236976"/>
            <a:ext cx="475488" cy="658368"/>
          </a:xfrm>
          <a:prstGeom prst="rect">
            <a:avLst/>
          </a:prstGeom>
          <a:solidFill>
            <a:srgbClr val="552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236976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7F2A"/>
                </a:solidFill>
              </a:rPr>
              <a:t>Q3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328416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Does the gate β_v transfer zero-shot to PubMed / ArXiv without retraining?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986784"/>
            <a:ext cx="475488" cy="658368"/>
          </a:xfrm>
          <a:prstGeom prst="rect">
            <a:avLst/>
          </a:prstGeom>
          <a:solidFill>
            <a:srgbClr val="17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986784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59BFF"/>
                </a:solidFill>
              </a:rPr>
              <a:t>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078224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Can the gate be distilled into a lightweight MLP for inference-time efficiency?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736592"/>
            <a:ext cx="475488" cy="658368"/>
          </a:xfrm>
          <a:prstGeom prst="rect">
            <a:avLst/>
          </a:prstGeom>
          <a:solidFill>
            <a:srgbClr val="17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736592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45C4FF"/>
                </a:solidFill>
              </a:rPr>
              <a:t>Q5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4828032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How does the trust gate interact with STEM-GNN's VQ codebook? Can they be jointly trained?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5486400"/>
            <a:ext cx="475488" cy="658368"/>
          </a:xfrm>
          <a:prstGeom prst="rect">
            <a:avLst/>
          </a:prstGeom>
          <a:solidFill>
            <a:srgbClr val="35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5486400"/>
            <a:ext cx="4754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A06CFF"/>
                </a:solidFill>
              </a:rPr>
              <a:t>Q6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557784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Wisconsin results pending (HTTP download error). Will heterophily trend hold at h=0.20?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