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Make-or-Break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8"/>
                </a:solidFill>
              </a:rPr>
              <a:t>LLM-Guided Semantic Trust Gate  ·  4 Gate Signals × 2 Stress Conditions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1524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2057400"/>
            <a:ext cx="2651760" cy="173736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Cosine
(GNNGuard)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072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GNN hidden-state cosine similarity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2057400"/>
            <a:ext cx="2651760" cy="173736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Confidence
(Mowst)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8072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Neighbour max-softmax probability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2057400"/>
            <a:ext cx="2651760" cy="173736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Learned
(ACM)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8072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MLP gate on concatenated hidden states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2057400"/>
            <a:ext cx="2651760" cy="1737360"/>
          </a:xfrm>
          <a:prstGeom prst="rect">
            <a:avLst/>
          </a:prstGeom>
          <a:solidFill>
            <a:srgbClr val="1A263A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2219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59BFF"/>
                </a:solidFill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21945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LLM Semantic
(Ours*)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8072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Raw LLM text-embedding cosine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41648"/>
            <a:ext cx="5394960" cy="1508760"/>
          </a:xfrm>
          <a:prstGeom prst="rect">
            <a:avLst/>
          </a:prstGeom>
          <a:solidFill>
            <a:srgbClr val="282D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206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2062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Feature-close · Label-wrong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636008"/>
            <a:ext cx="5102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Cora: add edges to nodes with high text similarity but different class label.
Tests if gate can detect deceptive neighbours.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4041648"/>
            <a:ext cx="5394960" cy="1508760"/>
          </a:xfrm>
          <a:prstGeom prst="rect">
            <a:avLst/>
          </a:prstGeom>
          <a:solidFill>
            <a:srgbClr val="282D3B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4206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2062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Heterophily Graph (Texas / WebKB)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636008"/>
            <a:ext cx="5102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30.8% homophily — most neighbours are cross-class.
Tests gate robustness when neighbour aggregation always hurts.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* Gate D uses raw LLM text-embedding cosine here. Full label-support framing (the proposed method) requires an LLM semantic judge.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① Feature-close · Label-wrong Injection  (Cora)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Inject edges to embedding-similar but different-class nodes (30% injection ratio) — gate must detect deceptive neighbours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371600"/>
            <a:ext cx="2926080" cy="502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Gate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1920240" cy="502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463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Clean Acc 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371600"/>
            <a:ext cx="1920240" cy="502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1463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Stressed Acc 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1371600"/>
            <a:ext cx="1737360" cy="50292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14630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Drop  (pp)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874520"/>
            <a:ext cx="292608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02082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 Cosine (GNNGuard)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874520"/>
            <a:ext cx="192024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020824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79.5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874520"/>
            <a:ext cx="192024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2020824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78.8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1874520"/>
            <a:ext cx="173736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2020824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-0.8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41448"/>
            <a:ext cx="2926080" cy="566928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587752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  Confidence (Mowst)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441448"/>
            <a:ext cx="1920240" cy="566928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58775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71.3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2441448"/>
            <a:ext cx="1920240" cy="566928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8968" y="258775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71.1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2441448"/>
            <a:ext cx="1737360" cy="566928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9208" y="2587752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3A8"/>
                </a:solidFill>
              </a:rPr>
              <a:t>-0.2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08376"/>
            <a:ext cx="292608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15468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  Learned (ACM)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3008376"/>
            <a:ext cx="192024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315468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71.6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3008376"/>
            <a:ext cx="192024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58968" y="315468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71.3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008376"/>
            <a:ext cx="1737360" cy="566928"/>
          </a:xfrm>
          <a:prstGeom prst="rect">
            <a:avLst/>
          </a:prstGeom>
          <a:solidFill>
            <a:srgbClr val="1C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31546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3A8"/>
                </a:solidFill>
              </a:rPr>
              <a:t>-0.3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575304"/>
            <a:ext cx="2926080" cy="566928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3721608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D  LLM text cosine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3575304"/>
            <a:ext cx="1920240" cy="566928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8728" y="372160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79.9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3575304"/>
            <a:ext cx="1920240" cy="566928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58968" y="372160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78.6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3575304"/>
            <a:ext cx="1737360" cy="566928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9208" y="3721608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4D"/>
                </a:solidFill>
              </a:rPr>
              <a:t>-1.3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1371600"/>
            <a:ext cx="3063240" cy="3977639"/>
          </a:xfrm>
          <a:prstGeom prst="rect">
            <a:avLst/>
          </a:prstGeom>
          <a:solidFill>
            <a:srgbClr val="141C2E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153619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</a:rPr>
              <a:t>Key Finding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5712" y="19659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19659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Gate D (text cosine) drops the most (−1.3 pp)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26060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26060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Injected edges are chosen to be text-similar ⟹ D trusts them most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32461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A93A8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32461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Text similarity ≠ semantic label-support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25712" y="38862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0032" y="38862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 &amp; C are most stable (already discount neighbours)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45262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0032" y="452628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Motivation: D needs LLM label-support framing, not raw cosine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069080"/>
            <a:ext cx="8229600" cy="233172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178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Accuracy under stress  (%)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4626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A  Cosine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94560" y="4736592"/>
            <a:ext cx="5492496" cy="109728"/>
          </a:xfrm>
          <a:prstGeom prst="rect">
            <a:avLst/>
          </a:prstGeom>
          <a:solidFill>
            <a:srgbClr val="3A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94560" y="4864608"/>
            <a:ext cx="5444134" cy="109728"/>
          </a:xfrm>
          <a:prstGeom prst="rect">
            <a:avLst/>
          </a:prstGeom>
          <a:solidFill>
            <a:srgbClr val="5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4414" y="48280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78.8%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506577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B  Confidence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94560" y="5175504"/>
            <a:ext cx="4925974" cy="109728"/>
          </a:xfrm>
          <a:prstGeom prst="rect">
            <a:avLst/>
          </a:prstGeom>
          <a:solidFill>
            <a:srgbClr val="3A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4560" y="5303520"/>
            <a:ext cx="4912156" cy="109728"/>
          </a:xfrm>
          <a:prstGeom prst="rect">
            <a:avLst/>
          </a:prstGeom>
          <a:solidFill>
            <a:srgbClr val="5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52436" y="52669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71.1%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550468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C  Learned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94560" y="5614416"/>
            <a:ext cx="4946700" cy="109728"/>
          </a:xfrm>
          <a:prstGeom prst="rect">
            <a:avLst/>
          </a:prstGeom>
          <a:solidFill>
            <a:srgbClr val="3A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94560" y="5742432"/>
            <a:ext cx="4925974" cy="109728"/>
          </a:xfrm>
          <a:prstGeom prst="rect">
            <a:avLst/>
          </a:prstGeom>
          <a:solidFill>
            <a:srgbClr val="5C8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66254" y="57058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71.3%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594360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D  LLM cosine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94560" y="6053328"/>
            <a:ext cx="5520131" cy="109728"/>
          </a:xfrm>
          <a:prstGeom prst="rect">
            <a:avLst/>
          </a:prstGeom>
          <a:solidFill>
            <a:srgbClr val="3A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194560" y="6181344"/>
            <a:ext cx="5430316" cy="10972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70596" y="61447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78.6%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94560" y="6144768"/>
            <a:ext cx="274320" cy="91440"/>
          </a:xfrm>
          <a:prstGeom prst="rect">
            <a:avLst/>
          </a:prstGeom>
          <a:solidFill>
            <a:srgbClr val="3A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14600" y="61264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Clean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6144768"/>
            <a:ext cx="274320" cy="91440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20440" y="612648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Stressed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Seeds=3, Epochs=300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② Heterophily Graph — Texas (WebKB)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Homophily = 30.8%  ·  183 nodes  ·  5 classes  ·  Most neighbour edges cross class boundaries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389888"/>
            <a:ext cx="2606040" cy="237744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Cosine
(GNNGuard)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5000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4D4D"/>
                </a:solidFill>
              </a:rPr>
              <a:t>61.3%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729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4D4D"/>
                </a:solidFill>
              </a:rPr>
              <a:t>Worst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389888"/>
            <a:ext cx="2606040" cy="237744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5448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Confidence
(Mowst)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5000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729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Best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389888"/>
            <a:ext cx="2606040" cy="237744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55448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107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Learned
(ACM)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35000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1729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Tied best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389888"/>
            <a:ext cx="2606040" cy="2377440"/>
          </a:xfrm>
          <a:prstGeom prst="rect">
            <a:avLst/>
          </a:prstGeom>
          <a:solidFill>
            <a:srgbClr val="1A263A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155448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59BFF"/>
                </a:solidFill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cosine
(Ours*)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35000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A93A8"/>
                </a:solidFill>
              </a:rPr>
              <a:t>64.9%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31729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3A8"/>
                </a:solidFill>
              </a:rPr>
              <a:t>≈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7132320" cy="22860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87367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Accuracy on Texas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5719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A  Cosine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590287"/>
            <a:ext cx="3487724" cy="2560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5436" y="455371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61.3%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291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B  Confidence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047487"/>
            <a:ext cx="4614265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1977" y="501091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81.1%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4863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C  Learned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5504687"/>
            <a:ext cx="4614265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1977" y="546811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81.1%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94359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D  LLM cosine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5961887"/>
            <a:ext cx="3692550" cy="256032"/>
          </a:xfrm>
          <a:prstGeom prst="rect">
            <a:avLst/>
          </a:prstGeom>
          <a:solidFill>
            <a:srgbClr val="8A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0262" y="5925311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64.9%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977639"/>
            <a:ext cx="4160520" cy="2286000"/>
          </a:xfrm>
          <a:prstGeom prst="rect">
            <a:avLst/>
          </a:prstGeom>
          <a:solidFill>
            <a:srgbClr val="141C2E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142231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Why D ≈ A on Texas?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2" y="4544567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 Texas has no LLM text embeddings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4946903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 Gate D uses node features as proxy ⟹ same signal as 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5349239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 With real LLM text, D would capture semantic class cues that A cannot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5751575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 B &amp; C outperform both: confidence/learned gates are naturally noise-resistant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00800"/>
            <a:ext cx="11201400" cy="347472"/>
          </a:xfrm>
          <a:prstGeom prst="rect">
            <a:avLst/>
          </a:prstGeom>
          <a:solidFill>
            <a:srgbClr val="0D182E"/>
          </a:solidFill>
          <a:ln w="1270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4373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Take-away:  On heterophily, confidence/learned gates dominate. LLM semantic (D) needs real text embeddings — unavailable here — to exceed this bar.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6934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Seeds=3, Epochs=300  ·  * D_llm uses node features as text-embedding proxy on Texas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Experiment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3A8"/>
                </a:solidFill>
              </a:rPr>
              <a:t>Both stress conditions converge on the same gap — and the same fix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1016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325880"/>
            <a:ext cx="2651760" cy="25146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904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 Cosine
(GNNGuard)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① Injection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32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3A8"/>
                </a:solidFill>
              </a:rPr>
              <a:t>−0.8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② Texas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003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D4D"/>
                </a:solidFill>
              </a:rPr>
              <a:t>61.3%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3337560"/>
            <a:ext cx="2322576" cy="34747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7413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Fails heterophily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1325880"/>
            <a:ext cx="2651760" cy="25146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4904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  Confidence
(Mowst)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① Injection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32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3A8"/>
                </a:solidFill>
              </a:rPr>
              <a:t>−0.2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② Texas acc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003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337560"/>
            <a:ext cx="2322576" cy="34747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337413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3A8"/>
                </a:solidFill>
              </a:rPr>
              <a:t>Stable but no 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1325880"/>
            <a:ext cx="2651760" cy="2514600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4904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  Learned
(ACM)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① Injection 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532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A93A8"/>
                </a:solidFill>
              </a:rPr>
              <a:t>−0.3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② Texas acc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2003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81.1%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3337560"/>
            <a:ext cx="2322576" cy="34747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337413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3A8"/>
                </a:solidFill>
              </a:rPr>
              <a:t>Stable but no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61704" y="1325880"/>
            <a:ext cx="2651760" cy="2514600"/>
          </a:xfrm>
          <a:prstGeom prst="rect">
            <a:avLst/>
          </a:prstGeom>
          <a:solidFill>
            <a:srgbClr val="1A26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14904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D  LLM text cosine
(Ours*)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240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① Injection drop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2532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D4D"/>
                </a:solidFill>
              </a:rPr>
              <a:t>−1.3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8"/>
                </a:solidFill>
              </a:rPr>
              <a:t>② Texas acc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2003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D4D"/>
                </a:solidFill>
              </a:rPr>
              <a:t>64.9%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26296" y="3337560"/>
            <a:ext cx="2322576" cy="34747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374136"/>
            <a:ext cx="2249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Needs label-support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069080"/>
            <a:ext cx="11201400" cy="2514600"/>
          </a:xfrm>
          <a:prstGeom prst="rect">
            <a:avLst/>
          </a:prstGeom>
          <a:solidFill>
            <a:srgbClr val="101A2E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33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59BFF"/>
                </a:solidFill>
              </a:rPr>
              <a:t>The Gap  →  The Fix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70916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Text similarity ≠ semantic support  —  Gate D (cosine) trusts text-similar neighbours — exactly the injected deceptive edges. High cosine similarity does not imply same-class or helpful for classification.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367528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A93A8"/>
                </a:solidFill>
              </a:rPr>
              <a:t>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3675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Confidence &amp; learned gates resist injection but lack text understanding  —  B and C are most stable under injection, but they cannot leverage LLM knowledge about category semantics — they generalise by ignoring neighbours, not by understanding them.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025896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602589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The fix: LLM label-support framing (our full proposal)  —  Ask the LLM 'Is this neighbour supportive / irrelevant / misleading for predicting centre class X?' — a binary semantic judgment, not cosine. This should resist injection (text-similar ≠ same-class in LLM eyes) while retaining text understanding on heterophily.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656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* Proper D (LLM label-support) is the proposed contribution — these results motivate why it is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