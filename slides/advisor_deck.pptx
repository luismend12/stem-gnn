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E293B"/>
                </a:solidFill>
              </a:rPr>
              <a:t>LLM-Guided Semantic Trust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</a:rPr>
              <a:t>Using frozen LLM text signals to control how much each GNN node trusts its neighbours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3383280"/>
            <a:ext cx="192024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3410712"/>
            <a:ext cx="1920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BOW backbone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3383280"/>
            <a:ext cx="192024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3410712"/>
            <a:ext cx="1920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LLM gate oracle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3383280"/>
            <a:ext cx="192024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410712"/>
            <a:ext cx="1920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9 gate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02336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Backbone: GraphSAGE on original BOW features  ·  Gate: frozen DistilBERT (768-dim) on raw text
Datasets: Cora (1433-dim BOW)  ·  PubMed (500-dim BOW)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E"/>
                </a:solidFill>
              </a:rPr>
              <a:t>Why do GNNs need a semantic trust gate?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577840" cy="2468880"/>
          </a:xfrm>
          <a:prstGeom prst="rect">
            <a:avLst/>
          </a:prstGeom>
          <a:solidFill>
            <a:srgbClr val="FFF0F0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1612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</a:rPr>
              <a:t>Problem 1: Confusing edge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581912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An attacker connects nodes with similar text but different labels. Standard GNNs blindly aggregate wrong-class features, degrading accuracy.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4231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BOW baseline: −6.5 pp at 50% injection on PubMed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6792" y="1097280"/>
            <a:ext cx="5577840" cy="2468880"/>
          </a:xfrm>
          <a:prstGeom prst="rect">
            <a:avLst/>
          </a:prstGeom>
          <a:solidFill>
            <a:srgbClr val="F0F4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1612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</a:rPr>
              <a:t>Problem 2: Heterophilic graphs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In heterophilic graphs (h &lt; 0.4), most neighbours belong to different classes. Aggregating equally hurts — the node should trust itself more.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231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Texas h=0.31  ·  Wisconsin h=0.37  ·  Cornell h=0.34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49039"/>
            <a:ext cx="11640312" cy="1920240"/>
          </a:xfrm>
          <a:prstGeom prst="rect">
            <a:avLst/>
          </a:prstGeom>
          <a:solidFill>
            <a:srgbClr val="F0FFF6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22191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</a:rPr>
              <a:t>Solution: Per-node trust gate β_v from LLM text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6110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h_v = β_v · W_self(x_v)  +  (1−β_v) · W_neigh(mean x_u)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8172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β_v → 1 : trust self  (node text differs from neighbours — heterophilic or attacked)
β_v → 0 : trust neighbours  (node text aligns with neighbours — safe homophilic region)
Gate computed from FROZEN LLM embeddings of raw text — fully decoupled from GNN backbone.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E"/>
                </a:solidFill>
              </a:rPr>
              <a:t>Backbone and gate are fully decoupled — LLM never touches node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1078992"/>
            <a:ext cx="256032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1783080"/>
            <a:ext cx="256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BACKBONE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3977639"/>
            <a:ext cx="256032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4681728"/>
            <a:ext cx="256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LLM 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2103120" cy="1645920"/>
          </a:xfrm>
          <a:prstGeom prst="rect">
            <a:avLst/>
          </a:prstGeom>
          <a:solidFill>
            <a:srgbClr val="F1F5F9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399032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Node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</a:rPr>
              <a:t>BOW vectors
(original features)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468880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Cora: 1433-dim  |  PubMed: 500-dim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1234440"/>
            <a:ext cx="2377440" cy="1645920"/>
          </a:xfrm>
          <a:prstGeom prst="rect">
            <a:avLst/>
          </a:prstGeom>
          <a:solidFill>
            <a:srgbClr val="EBF2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0" y="1234440"/>
            <a:ext cx="237744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127101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563EB"/>
                </a:solidFill>
              </a:rPr>
              <a:t>GNN Backbone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167128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</a:rPr>
              <a:t>GraphSAGE
(GCN or GraphSAGE)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234440"/>
            <a:ext cx="2103120" cy="1645920"/>
          </a:xfrm>
          <a:prstGeom prst="rect">
            <a:avLst/>
          </a:prstGeom>
          <a:solidFill>
            <a:srgbClr val="F1F5F9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399032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Node Repr.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013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93B"/>
                </a:solidFill>
              </a:rPr>
              <a:t>h_v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774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</a:rPr>
              <a:t>128-dim hidden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64040" y="1234440"/>
            <a:ext cx="2103120" cy="1645920"/>
          </a:xfrm>
          <a:prstGeom prst="rect">
            <a:avLst/>
          </a:prstGeom>
          <a:solidFill>
            <a:srgbClr val="FFF7ED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73768" y="1399032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</a:rPr>
              <a:t>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18013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7706"/>
                </a:solidFill>
              </a:rPr>
              <a:t>softmax(W h_v)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3774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</a:rPr>
              <a:t>node label prediction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97480" y="2057400.0"/>
            <a:ext cx="228600" cy="0.0"/>
          </a:xfrm>
          <a:prstGeom prst="line">
            <a:avLst/>
          </a:prstGeom>
          <a:ln w="25400">
            <a:solidFill>
              <a:srgbClr val="1E293B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03520" y="2057400.0"/>
            <a:ext cx="1005840" cy="0.0"/>
          </a:xfrm>
          <a:prstGeom prst="line">
            <a:avLst/>
          </a:prstGeom>
          <a:ln w="25400">
            <a:solidFill>
              <a:srgbClr val="2563EB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12480" y="2057400.0"/>
            <a:ext cx="1051560" cy="0.0"/>
          </a:xfrm>
          <a:prstGeom prst="line">
            <a:avLst/>
          </a:prstGeom>
          <a:ln w="25400">
            <a:solidFill>
              <a:srgbClr val="1E293B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43200" y="17647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x_v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17647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h_v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114800"/>
            <a:ext cx="2103120" cy="1600200"/>
          </a:xfrm>
          <a:prstGeom prst="rect">
            <a:avLst/>
          </a:prstGeom>
          <a:solidFill>
            <a:srgbClr val="F5F3FF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251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</a:rPr>
              <a:t>Raw Node 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64515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</a:rPr>
              <a:t>Paper titles &amp;
abstracts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2852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</a:rPr>
              <a:t>"Neural networks for..."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0" y="4114800"/>
            <a:ext cx="2377440" cy="160020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26080" y="4114800"/>
            <a:ext cx="237744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0" y="415137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FROZEN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46177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</a:rPr>
              <a:t>DistilBERT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50292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</a:rPr>
              <a:t>multi-qa-distilbert-cos-v1
e_v ∈ ℝ^768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4114800"/>
            <a:ext cx="2651760" cy="1600200"/>
          </a:xfrm>
          <a:prstGeom prst="rect">
            <a:avLst/>
          </a:prstGeom>
          <a:solidFill>
            <a:srgbClr val="EDE9FE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4114800"/>
            <a:ext cx="265176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415137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OUR CONTRIBUTION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617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</a:rPr>
              <a:t>Semantic Trust Gate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50292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</a:rPr>
              <a:t>β_v = f( e_v,  mean{e_u} 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53766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β_v ∈ [0, 1]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697480" y="4914900.0"/>
            <a:ext cx="228600" cy="0.0"/>
          </a:xfrm>
          <a:prstGeom prst="line">
            <a:avLst/>
          </a:prstGeom>
          <a:ln w="25400">
            <a:solidFill>
              <a:srgbClr val="7C3AED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303520" y="4914900.0"/>
            <a:ext cx="868680" cy="0.0"/>
          </a:xfrm>
          <a:prstGeom prst="line">
            <a:avLst/>
          </a:prstGeom>
          <a:ln w="25400">
            <a:solidFill>
              <a:srgbClr val="7C3AED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743200" y="46405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C3AED"/>
                </a:solidFill>
              </a:rPr>
              <a:t>text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9240" y="46405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e_v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7498080.0" y="2880360"/>
            <a:ext cx="0.0" cy="1234440"/>
          </a:xfrm>
          <a:prstGeom prst="line">
            <a:avLst/>
          </a:prstGeom>
          <a:ln w="31750">
            <a:solidFill>
              <a:srgbClr val="7C3AED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571232" y="32918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β_v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0" y="1097280"/>
            <a:ext cx="3611880" cy="4663440"/>
          </a:xfrm>
          <a:prstGeom prst="rect">
            <a:avLst/>
          </a:prstGeom>
          <a:solidFill>
            <a:srgbClr val="F8FA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49640" y="11887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</a:rPr>
              <a:t>Gating equation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16276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</a:rPr>
              <a:t>h_v  =  β_v · W_self(x_v)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9640" y="19933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</a:rPr>
              <a:t>+  (1−β_v) · W_neigh(mean x_u)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49640" y="2441448"/>
            <a:ext cx="3291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549640" y="2578608"/>
            <a:ext cx="100584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49640" y="2606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β_v → 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46920" y="26151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trust self (attack / heterophily)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49640" y="3218688"/>
            <a:ext cx="100584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49640" y="3246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β_v → 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46920" y="32552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trust neighbours (safe / homophilic)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49640" y="3858768"/>
            <a:ext cx="1005840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49640" y="38862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β_v = 0.5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46920" y="38953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balanced blend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9640" y="459028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Gate variants (all LLM-based):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49640" y="491947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C3AED"/>
                </a:solidFill>
              </a:rPr>
              <a:t>• C — MLP  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49640" y="521208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C3AED"/>
                </a:solidFill>
              </a:rPr>
              <a:t>• D — Variance  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49640" y="550468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C3AED"/>
                </a:solidFill>
              </a:rPr>
              <a:t>• G — Bilinear  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49640" y="579729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C3AED"/>
                </a:solidFill>
              </a:rPr>
              <a:t>• I — Cosine std  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9 LLM Gate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E"/>
                </a:solidFill>
              </a:rPr>
              <a:t>All β_v computed purely from frozen DistilBERT embeddings — no GNN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115568"/>
            <a:ext cx="11823192" cy="566928"/>
          </a:xfrm>
          <a:prstGeom prst="rect">
            <a:avLst/>
          </a:prstGeom>
          <a:solidFill>
            <a:srgbClr val="F8FA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225296"/>
            <a:ext cx="384048" cy="3291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252728"/>
            <a:ext cx="3840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24358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LLM cosine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24358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40AF"/>
                </a:solidFill>
              </a:rPr>
              <a:t>1 − σ(cos(e_v, mean{e_u}))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4358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Direct alignment: is node text similar to avg neighbour?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723644"/>
            <a:ext cx="11823192" cy="566928"/>
          </a:xfrm>
          <a:prstGeom prst="rect">
            <a:avLst/>
          </a:prstGeom>
          <a:solidFill>
            <a:srgbClr val="F8FA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833372"/>
            <a:ext cx="384048" cy="3291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860804"/>
            <a:ext cx="3840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8516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LLM entropy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18516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40AF"/>
                </a:solidFill>
              </a:rPr>
              <a:t>H(softmax(e_v·e_u)) / log(deg)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85166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Confusion: is attention spread (uncertain) or peaked?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331720"/>
            <a:ext cx="11823192" cy="566928"/>
          </a:xfrm>
          <a:prstGeom prst="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2441448"/>
            <a:ext cx="384048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2468880"/>
            <a:ext cx="3840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5973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★ LLM MLP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4597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40AF"/>
                </a:solidFill>
              </a:rPr>
              <a:t>σ(MLP(e_v ‖ mean{e_u}))  [learned]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59736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Learned combination of node + neighbour embeddings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939796"/>
            <a:ext cx="11823192" cy="566928"/>
          </a:xfrm>
          <a:prstGeom prst="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3049524"/>
            <a:ext cx="384048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" y="3076956"/>
            <a:ext cx="3840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06781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★ LLM variance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306781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40AF"/>
                </a:solidFill>
              </a:rPr>
              <a:t>σ(10 · mean ‖e_u − μ‖²)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06781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How spread are neighbour LLM embeddings?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547872"/>
            <a:ext cx="11823192" cy="566928"/>
          </a:xfrm>
          <a:prstGeom prst="rect">
            <a:avLst/>
          </a:prstGeom>
          <a:solidFill>
            <a:srgbClr val="F8FA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" y="3657600"/>
            <a:ext cx="384048" cy="3291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" y="3685032"/>
            <a:ext cx="3840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6758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LLM max cosine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367588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40AF"/>
                </a:solidFill>
              </a:rPr>
              <a:t>1 − max_u cos(e_v, e_u)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67588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Single closest neighbour instead of mean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4155948"/>
            <a:ext cx="11823192" cy="566928"/>
          </a:xfrm>
          <a:prstGeom prst="rect">
            <a:avLst/>
          </a:prstGeom>
          <a:solidFill>
            <a:srgbClr val="F8FA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6032" y="4265676"/>
            <a:ext cx="384048" cy="3291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" y="4293108"/>
            <a:ext cx="3840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428396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Neighbour agree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428396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40AF"/>
                </a:solidFill>
              </a:rPr>
              <a:t>1 − ‖mean{e_u}‖²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28396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Do neighbours agree with each other?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4764024"/>
            <a:ext cx="11823192" cy="566928"/>
          </a:xfrm>
          <a:prstGeom prst="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56032" y="4873752"/>
            <a:ext cx="384048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032" y="4901184"/>
            <a:ext cx="3840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489204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★ LLM bilinear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97480" y="489204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40AF"/>
                </a:solidFill>
              </a:rPr>
              <a:t>σ(e_v^T U^T V mean{e_u})  [learned]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489204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Low-rank learned asymmetric similarity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5372100"/>
            <a:ext cx="11823192" cy="566928"/>
          </a:xfrm>
          <a:prstGeom prst="rect">
            <a:avLst/>
          </a:prstGeom>
          <a:solidFill>
            <a:srgbClr val="F8FA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56032" y="5481828"/>
            <a:ext cx="384048" cy="3291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" y="5509260"/>
            <a:ext cx="3840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8" y="55001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LLM top-k cosine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97480" y="550011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40AF"/>
                </a:solidFill>
              </a:rPr>
              <a:t>1 − mean cos(e_v, top-3 e_u)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5500116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Filtered: ignore outlier neighbours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5980176"/>
            <a:ext cx="11823192" cy="566928"/>
          </a:xfrm>
          <a:prstGeom prst="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56032" y="6089904"/>
            <a:ext cx="384048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6032" y="6117336"/>
            <a:ext cx="3840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8" y="610819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★ Cosine std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97480" y="61081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40AF"/>
                </a:solidFill>
              </a:rPr>
              <a:t>σ(std{ cos(e_v, e_u) })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610819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Spread of per-edge cosines = uncertainty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2880" y="6510528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★ = robust under injection attack (validated on Cora + PubMed)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9 Gate Signals Under Injection Attack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E"/>
                </a:solidFill>
              </a:rPr>
              <a:t>BOW backbone (GraphSAGE) + frozen LLM gate oracle — Cora &amp; PubMed</a:t>
            </a:r>
          </a:p>
        </p:txBody>
      </p:sp>
      <p:pic>
        <p:nvPicPr>
          <p:cNvPr id="5" name="Picture 4" descr="llm_gates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24128"/>
            <a:ext cx="11914632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E"/>
                </a:solidFill>
              </a:rPr>
              <a:t>What the 9-gate sweep reveals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115568"/>
            <a:ext cx="11786616" cy="1325880"/>
          </a:xfrm>
          <a:prstGeom prst="rect">
            <a:avLst/>
          </a:prstGeom>
          <a:solidFill>
            <a:srgbClr val="F8FA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15568"/>
            <a:ext cx="201168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2070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★ Uncertainty gates are most robust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591056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Gates measuring spread/uncertainty of LLM embeddings — C (MLP), D (variance), G (bilinear), I (cosine-std) — lose only 0.2–3.4 pp vs 6.5 pp baseline drop on PubMed. D (variance) even slightly improves (+0.2 pp).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2551176"/>
            <a:ext cx="11786616" cy="1325880"/>
          </a:xfrm>
          <a:prstGeom prst="rect">
            <a:avLst/>
          </a:prstGeom>
          <a:solidFill>
            <a:srgbClr val="F8FA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2551176"/>
            <a:ext cx="201168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64261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✗ Similarity gates amplify the attack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3026664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Gates based on direct text similarity (A cosine, E max-cosine, H top-k) trust injected confusing edges — they see high LLM similarity and lower β_v, aggregating wrong-class features. Drop up to −12.4 pp (worse than no gate).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3986784"/>
            <a:ext cx="11786616" cy="1325880"/>
          </a:xfrm>
          <a:prstGeom prst="rect">
            <a:avLst/>
          </a:prstGeom>
          <a:solidFill>
            <a:srgbClr val="F8FA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3986784"/>
            <a:ext cx="201168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4078224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→ Decoupling backbone from gate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4462272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Using frozen LLM embeddings as a pure semantic oracle separate from the BOW backbone allows the GNN to stay clean while the gate provides external text-level reasoning. Learned gates (C, G) train a lightweight head without touching backbone features.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5422392"/>
            <a:ext cx="11786616" cy="1325880"/>
          </a:xfrm>
          <a:prstGeom prst="rect">
            <a:avLst/>
          </a:prstGeom>
          <a:solidFill>
            <a:srgbClr val="F8FA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" y="5422392"/>
            <a:ext cx="201168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55138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→ Open question: Cora vs PubMed alignment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589788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Gates C/D/G underperform on Cora (59–75% vs 79% baseline). Hypothesis: 1433-dim Cora BOW and 768-dim LLM embeddings span misaligned spaces. Cross-modal projection may close this 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Research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E"/>
                </a:solidFill>
              </a:rPr>
              <a:t>Next steps based on the 9-gate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115568"/>
            <a:ext cx="11786616" cy="1737360"/>
          </a:xfrm>
          <a:prstGeom prst="rect">
            <a:avLst/>
          </a:prstGeom>
          <a:solidFill>
            <a:srgbClr val="F8FA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15568"/>
            <a:ext cx="1280160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682496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Short
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271016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Run best 4 gates (C, D, G, I) on heterophilic datasets: Texas / Wisconsin / Cornell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7830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Add cross-modal projection layer to align BOW ↔ LLM spaces (fixes Cora gap)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29514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Formal comparison vs GNNGuard and H2GCN on injection robustness benchmark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2999232"/>
            <a:ext cx="11786616" cy="1737360"/>
          </a:xfrm>
          <a:prstGeom prst="rect">
            <a:avLst/>
          </a:prstGeom>
          <a:solidFill>
            <a:srgbClr val="F8FA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8" y="2999232"/>
            <a:ext cx="1280160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356616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Medium
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1546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Ensemble top gates: learned mixture-of-signals router over (C, D, G, 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66674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Extend to dynamic graphs where text changes over time (gate recomputed on-the-fly)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17880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Theoretical analysis: when does text similarity ≠ structural trust?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4882896"/>
            <a:ext cx="11786616" cy="1737360"/>
          </a:xfrm>
          <a:prstGeom prst="rect">
            <a:avLst/>
          </a:prstGeom>
          <a:solidFill>
            <a:srgbClr val="F8FA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" y="4882896"/>
            <a:ext cx="1280160" cy="17373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5449824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Long
term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03834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Replace DistilBERT with instruction-tuned LLM (Llama-3, GPT-4o) for richer 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55040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Train gate jointly with backbone end-to-end (currently frozen / decoupled)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606247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Apply to knowledge graphs, social networks, and citation networks with rich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