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Expert 1</c:v>
                </c:pt>
              </c:strCache>
            </c:strRef>
          </c:tx>
          <c:spPr>
            <a:solidFill>
              <a:srgbClr val="E3494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Expert usage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Expert 2</c:v>
                </c:pt>
              </c:strCache>
            </c:strRef>
          </c:tx>
          <c:spPr>
            <a:solidFill>
              <a:srgbClr val="2C2C2A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Expert usage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Expert 3</c:v>
                </c:pt>
              </c:strCache>
            </c:strRef>
          </c:tx>
          <c:spPr>
            <a:solidFill>
              <a:srgbClr val="2C2C2A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Expert usage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Expert 1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Expert usage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Expert 2</c:v>
                </c:pt>
              </c:strCache>
            </c:strRef>
          </c:tx>
          <c:spPr>
            <a:solidFill>
              <a:srgbClr val="1BAF7A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Expert usage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Expert 3</c:v>
                </c:pt>
              </c:strCache>
            </c:strRef>
          </c:tx>
          <c:spPr>
            <a:solidFill>
              <a:srgbClr val="EDA100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Expert usage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0.15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ID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Degree Shift</c:v>
                </c:pt>
                <c:pt idx="1">
                  <c:v>Homophily Shift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89.69</c:v>
                </c:pt>
                <c:pt idx="1">
                  <c:v>89.73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OOD-low</c:v>
                </c:pt>
              </c:strCache>
            </c:strRef>
          </c:tx>
          <c:spPr>
            <a:solidFill>
              <a:srgbClr val="1BAF7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Degree Shift</c:v>
                </c:pt>
                <c:pt idx="1">
                  <c:v>Homophily Shift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88.0</c:v>
                </c:pt>
                <c:pt idx="1">
                  <c:v>84.79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OOD-high</c:v>
                </c:pt>
              </c:strCache>
            </c:strRef>
          </c:tx>
          <c:spPr>
            <a:solidFill>
              <a:srgbClr val="EDA1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Degree Shift</c:v>
                </c:pt>
                <c:pt idx="1">
                  <c:v>Homophily Shift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89.51</c:v>
                </c:pt>
                <c:pt idx="1">
                  <c:v>91.96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1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0"/>
          <c:min val="80.0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98781"/>
                </a:solidFill>
              </a:defRPr>
            </a:pPr>
          </a:p>
        </c:txPr>
        <c:crossAx val="-2068027336"/>
        <c:crosses val="autoZero"/>
      </c:valAx>
    </c:plotArea>
    <c:legend>
      <c:txPr>
        <a:bodyPr/>
        <a:lstStyle/>
        <a:p>
          <a:pPr>
            <a:defRPr sz="900">
              <a:solidFill>
                <a:srgbClr val="52514E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ID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Degree Shift</c:v>
                </c:pt>
                <c:pt idx="1">
                  <c:v>Homophily Shift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83.56</c:v>
                </c:pt>
                <c:pt idx="1">
                  <c:v>80.68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OOD-low</c:v>
                </c:pt>
              </c:strCache>
            </c:strRef>
          </c:tx>
          <c:spPr>
            <a:solidFill>
              <a:srgbClr val="1BAF7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Degree Shift</c:v>
                </c:pt>
                <c:pt idx="1">
                  <c:v>Homophily Shift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73.13</c:v>
                </c:pt>
                <c:pt idx="1">
                  <c:v>76.75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OOD-high</c:v>
                </c:pt>
              </c:strCache>
            </c:strRef>
          </c:tx>
          <c:spPr>
            <a:solidFill>
              <a:srgbClr val="EDA1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Degree Shift</c:v>
                </c:pt>
                <c:pt idx="1">
                  <c:v>Homophily Shift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85.86</c:v>
                </c:pt>
                <c:pt idx="1">
                  <c:v>82.31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1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0"/>
          <c:min val="68.0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98781"/>
                </a:solidFill>
              </a:defRPr>
            </a:pPr>
          </a:p>
        </c:txPr>
        <c:crossAx val="-2068027336"/>
        <c:crosses val="autoZero"/>
      </c:valAx>
    </c:plotArea>
    <c:legend>
      <c:txPr>
        <a:bodyPr/>
        <a:lstStyle/>
        <a:p>
          <a:pPr>
            <a:defRPr sz="900">
              <a:solidFill>
                <a:srgbClr val="52514E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86B6EF"/>
                </a:solidFill>
              </a:rPr>
              <a:t>STEM-GNN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029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86B6EF"/>
                </a:solidFill>
              </a:rPr>
              <a:t>Mixture-of-Experts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5029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86B6EF"/>
                </a:solidFill>
              </a:rPr>
              <a:t>OOD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49807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LLM-Guided MoE for OOD-Robust
Graph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6B6EF"/>
                </a:solidFill>
              </a:rPr>
              <a:t>Pre-trained text embeddings guide expert routing, preventing collapse and improving generalization across 5 out-of-distribution benchmarks on Pubmed, WikiCS &amp; Arxiv.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3987E5"/>
                </a:solidFill>
              </a:rPr>
              <a:t>89.7%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6B6EF"/>
                </a:solidFill>
              </a:rPr>
              <a:t>Pubmed ID Acc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29184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199E70"/>
                </a:solidFill>
              </a:rPr>
              <a:t>88.0%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84048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6B6EF"/>
                </a:solidFill>
              </a:rPr>
              <a:t>Pubmed OOD-low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29184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3987E5"/>
                </a:solidFill>
              </a:rPr>
              <a:t>83.6%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84048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6B6EF"/>
                </a:solidFill>
              </a:rPr>
              <a:t>WikiCS ID Acc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29184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199E70"/>
                </a:solidFill>
              </a:rPr>
              <a:t>73.1%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84048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6B6EF"/>
                </a:solidFill>
              </a:rPr>
              <a:t>WikiCS OOD-low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06101E"/>
          </a:solidFill>
          <a:ln w="9525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6576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86B6EF"/>
                </a:solidFill>
              </a:rPr>
              <a:t>EXPERT COLLAPSE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621792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2514E"/>
                </a:solidFill>
              </a:rPr>
              <a:t>Before vs. After Entropy Reg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05156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6B6EF"/>
                </a:solidFill>
              </a:rPr>
              <a:t>Without λ_env (collapsed)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8412480" y="1234440"/>
          <a:ext cx="3657600" cy="822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595360" y="224028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6B6EF"/>
                </a:solidFill>
              </a:rPr>
              <a:t>With λ_env = 0.1 (ours)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8412480" y="2423160"/>
          <a:ext cx="3657600" cy="822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595360" y="365760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898781"/>
                </a:solidFill>
              </a:rPr>
              <a:t>ROUTING SHIFT (TV DISTANCE)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88620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1BAF7A"/>
                </a:solidFill>
              </a:rPr>
              <a:t>&lt; 0.05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43484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98781"/>
                </a:solidFill>
              </a:rPr>
              <a:t>ID → OOD stays stable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0B0B0B"/>
                </a:solidFill>
              </a:rPr>
              <a:t>GNNs Degrade Under Structural Distribution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</a:rPr>
              <a:t>Node representations depend on graph neighborhood — so the same node looks different under degree or homophily shift. Five benchmarks stress-test different failure modes.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5 OOD BENCHMARK TYPES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581912"/>
            <a:ext cx="109728" cy="109728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0B0B"/>
                </a:solidFill>
              </a:rPr>
              <a:t>Degree Shift</a:t>
            </a:r>
          </a:p>
          <a:p>
            <a:r>
              <a:rPr sz="900">
                <a:solidFill>
                  <a:srgbClr val="52514E"/>
                </a:solidFill>
              </a:rPr>
              <a:t>Bottom/top 15% nodes by degree → OOD-low/OOD-high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03704"/>
            <a:ext cx="109728" cy="109728"/>
          </a:xfrm>
          <a:prstGeom prst="ellipse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30552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0B0B"/>
                </a:solidFill>
              </a:rPr>
              <a:t>Homophily Shift</a:t>
            </a:r>
          </a:p>
          <a:p>
            <a:r>
              <a:rPr sz="900">
                <a:solidFill>
                  <a:srgbClr val="52514E"/>
                </a:solidFill>
              </a:rPr>
              <a:t>Nodes with few vs. many same-class neighbors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825496"/>
            <a:ext cx="109728" cy="109728"/>
          </a:xfrm>
          <a:prstGeom prst="ellipse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52344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0B0B"/>
                </a:solidFill>
              </a:rPr>
              <a:t>Missing Features (p=0.4)</a:t>
            </a:r>
          </a:p>
          <a:p>
            <a:r>
              <a:rPr sz="900">
                <a:solidFill>
                  <a:srgbClr val="52514E"/>
                </a:solidFill>
              </a:rPr>
              <a:t>40% of node text embeddings masked at test time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447288"/>
            <a:ext cx="109728" cy="109728"/>
          </a:xfrm>
          <a:prstGeom prst="ellipse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74136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0B0B"/>
                </a:solidFill>
              </a:rPr>
              <a:t>Random Edge Drop (p=0.2)</a:t>
            </a:r>
          </a:p>
          <a:p>
            <a:r>
              <a:rPr sz="900">
                <a:solidFill>
                  <a:srgbClr val="52514E"/>
                </a:solidFill>
              </a:rPr>
              <a:t>20% of edges removed at test time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069080"/>
            <a:ext cx="109728" cy="109728"/>
          </a:xfrm>
          <a:prstGeom prst="ellipse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95928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0B0B"/>
                </a:solidFill>
              </a:rPr>
              <a:t>Tri-Objective</a:t>
            </a:r>
          </a:p>
          <a:p>
            <a:r>
              <a:rPr sz="900">
                <a:solidFill>
                  <a:srgbClr val="52514E"/>
                </a:solidFill>
              </a:rPr>
              <a:t>Jointly optimize accuracy + fairness + calibration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325880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CORE PROBLEM: EXPERT COLLAPSE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508760"/>
            <a:ext cx="5760720" cy="1005840"/>
          </a:xfrm>
          <a:prstGeom prst="rect">
            <a:avLst/>
          </a:prstGeom>
          <a:solidFill>
            <a:srgbClr val="FFF5F5"/>
          </a:solidFill>
          <a:ln w="9525">
            <a:solidFill>
              <a:srgbClr val="FC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34948"/>
                </a:solidFill>
              </a:rPr>
              <a:t>Without Entropy Regularization</a:t>
            </a:r>
          </a:p>
          <a:p>
            <a:r>
              <a:rPr sz="1000">
                <a:solidFill>
                  <a:srgbClr val="52514E"/>
                </a:solidFill>
              </a:rPr>
              <a:t>Without entropy regularization: router assigns ~100% of nodes to one expert (max_usage ≈ 1.000). MoE collapses to a standard GNN — no diverse specialization.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606040"/>
            <a:ext cx="5760720" cy="1005840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5C41"/>
                </a:solidFill>
              </a:rPr>
              <a:t>With λ_env = 0.1 (Entropy Regularization)</a:t>
            </a:r>
          </a:p>
          <a:p>
            <a:r>
              <a:rPr sz="1000">
                <a:solidFill>
                  <a:srgbClr val="52514E"/>
                </a:solidFill>
              </a:rPr>
              <a:t>Layer 0 max_usage drops to 0.62 ± 0.16. Experts genuinely specialize. Routing TV distance ID → OOD &lt; 0.05 — stable under distribution shift.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703320"/>
            <a:ext cx="5760720" cy="1005840"/>
          </a:xfrm>
          <a:prstGeom prst="rect">
            <a:avLst/>
          </a:prstGeom>
          <a:solidFill>
            <a:srgbClr val="F0F4FF"/>
          </a:solidFill>
          <a:ln w="9525">
            <a:solidFill>
              <a:srgbClr val="BC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C5CAB"/>
                </a:solidFill>
              </a:rPr>
              <a:t>LLM-Direct Routing (New)</a:t>
            </a:r>
          </a:p>
          <a:p>
            <a:r>
              <a:rPr sz="1000">
                <a:solidFill>
                  <a:srgbClr val="52514E"/>
                </a:solidFill>
              </a:rPr>
              <a:t>Route using frozen 768-dim text embeddings instead of GNN hidden states. Same paper text → same expert, regardless of graph neighborhood topology.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0B0B0B"/>
                </a:solidFill>
              </a:rPr>
              <a:t>STEM-GNN: Pre-trained Text Embeddings + MoE Encoder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</a:rPr>
              <a:t>The LLM is used offline only — it produces fixed 768-dim embeddings per node. The GNN then learns over these frozen features during pretrain and finetune.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777240"/>
          </a:xfrm>
          <a:prstGeom prst="rect">
            <a:avLst/>
          </a:prstGeom>
          <a:solidFill>
            <a:srgbClr val="E8F0FB"/>
          </a:solidFill>
          <a:ln w="9525">
            <a:solidFill>
              <a:srgbClr val="BC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898781"/>
                </a:solidFill>
              </a:rPr>
              <a:t>NODE TEXT</a:t>
            </a:r>
          </a:p>
          <a:p>
            <a:r>
              <a:rPr sz="1000" b="1">
                <a:solidFill>
                  <a:srgbClr val="1C5CAB"/>
                </a:solidFill>
              </a:rPr>
              <a:t>"Paper abstract…"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1600200"/>
            <a:ext cx="256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C3C2B7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2011680" cy="777240"/>
          </a:xfrm>
          <a:prstGeom prst="rect">
            <a:avLst/>
          </a:prstGeom>
          <a:solidFill>
            <a:srgbClr val="E8F0FB"/>
          </a:solidFill>
          <a:ln w="9525">
            <a:solidFill>
              <a:srgbClr val="BC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898781"/>
                </a:solidFill>
              </a:rPr>
              <a:t>LLM (OFFLINE)</a:t>
            </a:r>
          </a:p>
          <a:p>
            <a:r>
              <a:rPr sz="1000" b="1">
                <a:solidFill>
                  <a:srgbClr val="1C5CAB"/>
                </a:solidFill>
              </a:rPr>
              <a:t>SentenceTransformer
768-dim · frozen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168" y="1600200"/>
            <a:ext cx="256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C3C2B7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371600"/>
            <a:ext cx="2011680" cy="777240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898781"/>
                </a:solidFill>
              </a:rPr>
              <a:t>MoE GNN ENCODER</a:t>
            </a:r>
          </a:p>
          <a:p>
            <a:r>
              <a:rPr sz="1000" b="1">
                <a:solidFill>
                  <a:srgbClr val="0A5C41"/>
                </a:solidFill>
              </a:rPr>
              <a:t>Router → K=3 Experts
SAGEConv per expert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1600200"/>
            <a:ext cx="256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C3C2B7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371600"/>
            <a:ext cx="2011680" cy="777240"/>
          </a:xfrm>
          <a:prstGeom prst="rect">
            <a:avLst/>
          </a:prstGeom>
          <a:solidFill>
            <a:srgbClr val="FEF3E0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898781"/>
                </a:solidFill>
              </a:rPr>
              <a:t>VQ CODEBOOK</a:t>
            </a:r>
          </a:p>
          <a:p>
            <a:r>
              <a:rPr sz="1000" b="1">
                <a:solidFill>
                  <a:srgbClr val="7A5400"/>
                </a:solidFill>
              </a:rPr>
              <a:t>128 discrete codes
multi-head (4)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1600200"/>
            <a:ext cx="256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C3C2B7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371600"/>
            <a:ext cx="2011680" cy="777240"/>
          </a:xfrm>
          <a:prstGeom prst="rect">
            <a:avLst/>
          </a:prstGeom>
          <a:solidFill>
            <a:srgbClr val="F5F0FF"/>
          </a:solidFill>
          <a:ln w="9525">
            <a:solidFill>
              <a:srgbClr val="D3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800" b="1">
                <a:solidFill>
                  <a:srgbClr val="898781"/>
                </a:solidFill>
              </a:rPr>
              <a:t>LINEAR HEAD</a:t>
            </a:r>
          </a:p>
          <a:p>
            <a:r>
              <a:rPr sz="1000" b="1">
                <a:solidFill>
                  <a:srgbClr val="4A3AA7"/>
                </a:solidFill>
              </a:rPr>
              <a:t>Node classification
fine-tuned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77440"/>
            <a:ext cx="3749039" cy="4160520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100" b="1">
                <a:solidFill>
                  <a:srgbClr val="0A5C41"/>
                </a:solidFill>
              </a:rPr>
              <a:t>① Entropy Regularization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2514E"/>
                </a:solidFill>
              </a:rPr>
              <a:t>Adds entropy penalty to router distribution to force load balancing.
L_total += −λ · H(router_probs)
max_usage: 1.000 (no reg) → 0.62 (λ=0.1)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2377440"/>
            <a:ext cx="3749039" cy="4160520"/>
          </a:xfrm>
          <a:prstGeom prst="rect">
            <a:avLst/>
          </a:prstGeom>
          <a:solidFill>
            <a:srgbClr val="E8F0FB"/>
          </a:solidFill>
          <a:ln w="9525">
            <a:solidFill>
              <a:srgbClr val="BC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100" b="1">
                <a:solidFill>
                  <a:srgbClr val="1C5CAB"/>
                </a:solidFill>
              </a:rPr>
              <a:t>② LLM-Direct Router  [NEW]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2514E"/>
                </a:solidFill>
              </a:rPr>
              <a:t>Use frozen text embedding x_orig as router input instead of GNN hidden state z.
# GNN router (default)
logits = W · z
# LLM router
logits = W · x_orig  # frozen
Property: same text → same expert, regardless of graph topology.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8" y="2377440"/>
            <a:ext cx="3749039" cy="4160520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100" b="1">
                <a:solidFill>
                  <a:srgbClr val="52514E"/>
                </a:solidFill>
              </a:rPr>
              <a:t>③ Expert Semantic Purity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2514E"/>
                </a:solidFill>
              </a:rPr>
              <a:t>Measures how semantically coherent each expert's routing is — the fraction of assigned nodes sharing a dominant class.
purity = Σ_k usage_k · max_c P(c|k)
1.0 = perfectly class-pure
1/C = random (uniform)
Reported per layer, aggregated across runs.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RESULTS — PUBMED · 19,717 NODES · 3 CLASSES · 10 RUNS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0B0B0B"/>
                </a:solidFill>
              </a:rPr>
              <a:t>Pubmed: Strong OOD Robustness Across All 5 Benchmarks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96012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909560" y="1005840"/>
            <a:ext cx="4114800" cy="1005840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898781"/>
                </a:solidFill>
              </a:rPr>
              <a:t>MISSING FEATURES (p=0.4)</a:t>
            </a:r>
          </a:p>
          <a:p>
            <a:r>
              <a:rPr sz="2000" b="1">
                <a:solidFill>
                  <a:srgbClr val="0B0B0B"/>
                </a:solidFill>
              </a:rPr>
              <a:t>75.88%</a:t>
            </a:r>
          </a:p>
          <a:p>
            <a:r>
              <a:rPr sz="900">
                <a:solidFill>
                  <a:srgbClr val="898781"/>
                </a:solidFill>
              </a:rPr>
              <a:t>± 1.82%  ·  10 runs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2103120"/>
            <a:ext cx="4114800" cy="1005840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898781"/>
                </a:solidFill>
              </a:rPr>
              <a:t>RANDOM EDGE DROP (p=0.2)</a:t>
            </a:r>
          </a:p>
          <a:p>
            <a:r>
              <a:rPr sz="2000" b="1">
                <a:solidFill>
                  <a:srgbClr val="0B0B0B"/>
                </a:solidFill>
              </a:rPr>
              <a:t>75.14%</a:t>
            </a:r>
          </a:p>
          <a:p>
            <a:r>
              <a:rPr sz="900">
                <a:solidFill>
                  <a:srgbClr val="898781"/>
                </a:solidFill>
              </a:rPr>
              <a:t>± 2.14%  ·  10 runs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3200400"/>
            <a:ext cx="4114800" cy="1005840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898781"/>
                </a:solidFill>
              </a:rPr>
              <a:t>TRI-OBJECTIVE</a:t>
            </a:r>
          </a:p>
          <a:p>
            <a:r>
              <a:rPr sz="2000" b="1">
                <a:solidFill>
                  <a:srgbClr val="0B0B0B"/>
                </a:solidFill>
              </a:rPr>
              <a:t>89.29%</a:t>
            </a:r>
          </a:p>
          <a:p>
            <a:r>
              <a:rPr sz="900">
                <a:solidFill>
                  <a:srgbClr val="898781"/>
                </a:solidFill>
              </a:rPr>
              <a:t>± 0.58%  ·  10 runs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4343400"/>
            <a:ext cx="1965960" cy="1143000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5C41"/>
                </a:solidFill>
              </a:rPr>
              <a:t>Degree Shift</a:t>
            </a:r>
          </a:p>
          <a:p>
            <a:r>
              <a:rPr sz="1000">
                <a:solidFill>
                  <a:srgbClr val="52514E"/>
                </a:solidFill>
              </a:rPr>
              <a:t>Only 1.7% ID→OOD-low gap (89.7%→88.0%). Routing TV &lt; 0.05 — stable under shift.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4343400"/>
            <a:ext cx="1965960" cy="1143000"/>
          </a:xfrm>
          <a:prstGeom prst="rect">
            <a:avLst/>
          </a:prstGeom>
          <a:solidFill>
            <a:srgbClr val="F0F4FF"/>
          </a:solidFill>
          <a:ln w="9525">
            <a:solidFill>
              <a:srgbClr val="BC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C5CAB"/>
                </a:solidFill>
              </a:rPr>
              <a:t>Homophily Shift</a:t>
            </a:r>
          </a:p>
          <a:p>
            <a:r>
              <a:rPr sz="1000">
                <a:solidFill>
                  <a:srgbClr val="52514E"/>
                </a:solidFill>
              </a:rPr>
              <a:t>OOD-high (91.96%) exceeds ID — high-homophily nodes benefit from aggregation.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RESULTS — WIKICS · 11,701 NODES · 10 CLASSES · 10 RUNS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0B0B0B"/>
                </a:solidFill>
              </a:rPr>
              <a:t>WikiCS: Larger OOD Gaps — Low-Degree Nodes Are Harder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96012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909560" y="1005840"/>
            <a:ext cx="4114800" cy="1005840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898781"/>
                </a:solidFill>
              </a:rPr>
              <a:t>MISSING FEATURES (p=0.4)</a:t>
            </a:r>
          </a:p>
          <a:p>
            <a:r>
              <a:rPr sz="2000" b="1">
                <a:solidFill>
                  <a:srgbClr val="0B0B0B"/>
                </a:solidFill>
              </a:rPr>
              <a:t>76.47%</a:t>
            </a:r>
          </a:p>
          <a:p>
            <a:r>
              <a:rPr sz="900">
                <a:solidFill>
                  <a:srgbClr val="898781"/>
                </a:solidFill>
              </a:rPr>
              <a:t>± 2.41%  ·  10 runs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2103120"/>
            <a:ext cx="4114800" cy="1005840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898781"/>
                </a:solidFill>
              </a:rPr>
              <a:t>RANDOM EDGE DROP (p=0.2)</a:t>
            </a:r>
          </a:p>
          <a:p>
            <a:r>
              <a:rPr sz="2000" b="1">
                <a:solidFill>
                  <a:srgbClr val="0B0B0B"/>
                </a:solidFill>
              </a:rPr>
              <a:t>76.49%</a:t>
            </a:r>
          </a:p>
          <a:p>
            <a:r>
              <a:rPr sz="900">
                <a:solidFill>
                  <a:srgbClr val="898781"/>
                </a:solidFill>
              </a:rPr>
              <a:t>± 3.23%  ·  10 runs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3200400"/>
            <a:ext cx="4114800" cy="1005840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898781"/>
                </a:solidFill>
              </a:rPr>
              <a:t>TRI-OBJECTIVE</a:t>
            </a:r>
          </a:p>
          <a:p>
            <a:r>
              <a:rPr sz="2000" b="1">
                <a:solidFill>
                  <a:srgbClr val="0B0B0B"/>
                </a:solidFill>
              </a:rPr>
              <a:t>83.28%</a:t>
            </a:r>
          </a:p>
          <a:p>
            <a:r>
              <a:rPr sz="900">
                <a:solidFill>
                  <a:srgbClr val="898781"/>
                </a:solidFill>
              </a:rPr>
              <a:t>± 3.76%  ·  10 runs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4343400"/>
            <a:ext cx="1965960" cy="1143000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A5400"/>
                </a:solidFill>
              </a:rPr>
              <a:t>Degree Shift OOD-low</a:t>
            </a:r>
          </a:p>
          <a:p>
            <a:r>
              <a:rPr sz="1000">
                <a:solidFill>
                  <a:srgbClr val="52514E"/>
                </a:solidFill>
              </a:rPr>
              <a:t>10.4% drop ID→OOD-low (83.6%→73.1%). Low-degree nodes have sparse neighborhoods — text must carry more weight.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4343400"/>
            <a:ext cx="1965960" cy="1143000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A5400"/>
                </a:solidFill>
              </a:rPr>
              <a:t>High Variance</a:t>
            </a:r>
          </a:p>
          <a:p>
            <a:r>
              <a:rPr sz="1000">
                <a:solidFill>
                  <a:srgbClr val="52514E"/>
                </a:solidFill>
              </a:rPr>
              <a:t>Variance ±2.5–5% from 10-class stratification. Arxiv (169K nodes) will give a cleaner signal.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ABLATION — ROUTER TYPE  ·  DEGREE SHIFT  ·  5 RUNS  ·  LAMDA_PRETRAIN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0B0B0B"/>
                </a:solidFill>
              </a:rPr>
              <a:t>LLM-Direct Router vs GNN Router: Accuracy Equivalent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</a:rPr>
              <a:t>Routing on frozen LLM text embeddings vs GNN hidden states — no significant accuracy difference. Entropy regularization (λ=0.1) matters far more than router input type.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88720" cy="320040"/>
          </a:xfrm>
          <a:prstGeom prst="rect">
            <a:avLst/>
          </a:prstGeom>
          <a:solidFill>
            <a:srgbClr val="F0F0EE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/>
          <a:lstStyle/>
          <a:p>
            <a:pPr algn="ctr"/>
            <a:r>
              <a:rPr sz="900" b="1">
                <a:solidFill>
                  <a:srgbClr val="898781"/>
                </a:solidFill>
              </a:rPr>
              <a:t>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417320"/>
            <a:ext cx="914400" cy="320040"/>
          </a:xfrm>
          <a:prstGeom prst="rect">
            <a:avLst/>
          </a:prstGeom>
          <a:solidFill>
            <a:srgbClr val="F0F0EE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/>
          <a:lstStyle/>
          <a:p>
            <a:pPr algn="ctr"/>
            <a:r>
              <a:rPr sz="900" b="1">
                <a:solidFill>
                  <a:srgbClr val="898781"/>
                </a:solidFill>
              </a:rPr>
              <a:t>Router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417320"/>
            <a:ext cx="1691640" cy="320040"/>
          </a:xfrm>
          <a:prstGeom prst="rect">
            <a:avLst/>
          </a:prstGeom>
          <a:solidFill>
            <a:srgbClr val="F0F0EE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/>
          <a:lstStyle/>
          <a:p>
            <a:pPr algn="ctr"/>
            <a:r>
              <a:rPr sz="900" b="1">
                <a:solidFill>
                  <a:srgbClr val="898781"/>
                </a:solidFill>
              </a:rPr>
              <a:t>ID Acc (%)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417320"/>
            <a:ext cx="1691640" cy="320040"/>
          </a:xfrm>
          <a:prstGeom prst="rect">
            <a:avLst/>
          </a:prstGeom>
          <a:solidFill>
            <a:srgbClr val="F0F0EE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/>
          <a:lstStyle/>
          <a:p>
            <a:pPr algn="ctr"/>
            <a:r>
              <a:rPr sz="900" b="1">
                <a:solidFill>
                  <a:srgbClr val="898781"/>
                </a:solidFill>
              </a:rPr>
              <a:t>OOD-low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417320"/>
            <a:ext cx="1691640" cy="320040"/>
          </a:xfrm>
          <a:prstGeom prst="rect">
            <a:avLst/>
          </a:prstGeom>
          <a:solidFill>
            <a:srgbClr val="F0F0EE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/>
          <a:lstStyle/>
          <a:p>
            <a:pPr algn="ctr"/>
            <a:r>
              <a:rPr sz="900" b="1">
                <a:solidFill>
                  <a:srgbClr val="898781"/>
                </a:solidFill>
              </a:rPr>
              <a:t>OOD-high 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417320"/>
            <a:ext cx="1737360" cy="320040"/>
          </a:xfrm>
          <a:prstGeom prst="rect">
            <a:avLst/>
          </a:prstGeom>
          <a:solidFill>
            <a:srgbClr val="F0F0EE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/>
          <a:lstStyle/>
          <a:p>
            <a:pPr algn="ctr"/>
            <a:r>
              <a:rPr sz="900" b="1">
                <a:solidFill>
                  <a:srgbClr val="898781"/>
                </a:solidFill>
              </a:rPr>
              <a:t>L1 Expert Purity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118872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 b="1">
                <a:solidFill>
                  <a:srgbClr val="0B0B0B"/>
                </a:solidFill>
              </a:rPr>
              <a:t>Cora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1737360"/>
            <a:ext cx="91440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 b="1">
                <a:solidFill>
                  <a:srgbClr val="2A78D6"/>
                </a:solidFill>
              </a:rPr>
              <a:t>GNN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737360"/>
            <a:ext cx="169164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87.47 ± 1.63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737360"/>
            <a:ext cx="169164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81.23 ± 2.09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737360"/>
            <a:ext cx="169164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85.91 ± 0.98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1737360"/>
            <a:ext cx="173736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 b="1">
                <a:solidFill>
                  <a:srgbClr val="0A5C41"/>
                </a:solidFill>
              </a:rPr>
              <a:t>0.456 ± 0.054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76272"/>
            <a:ext cx="118872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2176272"/>
            <a:ext cx="91440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 b="1">
                <a:solidFill>
                  <a:srgbClr val="E34948"/>
                </a:solidFill>
              </a:rPr>
              <a:t>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176272"/>
            <a:ext cx="169164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87.35 ± 1.40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176272"/>
            <a:ext cx="169164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81.18 ± 2.07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176272"/>
            <a:ext cx="169164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85.76 ± 0.65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2176272"/>
            <a:ext cx="173736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 b="0">
                <a:solidFill>
                  <a:srgbClr val="E34948"/>
                </a:solidFill>
              </a:rPr>
              <a:t>0.357 ± 0.038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15184"/>
            <a:ext cx="1188720" cy="438912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 b="1">
                <a:solidFill>
                  <a:srgbClr val="0B0B0B"/>
                </a:solidFill>
              </a:rPr>
              <a:t>Pubmed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2615184"/>
            <a:ext cx="914400" cy="438912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 b="1">
                <a:solidFill>
                  <a:srgbClr val="2A78D6"/>
                </a:solidFill>
              </a:rPr>
              <a:t>GNN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2615184"/>
            <a:ext cx="1691640" cy="438912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89.77 ± 0.31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2615184"/>
            <a:ext cx="1691640" cy="438912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88.21 ± 0.34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615184"/>
            <a:ext cx="1691640" cy="438912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89.51 ± 0.31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2615184"/>
            <a:ext cx="1737360" cy="438912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 b="1">
                <a:solidFill>
                  <a:srgbClr val="0A5C41"/>
                </a:solidFill>
              </a:rPr>
              <a:t>0.468 ± 0.048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054096"/>
            <a:ext cx="1188720" cy="438912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0" y="3054096"/>
            <a:ext cx="914400" cy="438912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 b="1">
                <a:solidFill>
                  <a:srgbClr val="E34948"/>
                </a:solidFill>
              </a:rPr>
              <a:t>LLM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054096"/>
            <a:ext cx="1691640" cy="438912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89.65 ± 0.31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3054096"/>
            <a:ext cx="1691640" cy="438912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88.09 ± 0.36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3054096"/>
            <a:ext cx="1691640" cy="438912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89.33 ± 0.43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5240" y="3054096"/>
            <a:ext cx="1737360" cy="438912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 b="0">
                <a:solidFill>
                  <a:srgbClr val="E34948"/>
                </a:solidFill>
              </a:rPr>
              <a:t>0.434 ± 0.028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493008"/>
            <a:ext cx="118872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 b="1">
                <a:solidFill>
                  <a:srgbClr val="0B0B0B"/>
                </a:solidFill>
              </a:rPr>
              <a:t>WikiCS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0" y="3493008"/>
            <a:ext cx="91440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 b="1">
                <a:solidFill>
                  <a:srgbClr val="2A78D6"/>
                </a:solidFill>
              </a:rPr>
              <a:t>GNN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3493008"/>
            <a:ext cx="169164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85.48 ± 0.64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3493008"/>
            <a:ext cx="169164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75.45 ± 0.91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493008"/>
            <a:ext cx="169164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86.29 ± 0.46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35240" y="3493008"/>
            <a:ext cx="173736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 b="1">
                <a:solidFill>
                  <a:srgbClr val="0A5C41"/>
                </a:solidFill>
              </a:rPr>
              <a:t>0.336 ± 0.050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931920"/>
            <a:ext cx="118872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0" y="3931920"/>
            <a:ext cx="91440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 b="1">
                <a:solidFill>
                  <a:srgbClr val="E34948"/>
                </a:solidFill>
              </a:rPr>
              <a:t>LLM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3931920"/>
            <a:ext cx="169164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85.55 ± 0.78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3931920"/>
            <a:ext cx="169164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75.41 ± 0.73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3931920"/>
            <a:ext cx="169164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>
                <a:solidFill>
                  <a:srgbClr val="0B0B0B"/>
                </a:solidFill>
              </a:rPr>
              <a:t>86.50 ± 0.74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35240" y="3931920"/>
            <a:ext cx="1737360" cy="438912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54864"/>
          <a:lstStyle/>
          <a:p>
            <a:pPr algn="ctr"/>
            <a:r>
              <a:rPr sz="1000" b="0">
                <a:solidFill>
                  <a:srgbClr val="E34948"/>
                </a:solidFill>
              </a:rPr>
              <a:t>0.258 ± 0.019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349240"/>
            <a:ext cx="5577840" cy="1234440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5C41"/>
                </a:solidFill>
              </a:rPr>
              <a:t>Accuracy: Equivalent</a:t>
            </a:r>
          </a:p>
          <a:p>
            <a:r>
              <a:rPr sz="1000">
                <a:solidFill>
                  <a:srgbClr val="52514E"/>
                </a:solidFill>
              </a:rPr>
              <a:t>Max OOD accuracy difference across all conditions is 0.14% — within noise. Both routers generalize equally under degree shift.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5349240"/>
            <a:ext cx="5806440" cy="1234440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A5400"/>
                </a:solidFill>
              </a:rPr>
              <a:t>Purity: GNN Router Wins</a:t>
            </a:r>
          </a:p>
          <a:p>
            <a:r>
              <a:rPr sz="1000">
                <a:solidFill>
                  <a:srgbClr val="52514E"/>
                </a:solidFill>
              </a:rPr>
              <a:t>GNN router achieves higher L1 expert class purity on Cora (0.456 vs 0.357) and WikiCS (0.336 vs 0.258). Message-passing naturally groups semantic classes — the GNN already knows who's nearby.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0B0B0B"/>
                </a:solidFill>
              </a:rP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806440" cy="914400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100" b="1">
                <a:solidFill>
                  <a:srgbClr val="0A5C41"/>
                </a:solidFill>
              </a:rPr>
              <a:t>① Entropy regularization is essential</a:t>
            </a:r>
          </a:p>
          <a:p>
            <a:r>
              <a:rPr sz="1000">
                <a:solidFill>
                  <a:srgbClr val="52514E"/>
                </a:solidFill>
              </a:rPr>
              <a:t>λ_env = 0.1 drops max_usage from 1.000 → 0.62. Without it, MoE is just a single GNN. This is the most impactful change in the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6792" y="960120"/>
            <a:ext cx="5806440" cy="914400"/>
          </a:xfrm>
          <a:prstGeom prst="rect">
            <a:avLst/>
          </a:prstGeom>
          <a:solidFill>
            <a:srgbClr val="F0FAF5"/>
          </a:solidFill>
          <a:ln w="9525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100" b="1">
                <a:solidFill>
                  <a:srgbClr val="0A5C41"/>
                </a:solidFill>
              </a:rPr>
              <a:t>② STEM-GNN generalizes well on Pubmed</a:t>
            </a:r>
          </a:p>
          <a:p>
            <a:r>
              <a:rPr sz="1000">
                <a:solidFill>
                  <a:srgbClr val="52514E"/>
                </a:solidFill>
              </a:rPr>
              <a:t>Degree shift: only 1.7% ID→OOD-low gap (89.7%→88.0%). Routing shift TV &lt; 0.05 confirms routing barely changes under structural 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47672"/>
            <a:ext cx="5806440" cy="914400"/>
          </a:xfrm>
          <a:prstGeom prst="rect">
            <a:avLst/>
          </a:prstGeom>
          <a:solidFill>
            <a:srgbClr val="F0F4FF"/>
          </a:solidFill>
          <a:ln w="9525">
            <a:solidFill>
              <a:srgbClr val="BC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100" b="1">
                <a:solidFill>
                  <a:srgbClr val="1C5CAB"/>
                </a:solidFill>
              </a:rPr>
              <a:t>③ Homophily OOD-high often exceeds ID</a:t>
            </a:r>
          </a:p>
          <a:p>
            <a:r>
              <a:rPr sz="1000">
                <a:solidFill>
                  <a:srgbClr val="52514E"/>
                </a:solidFill>
              </a:rPr>
              <a:t>Pubmed: 91.96% OOD-high vs 89.73% ID. High-homophily nodes are 'easier' — cleaner neighborhoods amplify GNN aggregation.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6792" y="1947672"/>
            <a:ext cx="5806440" cy="914400"/>
          </a:xfrm>
          <a:prstGeom prst="rect">
            <a:avLst/>
          </a:prstGeom>
          <a:solidFill>
            <a:srgbClr val="FFF8E6"/>
          </a:solidFill>
          <a:ln w="9525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100" b="1">
                <a:solidFill>
                  <a:srgbClr val="7A5400"/>
                </a:solidFill>
              </a:rPr>
              <a:t>④ WikiCS harder: 10.4% OOD-low drop</a:t>
            </a:r>
          </a:p>
          <a:p>
            <a:r>
              <a:rPr sz="1000">
                <a:solidFill>
                  <a:srgbClr val="52514E"/>
                </a:solidFill>
              </a:rPr>
              <a:t>Low-degree nodes have little neighborhood info. High variance (±2.5–5%) from 10-class stratification. Arxiv (169K nodes) will provide cleaner signal.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35224"/>
            <a:ext cx="5806440" cy="914400"/>
          </a:xfrm>
          <a:prstGeom prst="rect">
            <a:avLst/>
          </a:prstGeom>
          <a:solidFill>
            <a:srgbClr val="FFF5F5"/>
          </a:solidFill>
          <a:ln w="9525">
            <a:solidFill>
              <a:srgbClr val="FC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100" b="1">
                <a:solidFill>
                  <a:srgbClr val="D03B3B"/>
                </a:solidFill>
              </a:rPr>
              <a:t>⑤ LLM-direct router ≈ GNN router in accuracy</a:t>
            </a:r>
          </a:p>
          <a:p>
            <a:r>
              <a:rPr sz="1000">
                <a:solidFill>
                  <a:srgbClr val="52514E"/>
                </a:solidFill>
              </a:rPr>
              <a:t>Structure-invariant routing matches GNN routing within 0.14% OOD accuracy. Entropy regularization drives robustness — not the router input type.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2935224"/>
            <a:ext cx="5806440" cy="914400"/>
          </a:xfrm>
          <a:prstGeom prst="rect">
            <a:avLst/>
          </a:prstGeom>
          <a:solidFill>
            <a:srgbClr val="FFF5F5"/>
          </a:solidFill>
          <a:ln w="9525">
            <a:solidFill>
              <a:srgbClr val="FC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100" b="1">
                <a:solidFill>
                  <a:srgbClr val="D03B3B"/>
                </a:solidFill>
              </a:rPr>
              <a:t>⑥ GNN router has higher expert class purity</a:t>
            </a:r>
          </a:p>
          <a:p>
            <a:r>
              <a:rPr sz="1000">
                <a:solidFill>
                  <a:srgbClr val="52514E"/>
                </a:solidFill>
              </a:rPr>
              <a:t>Cora L1: 0.456 (GNN) vs 0.357 (LLM). Message-passing naturally clusters semantic classes. The GNN hidden state already carries structural class information.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22776"/>
            <a:ext cx="5806440" cy="914400"/>
          </a:xfrm>
          <a:prstGeom prst="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100" b="1">
                <a:solidFill>
                  <a:srgbClr val="52514E"/>
                </a:solidFill>
              </a:rPr>
              <a:t>⑦ Homophily comparison &amp; Arxiv pending (job 25984702)</a:t>
            </a:r>
          </a:p>
          <a:p>
            <a:r>
              <a:rPr sz="1000">
                <a:solidFill>
                  <a:srgbClr val="52514E"/>
                </a:solidFill>
              </a:rPr>
              <a:t>Homophily shift is the strongest structural test for LLM routing. Results expected soon alongside Arxiv (169K nodes, 3 runs each).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