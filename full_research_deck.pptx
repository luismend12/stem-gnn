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2331720"/>
          </a:xfrm>
          <a:prstGeom prst="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LLM-Guided Semantic Trust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59BFF"/>
                </a:solidFill>
              </a:rPr>
              <a:t>for Text-Attributed Graph Neural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14600"/>
            <a:ext cx="256032" cy="502920"/>
          </a:xfrm>
          <a:prstGeom prst="rect">
            <a:avLst/>
          </a:prstGeom>
          <a:solidFill>
            <a:srgbClr val="7F3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F2A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Standard GNNs aggregate all neighbours equally — ignoring whether a neighbour is semantically relevant for the current node's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91256"/>
            <a:ext cx="256032" cy="502920"/>
          </a:xfrm>
          <a:prstGeom prst="rect">
            <a:avLst/>
          </a:prstGeom>
          <a:solidFill>
            <a:srgbClr val="226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91256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C4FF"/>
                </a:solidFill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3697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Use a frozen LLM to assess per-edge semantic reliability and gate the self vs. neighbour aggregation path accordingly.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867912"/>
            <a:ext cx="256032" cy="502920"/>
          </a:xfrm>
          <a:prstGeom prst="rect">
            <a:avLst/>
          </a:prstGeom>
          <a:solidFill>
            <a:srgbClr val="176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67912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</a:rPr>
              <a:t>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First formal study of 4 trust-gate signals under 2 stress conditions (injection attacks + structural heterophily) benchmarked against 6 baselines.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3A8"/>
                </a:solidFill>
              </a:rPr>
              <a:t>Benchmarked on: Cora · Texas WebKB · 6 baselines  (GraphSAGE, GNNGuard, H2GCN, GPR-GNN, TAPE, STEM-GNN)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Problem  —  Formal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When is a GNN neighbour semantically trustworthy?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143000"/>
            <a:ext cx="5394960" cy="5394960"/>
          </a:xfrm>
          <a:prstGeom prst="rect">
            <a:avLst/>
          </a:prstGeom>
          <a:solidFill>
            <a:srgbClr val="101420"/>
          </a:solidFill>
          <a:ln w="1270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G = (V, E, 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39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8A93A8"/>
                </a:solidFill>
              </a:rPr>
              <a:t>  V: nodes,  E: edges,  T = {t_v}: text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734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φ : t_v → e_v ∈ ℝ^768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1">
                <a:solidFill>
                  <a:srgbClr val="8A93A8"/>
                </a:solidFill>
              </a:rPr>
              <a:t>  frozen LLM encoder (SentenceTransformer)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129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82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Standard GNN aggregation: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524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5C4FF"/>
                </a:solidFill>
              </a:rPr>
              <a:t>  h_v = σ( W · MEAN({h_u : u ∈ N(v) ∪ {v}})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221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1">
                <a:solidFill>
                  <a:srgbClr val="8A93A8"/>
                </a:solidFill>
              </a:rPr>
              <a:t>  treats all neighbours equally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19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61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4D4D"/>
                </a:solidFill>
              </a:rPr>
              <a:t>Problem: noisy/wrong-class neighbours corrupt h_v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314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4D4D"/>
                </a:solidFill>
              </a:rPr>
              <a:t>— more so when edges are structurally forced (hetero-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01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4D4D"/>
                </a:solidFill>
              </a:rPr>
              <a:t>  phily) or adversarially injected (text-similar, wrong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5486400" cy="5394960"/>
          </a:xfrm>
          <a:prstGeom prst="rect">
            <a:avLst/>
          </a:prstGeom>
          <a:solidFill>
            <a:srgbClr val="101420"/>
          </a:solidFill>
          <a:ln w="1524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Our Formulation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664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Goal: learn per-node trust gate β_v ∈ [0, 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9229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1817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5C4FF"/>
                </a:solidFill>
              </a:rPr>
              <a:t>h_v  =  β_v · W_self(e_v)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4405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5C4FF"/>
                </a:solidFill>
              </a:rPr>
              <a:t>    + (1−β_v) · W_neigh( MEAN({e_u : u∈N(v)})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6993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9580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where β_v is driven by LLM semantic assessment: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2168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107"/>
                </a:solidFill>
              </a:rPr>
              <a:t>  Q: 'Is neighbour u relevant for v's class label?'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756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344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4 gate signals studied: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9931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  A  cos( h_v, mean(h_u) )    [GNN hidden states]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2519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7F2A"/>
                </a:solidFill>
              </a:rPr>
              <a:t>  B  1 − max softmax(logits)  [model confidence]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5107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6CFF"/>
                </a:solidFill>
              </a:rPr>
              <a:t>  C  MLP(e_v ‖ mean(e_u))     [learned gate]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7695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5C4FF"/>
                </a:solidFill>
              </a:rPr>
              <a:t>  D  cos( e_v, mean(e_u) )    [LLM text cosine]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0282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2870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Proposed: replace D with LLM label-support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5458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  so β_v uses semantic reasoning, not just cosine.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Survey  —  6 Related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Prior work across robustness, heterophily, and text-attributed graphs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43000"/>
            <a:ext cx="11338560" cy="384048"/>
          </a:xfrm>
          <a:prstGeom prst="rect">
            <a:avLst/>
          </a:prstGeom>
          <a:solidFill>
            <a:srgbClr val="14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Method (venue)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Text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Agg.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1704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Core 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11338560" cy="768096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554480"/>
            <a:ext cx="50292" cy="768096"/>
          </a:xfrm>
          <a:prstGeom prst="rect">
            <a:avLst/>
          </a:prstGeom>
          <a:solidFill>
            <a:srgbClr val="8A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3A8"/>
                </a:solidFill>
              </a:rPr>
              <a:t>GraphSAGE
NeurIPS '17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28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728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Mean agg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28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Equal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00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Inductive GNN with mean/max/LSTM aggregation over sampled neighbours.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50008"/>
            <a:ext cx="11338560" cy="76809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350008"/>
            <a:ext cx="50292" cy="76809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3957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GNNGuard
NeurIPS '20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523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523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Cosine prune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523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Edge-level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39572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Computes cosine similarity between adjacent node features; drops or down-weights dissimilar edges before aggregation.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45536"/>
            <a:ext cx="11338560" cy="768096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145536"/>
            <a:ext cx="50292" cy="76809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19125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H2GCN
NeurIPS '20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319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319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Ego-sep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19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Node-level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191256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Separates ego (self) and neighbour channels; combines multi-hop neighbourhoods explicitly for heterophilic graphs.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941064"/>
            <a:ext cx="11338560" cy="76809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941064"/>
            <a:ext cx="50292" cy="7680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98678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GPR-GNN
ICLR '21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PageRank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Layer-level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Learnable generalized PageRank coefficients per propagation step; adapts how much each hop contributes to the final representation.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736592"/>
            <a:ext cx="11338560" cy="768096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736592"/>
            <a:ext cx="50292" cy="768096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478231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FF"/>
                </a:solidFill>
              </a:rPr>
              <a:t>TAPE
ICLR '24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LLM feat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Standard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Equal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7823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Uses LLM-generated text explanations as node features; plugs into any GNN backbone with equal-weight aggregation.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532120"/>
            <a:ext cx="11338560" cy="76809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532120"/>
            <a:ext cx="50292" cy="768096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2A"/>
                </a:solidFill>
              </a:rPr>
              <a:t>STEM-GNN
KDD '26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5705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VQ tokens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705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MoE route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705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Expert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5778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MoE encoder + VQ codebook + Lipschitz regularisation; routes per node to specialised experts for OOD robustness.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Limitations  —  Where Existing Methods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No single prior method handles both injection attacks and structural heterophily with text semantics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43000"/>
            <a:ext cx="11338560" cy="384048"/>
          </a:xfrm>
          <a:prstGeom prst="rect">
            <a:avLst/>
          </a:prstGeom>
          <a:solidFill>
            <a:srgbClr val="14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1704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Injection↓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704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Heterophily↑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1704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Text↑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70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Key 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11338560" cy="6858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554480"/>
            <a:ext cx="45720" cy="685800"/>
          </a:xfrm>
          <a:prstGeom prst="rect">
            <a:avLst/>
          </a:prstGeom>
          <a:solidFill>
            <a:srgbClr val="8A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GraphSAGE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276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Equal-weight mean agg; no mechanism to down-weight misleading neighbours under injection or heterophily.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267712"/>
            <a:ext cx="11338560" cy="6858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267712"/>
            <a:ext cx="4572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GNNGuard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408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Cosine prune helps under feature noise but fails when injected edges are deliberately text-similar to the victim — exactly our attack.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80944"/>
            <a:ext cx="11338560" cy="6858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980944"/>
            <a:ext cx="4572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090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H2GCN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540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Strong on heterophily by ego-separation, but no robustness mechanism; injection degrades performance as severely as SAGE.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694176"/>
            <a:ext cx="11338560" cy="6858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694176"/>
            <a:ext cx="45720" cy="685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8039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107"/>
                </a:solidFill>
              </a:rPr>
              <a:t>GPR-GNN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8039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8039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8039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7673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Learnable hop weights adapt globally, not per node. Cannot identify which specific neighbours are unreliable.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407408"/>
            <a:ext cx="11338560" cy="6858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407408"/>
            <a:ext cx="45720" cy="68580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5171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90FF"/>
                </a:solidFill>
              </a:rPr>
              <a:t>TAPE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4517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517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517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480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Rich text features but equal-weight aggregation: LLM knowledge is in the features, not in the routing — still vulnerable to both.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120640"/>
            <a:ext cx="11338560" cy="6858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120640"/>
            <a:ext cx="45720" cy="685800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5230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7F2A"/>
                </a:solidFill>
              </a:rPr>
              <a:t>STEM-GNN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1937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Router uses post-aggregation z_v (already corrupted by noisy neighbours). No upstream semantic neighbour assessment.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833872"/>
            <a:ext cx="11338560" cy="685800"/>
          </a:xfrm>
          <a:prstGeom prst="rect">
            <a:avLst/>
          </a:prstGeom>
          <a:solidFill>
            <a:srgbClr val="12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5833872"/>
            <a:ext cx="45720" cy="685800"/>
          </a:xfrm>
          <a:prstGeom prst="rect">
            <a:avLst/>
          </a:prstGeom>
          <a:solidFill>
            <a:srgbClr val="45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5943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C4FF"/>
                </a:solidFill>
              </a:rPr>
              <a:t>Ours (goal)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90702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LLM judges per-edge semantic relevance BEFORE aggregation. Gate β_v adapts to injection and heterophily via text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Proposed Method  —  Trust-Gated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Per-node gate β_v driven by LLM semantic reliability judgment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234440"/>
            <a:ext cx="2240280" cy="2011680"/>
          </a:xfrm>
          <a:prstGeom prst="rect">
            <a:avLst/>
          </a:prstGeom>
          <a:solidFill>
            <a:srgbClr val="101420"/>
          </a:solidFill>
          <a:ln w="19050">
            <a:solidFill>
              <a:srgbClr val="8A9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25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3A8"/>
                </a:solidFill>
              </a:rPr>
              <a:t>Text
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09928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t_v for each node v
(raw sentences,
abstracts,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965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3A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234440"/>
            <a:ext cx="2240280" cy="2011680"/>
          </a:xfrm>
          <a:prstGeom prst="rect">
            <a:avLst/>
          </a:prstGeom>
          <a:solidFill>
            <a:srgbClr val="101420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325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LLM Encoder
φ (frozen)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709928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e_v = φ(t_v) ∈ ℝ^768
SentenceTransformer
or any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965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3A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234440"/>
            <a:ext cx="2240280" cy="2011680"/>
          </a:xfrm>
          <a:prstGeom prst="rect">
            <a:avLst/>
          </a:prstGeom>
          <a:solidFill>
            <a:srgbClr val="101420"/>
          </a:solidFill>
          <a:ln w="19050">
            <a:solidFill>
              <a:srgbClr val="45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325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C4FF"/>
                </a:solidFill>
              </a:rPr>
              <a:t>Gate Signal
β_v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1709928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Query LLM:
'Is u semantically
relevant for v?'
β_v ∈ [0,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965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3A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1234440"/>
            <a:ext cx="2240280" cy="2011680"/>
          </a:xfrm>
          <a:prstGeom prst="rect">
            <a:avLst/>
          </a:prstGeom>
          <a:solidFill>
            <a:srgbClr val="10142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1325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Gated
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1709928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h_v = β_v·W_self(e_v)
+ (1−β_v)·W_neigh
(mean e_u)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965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93A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1234440"/>
            <a:ext cx="2240280" cy="2011680"/>
          </a:xfrm>
          <a:prstGeom prst="rect">
            <a:avLst/>
          </a:prstGeom>
          <a:solidFill>
            <a:srgbClr val="10142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1325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Downstream
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1709928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Node classification,
link prediction,
graph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474720"/>
            <a:ext cx="11338560" cy="1417320"/>
          </a:xfrm>
          <a:prstGeom prst="rect">
            <a:avLst/>
          </a:prstGeom>
          <a:solidFill>
            <a:srgbClr val="101420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5844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Formal update rule: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5C4FF"/>
                </a:solidFill>
              </a:rPr>
              <a:t>h_v  =  β_v · W_self(e_v)  +  (1−β_v) · W_neigh( MEAN({e_u : u ∈ N(v)})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34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3A8"/>
                </a:solidFill>
              </a:rPr>
              <a:t>β_v close to 1  →  trust self (ignore noisy neighbours)     β_v close to 0  →  trust neighbourhood (strong structural signal)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074920"/>
            <a:ext cx="11338560" cy="1572768"/>
          </a:xfrm>
          <a:prstGeom prst="rect">
            <a:avLst/>
          </a:prstGeom>
          <a:solidFill>
            <a:srgbClr val="101420"/>
          </a:solidFill>
          <a:ln w="889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1663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What β_v is in each variant: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32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  A  Cosine          1 − σ( cos(h_v, mean h_u)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1558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7F2A"/>
                </a:solidFill>
              </a:rPr>
              <a:t>  B  Confidence      1 − mean[ max softmax(logits_u)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0990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6CFF"/>
                </a:solidFill>
              </a:rPr>
              <a:t>  C  Learned         MLP(e_v ‖ mean e_u).sigmoid()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3825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C4FF"/>
                </a:solidFill>
              </a:rPr>
              <a:t>  D  LLM cosine      1 − σ( cos(e_v, mean e_u) )   ← current impl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6659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  Proposed           LLM(Q: 'is u relevant for v?') → β_v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Design  —  Tri-Objective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Following STEM-GNN's evaluation protocol: ID performance · OOD robustness · Cross-dataset transfer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70432"/>
            <a:ext cx="3611880" cy="3931920"/>
          </a:xfrm>
          <a:prstGeom prst="rect">
            <a:avLst/>
          </a:prstGeom>
          <a:solidFill>
            <a:srgbClr val="101420"/>
          </a:solidFill>
          <a:ln w="228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3611880" cy="566928"/>
          </a:xfrm>
          <a:prstGeom prst="rect">
            <a:avLst/>
          </a:prstGeom>
          <a:solidFill>
            <a:srgbClr val="17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Objective 1
ID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Standard train/val/test splits.
Measure clean test accuracy on Cora, PubMed, ArXiv (OFA format), Texas, Wisconsin.
Primary baseline: STEM-GNN published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170432"/>
            <a:ext cx="3611880" cy="3931920"/>
          </a:xfrm>
          <a:prstGeom prst="rect">
            <a:avLst/>
          </a:prstGeom>
          <a:solidFill>
            <a:srgbClr val="101420"/>
          </a:solidFill>
          <a:ln w="228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70432"/>
            <a:ext cx="3611880" cy="566928"/>
          </a:xfrm>
          <a:prstGeom prst="rect">
            <a:avLst/>
          </a:prstGeom>
          <a:solidFill>
            <a:srgbClr val="55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Objective 2
OOD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Stress test 1 — Confusing-edge injection:
Add k% edges connecting text-similar, wrong-class node pairs.
Ratios: 0%, 10%, 20%, 30%, 40%, 50%.
Stress test 2 — Structural heterophily:
Texas (h=0.31), Wisconsin (h=0.20) WebKB datasets.
Metric: accuracy × 3 splits.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170432"/>
            <a:ext cx="3611880" cy="3931920"/>
          </a:xfrm>
          <a:prstGeom prst="rect">
            <a:avLst/>
          </a:prstGeom>
          <a:solidFill>
            <a:srgbClr val="101420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70432"/>
            <a:ext cx="3611880" cy="566928"/>
          </a:xfrm>
          <a:prstGeom prst="rect">
            <a:avLst/>
          </a:prstGeom>
          <a:solidFill>
            <a:srgbClr val="0F4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Objective 3
Transfer /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Pretrain trust gate on Cora;
zero-shot evaluate on PubMed &amp; ArXiv.
Measure how well learned gate β_v
transfers across domains without
retraining the gate signal.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257800"/>
            <a:ext cx="11338560" cy="1417320"/>
          </a:xfrm>
          <a:prstGeom prst="rect">
            <a:avLst/>
          </a:prstGeom>
          <a:solidFill>
            <a:srgbClr val="101420"/>
          </a:solidFill>
          <a:ln w="889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Datasets &amp; Splits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45720" cy="868680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Cora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2708 nodes · 5429 edges · 7 classes
3 seeds · OFA splits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5742432"/>
            <a:ext cx="45720" cy="8686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Texas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183 nodes · 295 edges · 5 classes
10 official splits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5742432"/>
            <a:ext cx="45720" cy="868680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A"/>
                </a:solidFill>
              </a:rPr>
              <a:t>Wisconsin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251 nodes · 466 edges · 5 classes
10 official splits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742432"/>
            <a:ext cx="45720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PubMed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19717 nodes · 44324 edges · 3 classes
OFA format · 3 seeds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5742432"/>
            <a:ext cx="45720" cy="868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8232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STEM-GNN
  baselines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232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Clean avg 80.79%
OOD-low Cora 82.73%
OOD-worst 78.45%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 —  Trust Gate vs. 6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Cora injection sweep (3 seeds, 200 ep)  ·  Texas WebKB heterophily (3 splits, 200 ep)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search_fig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7572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257800"/>
            <a:ext cx="11475720" cy="1417320"/>
          </a:xfrm>
          <a:prstGeom prst="rect">
            <a:avLst/>
          </a:prstGeom>
          <a:solidFill>
            <a:srgbClr val="101420"/>
          </a:solidFill>
          <a:ln w="889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2A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49240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B_confidence most injection-robust  —  −3.6 pp drop at 50% injection (vs −8.4 pp for cosine gates A and 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78424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678424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D_llm = A_cosine under injection  —  Both drop −8.4 pp — text cosine trusts wrong-class text-similar injected edges.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0760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00760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 and C dominate on heterophily  —  81.1% on Texas vs 76.6% for SAGE; cosine gates A (58.6%) and D (60.4%) hurt.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36792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5C4FF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33679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Gap motivates full proposal  —  No single gate wins both. LLM label-support reasoning expected to handle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  &amp; 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What the experiments confirm and what remains to 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70432"/>
            <a:ext cx="5394960" cy="5440680"/>
          </a:xfrm>
          <a:prstGeom prst="rect">
            <a:avLst/>
          </a:prstGeom>
          <a:solidFill>
            <a:srgbClr val="10142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What this work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No single existing gate signal handles both stress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9736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Cosine-based gates (A, D) are vulnerable to injection by design — injected edges are chosen to be text-similar, so cosine trusts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Confidence and learned gates (B, C) are more injection-robust but lack direct text understanding for heterophilic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95928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Text cosine (D) ≠ semantic label-support — a node can be text-similar but irrelevant or misleading for the classification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64024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The full LLM label-support gate is the natural next step: robust to injection (semantic judgment) and heterophily (class-aware).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3212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Experiment design follows STEM-GNN's tri-objective framework, enabling direct comparison to KDD '26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70432"/>
            <a:ext cx="5623560" cy="5440680"/>
          </a:xfrm>
          <a:prstGeom prst="rect">
            <a:avLst/>
          </a:prstGeom>
          <a:solidFill>
            <a:srgbClr val="101420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618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Open Questions  / 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737360"/>
            <a:ext cx="475488" cy="658368"/>
          </a:xfrm>
          <a:prstGeom prst="rect">
            <a:avLst/>
          </a:prstGeom>
          <a:solidFill>
            <a:srgbClr val="554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73736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C107"/>
                </a:solidFill>
              </a:rPr>
              <a:t>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82880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 an LLM generate reliable per-edge trust scores at scale without fine-tuning?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487168"/>
            <a:ext cx="475488" cy="658368"/>
          </a:xfrm>
          <a:prstGeom prst="rect">
            <a:avLst/>
          </a:prstGeom>
          <a:solidFill>
            <a:srgbClr val="55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87168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57860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How to handle the label leakage risk when LLM uses class-label text in the trust query?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236976"/>
            <a:ext cx="475488" cy="658368"/>
          </a:xfrm>
          <a:prstGeom prst="rect">
            <a:avLst/>
          </a:prstGeom>
          <a:solidFill>
            <a:srgbClr val="552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236976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7F2A"/>
                </a:solidFill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3284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Does the gate β_v transfer zero-shot to PubMed / ArXiv without retraining?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986784"/>
            <a:ext cx="475488" cy="658368"/>
          </a:xfrm>
          <a:prstGeom prst="rect">
            <a:avLst/>
          </a:prstGeom>
          <a:solidFill>
            <a:srgbClr val="17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986784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59BFF"/>
                </a:solidFill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07822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 the gate be distilled into a lightweight MLP for inference-time efficiency?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736592"/>
            <a:ext cx="475488" cy="658368"/>
          </a:xfrm>
          <a:prstGeom prst="rect">
            <a:avLst/>
          </a:prstGeom>
          <a:solidFill>
            <a:srgbClr val="17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736592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5C4FF"/>
                </a:solidFill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82803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How does the trust gate interact with STEM-GNN's VQ codebook? Can they be jointly trained?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486400"/>
            <a:ext cx="475488" cy="658368"/>
          </a:xfrm>
          <a:prstGeom prst="rect">
            <a:avLst/>
          </a:prstGeom>
          <a:solidFill>
            <a:srgbClr val="35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548640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06CFF"/>
                </a:solidFill>
              </a:rPr>
              <a:t>Q6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57784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Wisconsin results pending (HTTP download error). Will heterophily trend hold at h=0.20?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