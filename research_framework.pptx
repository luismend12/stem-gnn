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45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5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Research Problem Formulation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3A8"/>
                </a:solidFill>
              </a:rPr>
              <a:t>Reliable Message Passing on Text-Attributed Graphs under Neighbourhood Noise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133856"/>
            <a:ext cx="11183112" cy="0"/>
          </a:xfrm>
          <a:prstGeom prst="line">
            <a:avLst/>
          </a:prstGeom>
          <a:ln w="11430">
            <a:solidFill>
              <a:srgbClr val="45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02920" y="1261872"/>
            <a:ext cx="5486400" cy="5376672"/>
          </a:xfrm>
          <a:prstGeom prst="rect">
            <a:avLst/>
          </a:prstGeom>
          <a:solidFill>
            <a:srgbClr val="1E222C"/>
          </a:solidFill>
          <a:ln w="10160">
            <a:solidFill>
              <a:srgbClr val="353C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3716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59BFF"/>
                </a:solidFill>
              </a:rPr>
              <a:t>Formal Setup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810512"/>
            <a:ext cx="5212080" cy="868680"/>
          </a:xfrm>
          <a:prstGeom prst="rect">
            <a:avLst/>
          </a:prstGeom>
          <a:solidFill>
            <a:srgbClr val="161C2C"/>
          </a:solidFill>
          <a:ln w="7620">
            <a:solidFill>
              <a:srgbClr val="45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83664"/>
            <a:ext cx="10058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107"/>
                </a:solidFill>
              </a:rPr>
              <a:t>Graph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1883664"/>
            <a:ext cx="400507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G = (V, E, T)  —  V nodes, E edges, T_v text per node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770632"/>
            <a:ext cx="5212080" cy="868680"/>
          </a:xfrm>
          <a:prstGeom prst="rect">
            <a:avLst/>
          </a:prstGeom>
          <a:solidFill>
            <a:srgbClr val="161C2C"/>
          </a:solidFill>
          <a:ln w="7620">
            <a:solidFill>
              <a:srgbClr val="45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843784"/>
            <a:ext cx="10058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107"/>
                </a:solidFill>
              </a:rPr>
              <a:t>Encoder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843784"/>
            <a:ext cx="400507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φ : T_v → e_v ∈ ℝ^768  (frozen LLM embeddings)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3730752"/>
            <a:ext cx="5212080" cy="868680"/>
          </a:xfrm>
          <a:prstGeom prst="rect">
            <a:avLst/>
          </a:prstGeom>
          <a:solidFill>
            <a:srgbClr val="161C2C"/>
          </a:solidFill>
          <a:ln w="7620">
            <a:solidFill>
              <a:srgbClr val="45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803904"/>
            <a:ext cx="10058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107"/>
                </a:solidFill>
              </a:rPr>
              <a:t>Standard
Message
Passing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3803904"/>
            <a:ext cx="400507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h_v^(l+1) = σ( W · MEAN({h_u^(l) : u ∈ N(v) ∪ {v}}) )
Problem: equal weight to ALL neighbours regardless of relevance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690872"/>
            <a:ext cx="5212080" cy="868680"/>
          </a:xfrm>
          <a:prstGeom prst="rect">
            <a:avLst/>
          </a:prstGeom>
          <a:solidFill>
            <a:srgbClr val="161C2C"/>
          </a:solidFill>
          <a:ln w="7620">
            <a:solidFill>
              <a:srgbClr val="45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764024"/>
            <a:ext cx="10058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107"/>
                </a:solidFill>
              </a:rPr>
              <a:t>Noise
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4764024"/>
            <a:ext cx="400507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① Heterophilous edges — most neighbours have different labels
② Injection attack — text-similar but different-class neighbours
③ Distribution shift — graph structure changes at test time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650992"/>
            <a:ext cx="5212080" cy="868680"/>
          </a:xfrm>
          <a:prstGeom prst="rect">
            <a:avLst/>
          </a:prstGeom>
          <a:solidFill>
            <a:srgbClr val="161C2C"/>
          </a:solidFill>
          <a:ln w="7620">
            <a:solidFill>
              <a:srgbClr val="45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724144"/>
            <a:ext cx="10058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107"/>
                </a:solidFill>
              </a:rPr>
              <a:t>Goal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83080" y="5724144"/>
            <a:ext cx="400507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Learn β_v ∈ [0,1] per node such that:
h_v = β_v · W_self(h_v) + (1−β_v) · W_neigh(MEAN(h_u))
where β_v ↑ when neighbours are semantically unreliable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1261872"/>
            <a:ext cx="5513832" cy="5376672"/>
          </a:xfrm>
          <a:prstGeom prst="rect">
            <a:avLst/>
          </a:prstGeom>
          <a:solidFill>
            <a:srgbClr val="1E222C"/>
          </a:solidFill>
          <a:ln w="10160">
            <a:solidFill>
              <a:srgbClr val="353C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27648" y="13716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4D4D"/>
                </a:solidFill>
              </a:rPr>
              <a:t>Why This Is Hard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27648" y="1810512"/>
            <a:ext cx="5230368" cy="868680"/>
          </a:xfrm>
          <a:prstGeom prst="rect">
            <a:avLst/>
          </a:prstGeom>
          <a:solidFill>
            <a:srgbClr val="14100C"/>
          </a:solidFill>
          <a:ln w="10160">
            <a:solidFill>
              <a:srgbClr val="FF4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1883664"/>
            <a:ext cx="4983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4D4D"/>
                </a:solidFill>
              </a:rPr>
              <a:t>Feature similarity ≠ Label alignment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219456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Two nodes can have very similar text (same topic) but different
labels (e.g. ML paper vs. NLP paper in Cora). Cosine similarity
gates trust the wrong neighbours.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27648" y="2770632"/>
            <a:ext cx="5230368" cy="868680"/>
          </a:xfrm>
          <a:prstGeom prst="rect">
            <a:avLst/>
          </a:prstGeom>
          <a:solidFill>
            <a:srgbClr val="14100C"/>
          </a:solidFill>
          <a:ln w="10160">
            <a:solidFill>
              <a:srgbClr val="FF7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2843784"/>
            <a:ext cx="4983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7F2A"/>
                </a:solidFill>
              </a:rPr>
              <a:t>Learned gates overfit to training distribution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315468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A learned MLP gate fits the homophily pattern of the training
graph. Under heterophily shift, it assigns wrong trust scores
because the graph structure changed — not the text.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27648" y="3730752"/>
            <a:ext cx="5230368" cy="868680"/>
          </a:xfrm>
          <a:prstGeom prst="rect">
            <a:avLst/>
          </a:prstGeom>
          <a:solidFill>
            <a:srgbClr val="14100C"/>
          </a:solidFill>
          <a:ln w="1016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46520" y="3803904"/>
            <a:ext cx="4983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C107"/>
                </a:solidFill>
              </a:rPr>
              <a:t>GNNs can't reason about relevance from structure alone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20" y="411480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Whether neighbour u is relevant for classifying v as 'Machine
Learning' requires understanding of both u and v's content —
a task suited to language models, not aggregation functions.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27648" y="4690872"/>
            <a:ext cx="5230368" cy="868680"/>
          </a:xfrm>
          <a:prstGeom prst="rect">
            <a:avLst/>
          </a:prstGeom>
          <a:solidFill>
            <a:srgbClr val="0A1426"/>
          </a:solidFill>
          <a:ln w="10160">
            <a:solidFill>
              <a:srgbClr val="45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20" y="4764024"/>
            <a:ext cx="4983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59BFF"/>
                </a:solidFill>
              </a:rPr>
              <a:t>Our answer: LLM label-support judgment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507492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Ask the LLM: 'Is neighbour u supportive / irrelevant / misleading
for predicting that v belongs to class C?' This produces a
semantic score immune to structural distribution shift.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45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5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Related Methods — Baseline Survey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3A8"/>
                </a:solidFill>
              </a:rPr>
              <a:t>Six methods addressing graph noise, heterophily, or text-attributed graphs — each leaving a distinct gap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133856"/>
            <a:ext cx="11183112" cy="0"/>
          </a:xfrm>
          <a:prstGeom prst="line">
            <a:avLst/>
          </a:prstGeom>
          <a:ln w="11430">
            <a:solidFill>
              <a:srgbClr val="45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02920" y="1261872"/>
            <a:ext cx="3566160" cy="2304288"/>
          </a:xfrm>
          <a:prstGeom prst="rect">
            <a:avLst/>
          </a:prstGeom>
          <a:solidFill>
            <a:srgbClr val="1E222C"/>
          </a:solidFill>
          <a:ln w="19050">
            <a:solidFill>
              <a:srgbClr val="45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61872"/>
            <a:ext cx="3566160" cy="45720"/>
          </a:xfrm>
          <a:prstGeom prst="rect">
            <a:avLst/>
          </a:prstGeom>
          <a:solidFill>
            <a:srgbClr val="45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89888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59BFF"/>
                </a:solidFill>
              </a:rPr>
              <a:t>GraphSAGE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7556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A93A8"/>
                </a:solidFill>
              </a:rPr>
              <a:t>Hamilton et al., NeurIPS 2017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01168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Method: Inductive sampling-based GNN with MEAN aggregation.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523744"/>
            <a:ext cx="32918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A070"/>
                </a:solidFill>
              </a:rPr>
              <a:t>Gap: Equal weight to all neighbours — no reliability filtering whatsoever. Clean-graph strong baseline; degrades sharply on heterophilous or noisy graphs.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5968" y="1261872"/>
            <a:ext cx="3566160" cy="2304288"/>
          </a:xfrm>
          <a:prstGeom prst="rect">
            <a:avLst/>
          </a:prstGeom>
          <a:solidFill>
            <a:srgbClr val="1E222C"/>
          </a:solidFill>
          <a:ln w="19050">
            <a:solidFill>
              <a:srgbClr val="FF4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1261872"/>
            <a:ext cx="3566160" cy="45720"/>
          </a:xfrm>
          <a:prstGeom prst="rect">
            <a:avLst/>
          </a:prstGeom>
          <a:solidFill>
            <a:srgbClr val="FF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1389888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4D4D"/>
                </a:solidFill>
              </a:rPr>
              <a:t>GNNGuard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17556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A93A8"/>
                </a:solidFill>
              </a:rPr>
              <a:t>Zhang &amp; Zitnik, NeurIPS 2020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01168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Method: Prunes / downweights edges based on feature cosine similarity.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523744"/>
            <a:ext cx="32918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A070"/>
                </a:solidFill>
              </a:rPr>
              <a:t>Gap: Defends against adversarial structural perturbations. But: cosine similarity on features ≠ semantic label-support. Fails when injection uses text-similar but different-class nodes (our Stress 1).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9016" y="1261872"/>
            <a:ext cx="3566160" cy="2304288"/>
          </a:xfrm>
          <a:prstGeom prst="rect">
            <a:avLst/>
          </a:prstGeom>
          <a:solidFill>
            <a:srgbClr val="1E222C"/>
          </a:solidFill>
          <a:ln w="19050">
            <a:solidFill>
              <a:srgbClr val="FF7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29016" y="1261872"/>
            <a:ext cx="3566160" cy="45720"/>
          </a:xfrm>
          <a:prstGeom prst="rect">
            <a:avLst/>
          </a:prstGeom>
          <a:solidFill>
            <a:srgbClr val="FF7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1389888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7F2A"/>
                </a:solidFill>
              </a:rPr>
              <a:t>H2GCN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17556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A93A8"/>
                </a:solidFill>
              </a:rPr>
              <a:t>Zhu et al., NeurIPS 2020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8" y="201168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Method: Ego-neighbour separation + higher-order aggregation + combination.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2523744"/>
            <a:ext cx="32918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A070"/>
                </a:solidFill>
              </a:rPr>
              <a:t>Gap: Strong on structural heterophily. But: purely structural — no text understanding. Cannot distinguish relevant from irrelevant same-structure neighbours.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712464"/>
            <a:ext cx="3566160" cy="2304288"/>
          </a:xfrm>
          <a:prstGeom prst="rect">
            <a:avLst/>
          </a:prstGeom>
          <a:solidFill>
            <a:srgbClr val="1E222C"/>
          </a:solidFill>
          <a:ln w="19050">
            <a:solidFill>
              <a:srgbClr val="A0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3712464"/>
            <a:ext cx="3566160" cy="45720"/>
          </a:xfrm>
          <a:prstGeom prst="rect">
            <a:avLst/>
          </a:prstGeom>
          <a:solidFill>
            <a:srgbClr val="A06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" y="384048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A06CFF"/>
                </a:solidFill>
              </a:rPr>
              <a:t>GPR-GNN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42062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A93A8"/>
                </a:solidFill>
              </a:rPr>
              <a:t>Chien et al., ICLR 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" y="446227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Method: Learnable GeneralizedPageRank weights across k-hop propagation.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" y="4974336"/>
            <a:ext cx="32918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A070"/>
                </a:solidFill>
              </a:rPr>
              <a:t>Gap: Learns global positive/negative propagation weights, handles heterophily well. But: weights are global, not per-node. Cannot adapt per-node based on semantic neighbour reliability.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15968" y="3712464"/>
            <a:ext cx="3566160" cy="2304288"/>
          </a:xfrm>
          <a:prstGeom prst="rect">
            <a:avLst/>
          </a:prstGeom>
          <a:solidFill>
            <a:srgbClr val="1E222C"/>
          </a:solidFill>
          <a:ln w="1905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15968" y="3712464"/>
            <a:ext cx="3566160" cy="4572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80560" y="384048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BC9C"/>
                </a:solidFill>
              </a:rPr>
              <a:t>TAPE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42062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A93A8"/>
                </a:solidFill>
              </a:rPr>
              <a:t>He et al., ICLR 2024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446227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Method: Uses LLM-generated explanations as enriched node features for GNNs.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4974336"/>
            <a:ext cx="32918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A070"/>
                </a:solidFill>
              </a:rPr>
              <a:t>Gap: Leverages LLM text understanding — but only for feature enrichment. Message passing itself remains unguided by semantic reliability. Cannot selectively filter misleading neighbours during aggregation.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29016" y="3712464"/>
            <a:ext cx="3566160" cy="2304288"/>
          </a:xfrm>
          <a:prstGeom prst="rect">
            <a:avLst/>
          </a:prstGeom>
          <a:solidFill>
            <a:srgbClr val="1E222C"/>
          </a:solidFill>
          <a:ln w="1905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129016" y="3712464"/>
            <a:ext cx="3566160" cy="4572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93608" y="384048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107"/>
                </a:solidFill>
              </a:rPr>
              <a:t>STEM-GNN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93608" y="42062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A93A8"/>
                </a:solidFill>
              </a:rPr>
              <a:t>Guo et al., KDD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93608" y="446227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Method: MoE routing + VQ tokenisation + Lipschitz regularisation.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93608" y="4974336"/>
            <a:ext cx="32918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A070"/>
                </a:solidFill>
              </a:rPr>
              <a:t>Gap: Best tri-objective balance (fit / OOD / perturbation). But: MoE router uses post-aggregation z_v — already corrupted by noisy neighbours. No semantic neighbour assessment; OOD-low gap remains (−4.7 pp on Cora).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45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5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Limitations of Prior Methods — Structured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3A8"/>
                </a:solidFill>
              </a:rPr>
              <a:t>Each method covers some axes but leaves at least one gap our proposal fills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133856"/>
            <a:ext cx="11183112" cy="0"/>
          </a:xfrm>
          <a:prstGeom prst="line">
            <a:avLst/>
          </a:prstGeom>
          <a:ln w="11430">
            <a:solidFill>
              <a:srgbClr val="45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02920" y="1261872"/>
            <a:ext cx="11686032" cy="438912"/>
          </a:xfrm>
          <a:prstGeom prst="rect">
            <a:avLst/>
          </a:prstGeom>
          <a:solidFill>
            <a:srgbClr val="0D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1353312"/>
            <a:ext cx="15727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59BFF"/>
                </a:solidFill>
              </a:rPr>
              <a:t>Criterion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12264" y="1307592"/>
            <a:ext cx="124358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59BFF"/>
                </a:solidFill>
              </a:rPr>
              <a:t>GraphSAGE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307592"/>
            <a:ext cx="124358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59BFF"/>
                </a:solidFill>
              </a:rPr>
              <a:t>GNNGuard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45736" y="1307592"/>
            <a:ext cx="124358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59BFF"/>
                </a:solidFill>
              </a:rPr>
              <a:t>H2GCN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62472" y="1307592"/>
            <a:ext cx="124358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59BFF"/>
                </a:solidFill>
              </a:rPr>
              <a:t>GPR-GNN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9208" y="1307592"/>
            <a:ext cx="124358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59BFF"/>
                </a:solidFill>
              </a:rPr>
              <a:t>TAPE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5944" y="1307592"/>
            <a:ext cx="124358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59BFF"/>
                </a:solidFill>
              </a:rPr>
              <a:t>STEM-GNN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12680" y="1307592"/>
            <a:ext cx="124358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C107"/>
                </a:solidFill>
              </a:rPr>
              <a:t>Ours (proposed)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1700784"/>
            <a:ext cx="11686032" cy="548640"/>
          </a:xfrm>
          <a:prstGeom prst="rect">
            <a:avLst/>
          </a:prstGeom>
          <a:solidFill>
            <a:srgbClr val="181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" y="1792224"/>
            <a:ext cx="148132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A93A8"/>
                </a:solidFill>
              </a:rPr>
              <a:t>Handles heterophily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75688" y="1700784"/>
            <a:ext cx="1316736" cy="548640"/>
          </a:xfrm>
          <a:prstGeom prst="rect">
            <a:avLst/>
          </a:prstGeom>
          <a:solidFill>
            <a:srgbClr val="181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75688" y="181051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4D4D"/>
                </a:solidFill>
              </a:rPr>
              <a:t>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92424" y="1700784"/>
            <a:ext cx="1316736" cy="548640"/>
          </a:xfrm>
          <a:prstGeom prst="rect">
            <a:avLst/>
          </a:prstGeom>
          <a:solidFill>
            <a:srgbClr val="181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92424" y="181051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4D4D"/>
                </a:solidFill>
              </a:rPr>
              <a:t>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09160" y="1700784"/>
            <a:ext cx="1316736" cy="548640"/>
          </a:xfrm>
          <a:prstGeom prst="rect">
            <a:avLst/>
          </a:prstGeom>
          <a:solidFill>
            <a:srgbClr val="181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09160" y="181051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25896" y="1700784"/>
            <a:ext cx="1316736" cy="548640"/>
          </a:xfrm>
          <a:prstGeom prst="rect">
            <a:avLst/>
          </a:prstGeom>
          <a:solidFill>
            <a:srgbClr val="181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25896" y="181051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42632" y="1700784"/>
            <a:ext cx="1316736" cy="548640"/>
          </a:xfrm>
          <a:prstGeom prst="rect">
            <a:avLst/>
          </a:prstGeom>
          <a:solidFill>
            <a:srgbClr val="181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42632" y="181051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4D4D"/>
                </a:solidFill>
              </a:rPr>
              <a:t>✗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59368" y="1700784"/>
            <a:ext cx="1316736" cy="548640"/>
          </a:xfrm>
          <a:prstGeom prst="rect">
            <a:avLst/>
          </a:prstGeom>
          <a:solidFill>
            <a:srgbClr val="1A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59368" y="181051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C107"/>
                </a:solidFill>
              </a:rPr>
              <a:t>△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976104" y="1700784"/>
            <a:ext cx="1316736" cy="548640"/>
          </a:xfrm>
          <a:prstGeom prst="rect">
            <a:avLst/>
          </a:prstGeom>
          <a:solidFill>
            <a:srgbClr val="181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76104" y="181051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2249424"/>
            <a:ext cx="11686032" cy="548640"/>
          </a:xfrm>
          <a:prstGeom prst="rect">
            <a:avLst/>
          </a:prstGeom>
          <a:solidFill>
            <a:srgbClr val="1E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6072" y="2340864"/>
            <a:ext cx="148132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A93A8"/>
                </a:solidFill>
              </a:rPr>
              <a:t>Resists injection attack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75688" y="2249424"/>
            <a:ext cx="1316736" cy="548640"/>
          </a:xfrm>
          <a:prstGeom prst="rect">
            <a:avLst/>
          </a:prstGeom>
          <a:solidFill>
            <a:srgbClr val="1E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75688" y="235915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4D4D"/>
                </a:solidFill>
              </a:rPr>
              <a:t>✗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92424" y="2249424"/>
            <a:ext cx="1316736" cy="548640"/>
          </a:xfrm>
          <a:prstGeom prst="rect">
            <a:avLst/>
          </a:prstGeom>
          <a:solidFill>
            <a:srgbClr val="1E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92424" y="235915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4D4D"/>
                </a:solidFill>
              </a:rPr>
              <a:t>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09160" y="2249424"/>
            <a:ext cx="1316736" cy="548640"/>
          </a:xfrm>
          <a:prstGeom prst="rect">
            <a:avLst/>
          </a:prstGeom>
          <a:solidFill>
            <a:srgbClr val="1E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09160" y="235915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4D4D"/>
                </a:solidFill>
              </a:rPr>
              <a:t>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25896" y="2249424"/>
            <a:ext cx="1316736" cy="548640"/>
          </a:xfrm>
          <a:prstGeom prst="rect">
            <a:avLst/>
          </a:prstGeom>
          <a:solidFill>
            <a:srgbClr val="1E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25896" y="235915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4D4D"/>
                </a:solidFill>
              </a:rPr>
              <a:t>✗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42632" y="2249424"/>
            <a:ext cx="1316736" cy="548640"/>
          </a:xfrm>
          <a:prstGeom prst="rect">
            <a:avLst/>
          </a:prstGeom>
          <a:solidFill>
            <a:srgbClr val="1E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42632" y="235915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4D4D"/>
                </a:solidFill>
              </a:rPr>
              <a:t>✗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59368" y="2249424"/>
            <a:ext cx="1316736" cy="548640"/>
          </a:xfrm>
          <a:prstGeom prst="rect">
            <a:avLst/>
          </a:prstGeom>
          <a:solidFill>
            <a:srgbClr val="1A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59368" y="235915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C107"/>
                </a:solidFill>
              </a:rPr>
              <a:t>△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976104" y="2249424"/>
            <a:ext cx="1316736" cy="548640"/>
          </a:xfrm>
          <a:prstGeom prst="rect">
            <a:avLst/>
          </a:prstGeom>
          <a:solidFill>
            <a:srgbClr val="1E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976104" y="235915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2798064"/>
            <a:ext cx="11686032" cy="548640"/>
          </a:xfrm>
          <a:prstGeom prst="rect">
            <a:avLst/>
          </a:prstGeom>
          <a:solidFill>
            <a:srgbClr val="181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76072" y="2889504"/>
            <a:ext cx="148132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A93A8"/>
                </a:solidFill>
              </a:rPr>
              <a:t>Per-node reliability gate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075688" y="2798064"/>
            <a:ext cx="1316736" cy="548640"/>
          </a:xfrm>
          <a:prstGeom prst="rect">
            <a:avLst/>
          </a:prstGeom>
          <a:solidFill>
            <a:srgbClr val="181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075688" y="290779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4D4D"/>
                </a:solidFill>
              </a:rPr>
              <a:t>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392424" y="2798064"/>
            <a:ext cx="1316736" cy="548640"/>
          </a:xfrm>
          <a:prstGeom prst="rect">
            <a:avLst/>
          </a:prstGeom>
          <a:solidFill>
            <a:srgbClr val="181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92424" y="290779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C107"/>
                </a:solidFill>
              </a:rPr>
              <a:t>△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09160" y="2798064"/>
            <a:ext cx="1316736" cy="548640"/>
          </a:xfrm>
          <a:prstGeom prst="rect">
            <a:avLst/>
          </a:prstGeom>
          <a:solidFill>
            <a:srgbClr val="181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09160" y="290779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4D4D"/>
                </a:solidFill>
              </a:rPr>
              <a:t>✗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025896" y="2798064"/>
            <a:ext cx="1316736" cy="548640"/>
          </a:xfrm>
          <a:prstGeom prst="rect">
            <a:avLst/>
          </a:prstGeom>
          <a:solidFill>
            <a:srgbClr val="181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25896" y="290779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4D4D"/>
                </a:solidFill>
              </a:rPr>
              <a:t>✗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342632" y="2798064"/>
            <a:ext cx="1316736" cy="548640"/>
          </a:xfrm>
          <a:prstGeom prst="rect">
            <a:avLst/>
          </a:prstGeom>
          <a:solidFill>
            <a:srgbClr val="181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42632" y="290779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4D4D"/>
                </a:solidFill>
              </a:rPr>
              <a:t>✗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659368" y="2798064"/>
            <a:ext cx="1316736" cy="548640"/>
          </a:xfrm>
          <a:prstGeom prst="rect">
            <a:avLst/>
          </a:prstGeom>
          <a:solidFill>
            <a:srgbClr val="1A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659368" y="290779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C107"/>
                </a:solidFill>
              </a:rPr>
              <a:t>△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976104" y="2798064"/>
            <a:ext cx="1316736" cy="548640"/>
          </a:xfrm>
          <a:prstGeom prst="rect">
            <a:avLst/>
          </a:prstGeom>
          <a:solidFill>
            <a:srgbClr val="181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976104" y="290779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3346704"/>
            <a:ext cx="11686032" cy="548640"/>
          </a:xfrm>
          <a:prstGeom prst="rect">
            <a:avLst/>
          </a:prstGeom>
          <a:solidFill>
            <a:srgbClr val="1E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76072" y="3438144"/>
            <a:ext cx="148132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A93A8"/>
                </a:solidFill>
              </a:rPr>
              <a:t>Uses LLM text semantics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075688" y="3346704"/>
            <a:ext cx="1316736" cy="548640"/>
          </a:xfrm>
          <a:prstGeom prst="rect">
            <a:avLst/>
          </a:prstGeom>
          <a:solidFill>
            <a:srgbClr val="1E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075688" y="345643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4D4D"/>
                </a:solidFill>
              </a:rPr>
              <a:t>✗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392424" y="3346704"/>
            <a:ext cx="1316736" cy="548640"/>
          </a:xfrm>
          <a:prstGeom prst="rect">
            <a:avLst/>
          </a:prstGeom>
          <a:solidFill>
            <a:srgbClr val="1E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392424" y="345643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4D4D"/>
                </a:solidFill>
              </a:rPr>
              <a:t>✗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709160" y="3346704"/>
            <a:ext cx="1316736" cy="548640"/>
          </a:xfrm>
          <a:prstGeom prst="rect">
            <a:avLst/>
          </a:prstGeom>
          <a:solidFill>
            <a:srgbClr val="1E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709160" y="345643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4D4D"/>
                </a:solidFill>
              </a:rPr>
              <a:t>✗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025896" y="3346704"/>
            <a:ext cx="1316736" cy="548640"/>
          </a:xfrm>
          <a:prstGeom prst="rect">
            <a:avLst/>
          </a:prstGeom>
          <a:solidFill>
            <a:srgbClr val="1E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025896" y="345643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4D4D"/>
                </a:solidFill>
              </a:rPr>
              <a:t>✗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42632" y="3346704"/>
            <a:ext cx="1316736" cy="548640"/>
          </a:xfrm>
          <a:prstGeom prst="rect">
            <a:avLst/>
          </a:prstGeom>
          <a:solidFill>
            <a:srgbClr val="1E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42632" y="345643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659368" y="3346704"/>
            <a:ext cx="1316736" cy="548640"/>
          </a:xfrm>
          <a:prstGeom prst="rect">
            <a:avLst/>
          </a:prstGeom>
          <a:solidFill>
            <a:srgbClr val="1A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659368" y="345643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4D4D"/>
                </a:solidFill>
              </a:rPr>
              <a:t>✗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976104" y="3346704"/>
            <a:ext cx="1316736" cy="548640"/>
          </a:xfrm>
          <a:prstGeom prst="rect">
            <a:avLst/>
          </a:prstGeom>
          <a:solidFill>
            <a:srgbClr val="1E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976104" y="345643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02920" y="3895344"/>
            <a:ext cx="11686032" cy="548640"/>
          </a:xfrm>
          <a:prstGeom prst="rect">
            <a:avLst/>
          </a:prstGeom>
          <a:solidFill>
            <a:srgbClr val="181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76072" y="3986784"/>
            <a:ext cx="148132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A93A8"/>
                </a:solidFill>
              </a:rPr>
              <a:t>Semantic label-support
judgment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075688" y="3895344"/>
            <a:ext cx="1316736" cy="548640"/>
          </a:xfrm>
          <a:prstGeom prst="rect">
            <a:avLst/>
          </a:prstGeom>
          <a:solidFill>
            <a:srgbClr val="181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075688" y="400507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4D4D"/>
                </a:solidFill>
              </a:rPr>
              <a:t>✗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392424" y="3895344"/>
            <a:ext cx="1316736" cy="548640"/>
          </a:xfrm>
          <a:prstGeom prst="rect">
            <a:avLst/>
          </a:prstGeom>
          <a:solidFill>
            <a:srgbClr val="181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392424" y="400507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4D4D"/>
                </a:solidFill>
              </a:rPr>
              <a:t>✗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709160" y="3895344"/>
            <a:ext cx="1316736" cy="548640"/>
          </a:xfrm>
          <a:prstGeom prst="rect">
            <a:avLst/>
          </a:prstGeom>
          <a:solidFill>
            <a:srgbClr val="181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09160" y="400507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4D4D"/>
                </a:solidFill>
              </a:rPr>
              <a:t>✗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025896" y="3895344"/>
            <a:ext cx="1316736" cy="548640"/>
          </a:xfrm>
          <a:prstGeom prst="rect">
            <a:avLst/>
          </a:prstGeom>
          <a:solidFill>
            <a:srgbClr val="181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025896" y="400507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4D4D"/>
                </a:solidFill>
              </a:rPr>
              <a:t>✗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342632" y="3895344"/>
            <a:ext cx="1316736" cy="548640"/>
          </a:xfrm>
          <a:prstGeom prst="rect">
            <a:avLst/>
          </a:prstGeom>
          <a:solidFill>
            <a:srgbClr val="181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342632" y="400507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4D4D"/>
                </a:solidFill>
              </a:rPr>
              <a:t>✗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659368" y="3895344"/>
            <a:ext cx="1316736" cy="548640"/>
          </a:xfrm>
          <a:prstGeom prst="rect">
            <a:avLst/>
          </a:prstGeom>
          <a:solidFill>
            <a:srgbClr val="1A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659368" y="400507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4D4D"/>
                </a:solidFill>
              </a:rPr>
              <a:t>✗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976104" y="3895344"/>
            <a:ext cx="1316736" cy="548640"/>
          </a:xfrm>
          <a:prstGeom prst="rect">
            <a:avLst/>
          </a:prstGeom>
          <a:solidFill>
            <a:srgbClr val="181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976104" y="400507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4443984"/>
            <a:ext cx="11686032" cy="548640"/>
          </a:xfrm>
          <a:prstGeom prst="rect">
            <a:avLst/>
          </a:prstGeom>
          <a:solidFill>
            <a:srgbClr val="1E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6072" y="4535424"/>
            <a:ext cx="148132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A93A8"/>
                </a:solidFill>
              </a:rPr>
              <a:t>Works under OOD
structure shift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075688" y="4443984"/>
            <a:ext cx="1316736" cy="548640"/>
          </a:xfrm>
          <a:prstGeom prst="rect">
            <a:avLst/>
          </a:prstGeom>
          <a:solidFill>
            <a:srgbClr val="1E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075688" y="455371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4D4D"/>
                </a:solidFill>
              </a:rPr>
              <a:t>✗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3392424" y="4443984"/>
            <a:ext cx="1316736" cy="548640"/>
          </a:xfrm>
          <a:prstGeom prst="rect">
            <a:avLst/>
          </a:prstGeom>
          <a:solidFill>
            <a:srgbClr val="1E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392424" y="455371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4D4D"/>
                </a:solidFill>
              </a:rPr>
              <a:t>✗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4709160" y="4443984"/>
            <a:ext cx="1316736" cy="548640"/>
          </a:xfrm>
          <a:prstGeom prst="rect">
            <a:avLst/>
          </a:prstGeom>
          <a:solidFill>
            <a:srgbClr val="1E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709160" y="455371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C107"/>
                </a:solidFill>
              </a:rPr>
              <a:t>△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025896" y="4443984"/>
            <a:ext cx="1316736" cy="548640"/>
          </a:xfrm>
          <a:prstGeom prst="rect">
            <a:avLst/>
          </a:prstGeom>
          <a:solidFill>
            <a:srgbClr val="1E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025896" y="455371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C107"/>
                </a:solidFill>
              </a:rPr>
              <a:t>△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342632" y="4443984"/>
            <a:ext cx="1316736" cy="548640"/>
          </a:xfrm>
          <a:prstGeom prst="rect">
            <a:avLst/>
          </a:prstGeom>
          <a:solidFill>
            <a:srgbClr val="1E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342632" y="455371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4D4D"/>
                </a:solidFill>
              </a:rPr>
              <a:t>✗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659368" y="4443984"/>
            <a:ext cx="1316736" cy="548640"/>
          </a:xfrm>
          <a:prstGeom prst="rect">
            <a:avLst/>
          </a:prstGeom>
          <a:solidFill>
            <a:srgbClr val="1A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659368" y="455371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976104" y="4443984"/>
            <a:ext cx="1316736" cy="548640"/>
          </a:xfrm>
          <a:prstGeom prst="rect">
            <a:avLst/>
          </a:prstGeom>
          <a:solidFill>
            <a:srgbClr val="1E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976104" y="455371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2920" y="4992624"/>
            <a:ext cx="11686032" cy="548640"/>
          </a:xfrm>
          <a:prstGeom prst="rect">
            <a:avLst/>
          </a:prstGeom>
          <a:solidFill>
            <a:srgbClr val="181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76072" y="5084064"/>
            <a:ext cx="148132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A93A8"/>
                </a:solidFill>
              </a:rPr>
              <a:t>No task-specific
re-training needed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2075688" y="4992624"/>
            <a:ext cx="1316736" cy="548640"/>
          </a:xfrm>
          <a:prstGeom prst="rect">
            <a:avLst/>
          </a:prstGeom>
          <a:solidFill>
            <a:srgbClr val="181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2075688" y="510235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392424" y="4992624"/>
            <a:ext cx="1316736" cy="548640"/>
          </a:xfrm>
          <a:prstGeom prst="rect">
            <a:avLst/>
          </a:prstGeom>
          <a:solidFill>
            <a:srgbClr val="181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392424" y="510235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709160" y="4992624"/>
            <a:ext cx="1316736" cy="548640"/>
          </a:xfrm>
          <a:prstGeom prst="rect">
            <a:avLst/>
          </a:prstGeom>
          <a:solidFill>
            <a:srgbClr val="181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709160" y="510235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025896" y="4992624"/>
            <a:ext cx="1316736" cy="548640"/>
          </a:xfrm>
          <a:prstGeom prst="rect">
            <a:avLst/>
          </a:prstGeom>
          <a:solidFill>
            <a:srgbClr val="181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25896" y="510235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7342632" y="4992624"/>
            <a:ext cx="1316736" cy="548640"/>
          </a:xfrm>
          <a:prstGeom prst="rect">
            <a:avLst/>
          </a:prstGeom>
          <a:solidFill>
            <a:srgbClr val="181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342632" y="510235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4D4D"/>
                </a:solidFill>
              </a:rPr>
              <a:t>✗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659368" y="4992624"/>
            <a:ext cx="1316736" cy="548640"/>
          </a:xfrm>
          <a:prstGeom prst="rect">
            <a:avLst/>
          </a:prstGeom>
          <a:solidFill>
            <a:srgbClr val="1A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659368" y="510235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976104" y="4992624"/>
            <a:ext cx="1316736" cy="548640"/>
          </a:xfrm>
          <a:prstGeom prst="rect">
            <a:avLst/>
          </a:prstGeom>
          <a:solidFill>
            <a:srgbClr val="181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976104" y="510235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0" y="6601968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A93A8"/>
                </a:solidFill>
              </a:rPr>
              <a:t>✓ = fully addressed   △ = partially addressed   ✗ = not addressed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45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5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Experiment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3A8"/>
                </a:solidFill>
              </a:rPr>
              <a:t>Following STEM-GNN's tri-objective evaluation framework — extended with semantic stress conditions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133856"/>
            <a:ext cx="11183112" cy="0"/>
          </a:xfrm>
          <a:prstGeom prst="line">
            <a:avLst/>
          </a:prstGeom>
          <a:ln w="11430">
            <a:solidFill>
              <a:srgbClr val="45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02920" y="1261872"/>
            <a:ext cx="3611880" cy="3310128"/>
          </a:xfrm>
          <a:prstGeom prst="rect">
            <a:avLst/>
          </a:prstGeom>
          <a:solidFill>
            <a:srgbClr val="1E222C"/>
          </a:solidFill>
          <a:ln w="19050">
            <a:solidFill>
              <a:srgbClr val="45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61872"/>
            <a:ext cx="3611880" cy="54864"/>
          </a:xfrm>
          <a:prstGeom prst="rect">
            <a:avLst/>
          </a:prstGeom>
          <a:solidFill>
            <a:srgbClr val="45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408176"/>
            <a:ext cx="3337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459BFF"/>
                </a:solidFill>
              </a:rPr>
              <a:t>① 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828800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A93A8"/>
                </a:solidFill>
              </a:rPr>
              <a:t>Standard clean-graph accuracy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176272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· Train on clean Cora / PubMed / WikiCS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724912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· Evaluate on held-out clean test nodes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273552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· 10 random seeds — mean ± std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3822192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· Baseline: STEM-GNN 79.53% (Cora)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4256" y="1261872"/>
            <a:ext cx="3611880" cy="3310128"/>
          </a:xfrm>
          <a:prstGeom prst="rect">
            <a:avLst/>
          </a:prstGeom>
          <a:solidFill>
            <a:srgbClr val="1E222C"/>
          </a:solidFill>
          <a:ln w="19050">
            <a:solidFill>
              <a:srgbClr val="FF7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4256" y="1261872"/>
            <a:ext cx="3611880" cy="54864"/>
          </a:xfrm>
          <a:prstGeom prst="rect">
            <a:avLst/>
          </a:prstGeom>
          <a:solidFill>
            <a:srgbClr val="FF7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98848" y="1408176"/>
            <a:ext cx="3337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7F2A"/>
                </a:solidFill>
              </a:rPr>
              <a:t>② OOD Generalization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8848" y="1828800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A93A8"/>
                </a:solidFill>
              </a:rPr>
              <a:t>Degree shift + Homophily shift buckets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98848" y="2176272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· Sort test nodes by degree (bottom/top 15% = OOD)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8848" y="2724912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· Sort by mean-hop cosine similarity to class prototype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8848" y="3273552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· OOD-low (hard) / OOD-high (easy) / ID buckets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3822192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· Target: close STEM-GNN OOD-low gap (−4.7 pp)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65592" y="1261872"/>
            <a:ext cx="3611880" cy="3310128"/>
          </a:xfrm>
          <a:prstGeom prst="rect">
            <a:avLst/>
          </a:prstGeom>
          <a:solidFill>
            <a:srgbClr val="1E222C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65592" y="1261872"/>
            <a:ext cx="3611880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30184" y="1408176"/>
            <a:ext cx="3337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ECC71"/>
                </a:solidFill>
              </a:rPr>
              <a:t>③ Robustness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0184" y="1828800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A93A8"/>
                </a:solidFill>
              </a:rPr>
              <a:t>Perturbation stability under noise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0184" y="2176272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· Feature masking: Bernoulli zeroing, rate α ∈ {0.2,0.4,0.6,0.8}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0184" y="2724912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· Edge deletion: rate p ∈ {0.2,0.4,0.6}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0184" y="3273552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· Confusing-edge injection: ratio r ∈ {0,10,20,30,40,50%}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0184" y="3822192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· Perturb-mean: mean accuracy across all perturbation levels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736592"/>
            <a:ext cx="11201400" cy="1920240"/>
          </a:xfrm>
          <a:prstGeom prst="rect">
            <a:avLst/>
          </a:prstGeom>
          <a:solidFill>
            <a:srgbClr val="101522"/>
          </a:solidFill>
          <a:ln w="10160">
            <a:solidFill>
              <a:srgbClr val="353C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4846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Datasets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230368"/>
            <a:ext cx="1828800" cy="1207008"/>
          </a:xfrm>
          <a:prstGeom prst="rect">
            <a:avLst/>
          </a:prstGeom>
          <a:solidFill>
            <a:srgbClr val="1E222C"/>
          </a:solidFill>
          <a:ln w="10160">
            <a:solidFill>
              <a:srgbClr val="45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9808" y="5303520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59BFF"/>
                </a:solidFill>
              </a:rPr>
              <a:t>Cora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8" y="5632704"/>
            <a:ext cx="1691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3A8"/>
                </a:solidFill>
              </a:rPr>
              <a:t>2,708 nodes · 7 classes · 768-dim text emb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6053328"/>
            <a:ext cx="1691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Homophily + injection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523744" y="5230368"/>
            <a:ext cx="1828800" cy="1207008"/>
          </a:xfrm>
          <a:prstGeom prst="rect">
            <a:avLst/>
          </a:prstGeom>
          <a:solidFill>
            <a:srgbClr val="1E222C"/>
          </a:solidFill>
          <a:ln w="10160">
            <a:solidFill>
              <a:srgbClr val="45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615184" y="5303520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59BFF"/>
                </a:solidFill>
              </a:rPr>
              <a:t>PubMed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15184" y="5632704"/>
            <a:ext cx="1691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3A8"/>
                </a:solidFill>
              </a:rPr>
              <a:t>19,717 nodes · 3 classes · 768-dim text emb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15184" y="6053328"/>
            <a:ext cx="1691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OOD degree shift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120" y="5230368"/>
            <a:ext cx="1828800" cy="1207008"/>
          </a:xfrm>
          <a:prstGeom prst="rect">
            <a:avLst/>
          </a:prstGeom>
          <a:solidFill>
            <a:srgbClr val="1E222C"/>
          </a:solidFill>
          <a:ln w="10160">
            <a:solidFill>
              <a:srgbClr val="45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80560" y="5303520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59BFF"/>
                </a:solidFill>
              </a:rPr>
              <a:t>WikiCS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80560" y="5632704"/>
            <a:ext cx="1691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3A8"/>
                </a:solidFill>
              </a:rPr>
              <a:t>11,701 nodes · 10 classes · 768-dim text emb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053328"/>
            <a:ext cx="1691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Homophily shift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54496" y="5230368"/>
            <a:ext cx="1828800" cy="1207008"/>
          </a:xfrm>
          <a:prstGeom prst="rect">
            <a:avLst/>
          </a:prstGeom>
          <a:solidFill>
            <a:srgbClr val="1E222C"/>
          </a:solidFill>
          <a:ln w="10160">
            <a:solidFill>
              <a:srgbClr val="FF4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45936" y="5303520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4D4D"/>
                </a:solidFill>
              </a:rPr>
              <a:t>Texas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45936" y="5632704"/>
            <a:ext cx="1691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3A8"/>
                </a:solidFill>
              </a:rPr>
              <a:t>183 nodes · 5 classes · homophily=0.31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45936" y="6053328"/>
            <a:ext cx="1691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Structural heterophily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119872" y="5230368"/>
            <a:ext cx="1828800" cy="1207008"/>
          </a:xfrm>
          <a:prstGeom prst="rect">
            <a:avLst/>
          </a:prstGeom>
          <a:solidFill>
            <a:srgbClr val="1E222C"/>
          </a:solidFill>
          <a:ln w="10160">
            <a:solidFill>
              <a:srgbClr val="FF4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11312" y="5303520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4D4D"/>
                </a:solidFill>
              </a:rPr>
              <a:t>Wisconsin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11312" y="5632704"/>
            <a:ext cx="1691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3A8"/>
                </a:solidFill>
              </a:rPr>
              <a:t>251 nodes · 5 classes · homophily=0.20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11312" y="6053328"/>
            <a:ext cx="1691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Structural heterophily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985248" y="5230368"/>
            <a:ext cx="1828800" cy="1207008"/>
          </a:xfrm>
          <a:prstGeom prst="rect">
            <a:avLst/>
          </a:prstGeom>
          <a:solidFill>
            <a:srgbClr val="1E222C"/>
          </a:solidFill>
          <a:ln w="10160">
            <a:solidFill>
              <a:srgbClr val="FF7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076688" y="5303520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A"/>
                </a:solidFill>
              </a:rPr>
              <a:t>Chameleon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76688" y="5632704"/>
            <a:ext cx="1691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3A8"/>
                </a:solidFill>
              </a:rPr>
              <a:t>2,277 nodes · 5 classes · homophily=0.23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76688" y="6053328"/>
            <a:ext cx="1691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Large heterophily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45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5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Method: LLM-Guided Semantic Trust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3A8"/>
                </a:solidFill>
              </a:rPr>
              <a:t>β_v driven by LLM label-support judgment — not feature cosine, not model confidence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133856"/>
            <a:ext cx="11183112" cy="0"/>
          </a:xfrm>
          <a:prstGeom prst="line">
            <a:avLst/>
          </a:prstGeom>
          <a:ln w="11430">
            <a:solidFill>
              <a:srgbClr val="45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224028" y="1298448"/>
            <a:ext cx="1536192" cy="777240"/>
          </a:xfrm>
          <a:prstGeom prst="rect">
            <a:avLst/>
          </a:prstGeom>
          <a:solidFill>
            <a:srgbClr val="1E222C"/>
          </a:solidFill>
          <a:ln w="10160">
            <a:solidFill>
              <a:srgbClr val="8A93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7180" y="1408176"/>
            <a:ext cx="14447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8A93A8"/>
                </a:solidFill>
              </a:rPr>
              <a:t>Node v
Text T_v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60220.0" y="1687068.0"/>
            <a:ext cx="164592.0" cy="0.0"/>
          </a:xfrm>
          <a:prstGeom prst="line">
            <a:avLst/>
          </a:prstGeom>
          <a:ln w="12700">
            <a:solidFill>
              <a:srgbClr val="8A93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1924812" y="1298448"/>
            <a:ext cx="1536192" cy="777240"/>
          </a:xfrm>
          <a:prstGeom prst="rect">
            <a:avLst/>
          </a:prstGeom>
          <a:solidFill>
            <a:srgbClr val="1E222C"/>
          </a:solidFill>
          <a:ln w="10160">
            <a:solidFill>
              <a:srgbClr val="45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97964" y="1408176"/>
            <a:ext cx="14447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459BFF"/>
                </a:solidFill>
              </a:rPr>
              <a:t>LLM Encoder
φ(T_v) = e_v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61004.0" y="1687068.0"/>
            <a:ext cx="164592.0" cy="0.0"/>
          </a:xfrm>
          <a:prstGeom prst="line">
            <a:avLst/>
          </a:prstGeom>
          <a:ln w="12700">
            <a:solidFill>
              <a:srgbClr val="8A93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625596" y="1298448"/>
            <a:ext cx="1536192" cy="777240"/>
          </a:xfrm>
          <a:prstGeom prst="rect">
            <a:avLst/>
          </a:prstGeom>
          <a:solidFill>
            <a:srgbClr val="1A263A"/>
          </a:solidFill>
          <a:ln w="1905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98748" y="1408176"/>
            <a:ext cx="14447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C107"/>
                </a:solidFill>
              </a:rPr>
              <a:t>Label-Support
Query  q_v,u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61788.0" y="1687068.0"/>
            <a:ext cx="164592.0" cy="0.0"/>
          </a:xfrm>
          <a:prstGeom prst="line">
            <a:avLst/>
          </a:prstGeom>
          <a:ln w="12700">
            <a:solidFill>
              <a:srgbClr val="8A93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326380" y="1298448"/>
            <a:ext cx="1536192" cy="777240"/>
          </a:xfrm>
          <a:prstGeom prst="rect">
            <a:avLst/>
          </a:prstGeom>
          <a:solidFill>
            <a:srgbClr val="1A263A"/>
          </a:solidFill>
          <a:ln w="1905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9532" y="1408176"/>
            <a:ext cx="14447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C107"/>
                </a:solidFill>
              </a:rPr>
              <a:t>Trust Score
β_v = f(q_v,·)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62572.0" y="1687068.0"/>
            <a:ext cx="164592.0" cy="0.0"/>
          </a:xfrm>
          <a:prstGeom prst="line">
            <a:avLst/>
          </a:prstGeom>
          <a:ln w="12700">
            <a:solidFill>
              <a:srgbClr val="8A93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7027164" y="1298448"/>
            <a:ext cx="1536192" cy="777240"/>
          </a:xfrm>
          <a:prstGeom prst="rect">
            <a:avLst/>
          </a:prstGeom>
          <a:solidFill>
            <a:srgbClr val="1E222C"/>
          </a:solidFill>
          <a:ln w="1016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00316" y="1408176"/>
            <a:ext cx="14447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ECC71"/>
                </a:solidFill>
              </a:rPr>
              <a:t>Gated
Aggregation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563356.0" y="1687068.0"/>
            <a:ext cx="164592.0" cy="0.0"/>
          </a:xfrm>
          <a:prstGeom prst="line">
            <a:avLst/>
          </a:prstGeom>
          <a:ln w="12700">
            <a:solidFill>
              <a:srgbClr val="8A93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727948" y="1298448"/>
            <a:ext cx="1536192" cy="777240"/>
          </a:xfrm>
          <a:prstGeom prst="rect">
            <a:avLst/>
          </a:prstGeom>
          <a:solidFill>
            <a:srgbClr val="1E222C"/>
          </a:solidFill>
          <a:ln w="10160">
            <a:solidFill>
              <a:srgbClr val="A0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01100" y="1408176"/>
            <a:ext cx="14447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A06CFF"/>
                </a:solidFill>
              </a:rPr>
              <a:t>MoE Encoder
(STEM-GNN)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264140.0" y="1687068.0"/>
            <a:ext cx="164592.0" cy="0.0"/>
          </a:xfrm>
          <a:prstGeom prst="line">
            <a:avLst/>
          </a:prstGeom>
          <a:ln w="12700">
            <a:solidFill>
              <a:srgbClr val="8A93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10428732" y="1298448"/>
            <a:ext cx="1536192" cy="777240"/>
          </a:xfrm>
          <a:prstGeom prst="rect">
            <a:avLst/>
          </a:prstGeom>
          <a:solidFill>
            <a:srgbClr val="1E222C"/>
          </a:solidFill>
          <a:ln w="1016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01884" y="1408176"/>
            <a:ext cx="14447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ECC71"/>
                </a:solidFill>
              </a:rPr>
              <a:t>VQ + Lip
Head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25596" y="2130552"/>
            <a:ext cx="3236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C107"/>
                </a:solidFill>
              </a:rPr>
              <a:t>◀ Our addition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377440"/>
            <a:ext cx="5486400" cy="2468880"/>
          </a:xfrm>
          <a:prstGeom prst="rect">
            <a:avLst/>
          </a:prstGeom>
          <a:solidFill>
            <a:srgbClr val="0A1422"/>
          </a:solidFill>
          <a:ln w="15240">
            <a:solidFill>
              <a:srgbClr val="45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248716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59BFF"/>
                </a:solidFill>
              </a:rPr>
              <a:t>LLM Label-Support Prompt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2871216"/>
            <a:ext cx="5212080" cy="1883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Given that node v is described as:
"[T_v]"
And neighbour u is described as:
"[T_u]"
Is u's content:
(A) Supportive — relevant evidence for v being class C
(B) Irrelevant — neither supports nor contradicts
(C) Misleading — likely to push v toward the wrong class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2377440"/>
            <a:ext cx="5513832" cy="2468880"/>
          </a:xfrm>
          <a:prstGeom prst="rect">
            <a:avLst/>
          </a:prstGeom>
          <a:solidFill>
            <a:srgbClr val="0C180C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27648" y="248716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CC71"/>
                </a:solidFill>
              </a:rPr>
              <a:t>Gate Formula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7648" y="2816352"/>
            <a:ext cx="685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107"/>
                </a:solidFill>
              </a:rPr>
              <a:t>q_v,u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67728" y="2816352"/>
            <a:ext cx="4572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= P(supportive | T_v, T_u, class C)   via LLM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3328416"/>
            <a:ext cx="685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107"/>
                </a:solidFill>
              </a:rPr>
              <a:t>β_v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67728" y="3328416"/>
            <a:ext cx="4572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= 1 − mean_u∈N(v)(q_v,u)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3840480"/>
            <a:ext cx="52120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A93A8"/>
                </a:solidFill>
              </a:rPr>
              <a:t>high β_v → trust self more (neighbours unreliable)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27648" y="4352544"/>
            <a:ext cx="685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107"/>
                </a:solidFill>
              </a:rPr>
              <a:t>h_v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67728" y="4352544"/>
            <a:ext cx="4572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= β_v · W_self(h_v) + (1−β_v) · W_neigh(mean(h_u))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029200"/>
            <a:ext cx="11201400" cy="1609344"/>
          </a:xfrm>
          <a:prstGeom prst="rect">
            <a:avLst/>
          </a:prstGeom>
          <a:solidFill>
            <a:srgbClr val="101522"/>
          </a:solidFill>
          <a:ln w="1524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513892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C107"/>
                </a:solidFill>
              </a:rPr>
              <a:t>Why LLM Label-Support &gt; Feature Cosine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553212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4D4D"/>
                </a:solidFill>
              </a:rPr>
              <a:t>GNNGuard / cosine: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68880" y="553212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cos(e_v, e_u) — high for same-topic nodes regardless of label. Fails our injection test.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591616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A93A8"/>
                </a:solidFill>
              </a:rPr>
              <a:t>Mowst / confidence: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68880" y="59161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max softmax(logits_u) — no text understanding; calibration degrades under shift.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6300216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59BFF"/>
                </a:solidFill>
              </a:rPr>
              <a:t>TAPE / LLM features: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68880" y="6300216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LLM encodes T_v as richer features — but aggregation still equal-weight on all neighbours.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" y="668426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107"/>
                </a:solidFill>
              </a:rPr>
              <a:t>Ours / label-support: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68880" y="6684264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LLM explicitly judges 'is u evidence for v's class?' — text-similar ≠ same-label catches injection.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45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5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716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Experimental Results  ·  Trust Gate vs. Baselines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6751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3A8"/>
                </a:solidFill>
              </a:rPr>
              <a:t>Cora (injection sweep, 3 seeds)  ·  Texas WebKB (heterophily, 3 splits)  ·  200 epochs each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024128"/>
            <a:ext cx="11183112" cy="0"/>
          </a:xfrm>
          <a:prstGeom prst="line">
            <a:avLst/>
          </a:prstGeom>
          <a:ln w="11430">
            <a:solidFill>
              <a:srgbClr val="45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research_fig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97280"/>
            <a:ext cx="8046720" cy="309067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732520" y="1097280"/>
            <a:ext cx="3291840" cy="3090672"/>
          </a:xfrm>
          <a:prstGeom prst="rect">
            <a:avLst/>
          </a:prstGeom>
          <a:solidFill>
            <a:srgbClr val="101420"/>
          </a:solidFill>
          <a:ln w="10160">
            <a:solidFill>
              <a:srgbClr val="353C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0" y="120700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Key Numbers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23960" y="1572768"/>
            <a:ext cx="3108960" cy="256032"/>
          </a:xfrm>
          <a:prstGeom prst="rect">
            <a:avLst/>
          </a:prstGeom>
          <a:solidFill>
            <a:srgbClr val="16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97112" y="1591056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59BFF"/>
                </a:solidFill>
              </a:rPr>
              <a:t>Cora  ·  Clean → 50% injection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23960" y="1865376"/>
            <a:ext cx="3108960" cy="292608"/>
          </a:xfrm>
          <a:prstGeom prst="rect">
            <a:avLst/>
          </a:prstGeom>
          <a:solidFill>
            <a:srgbClr val="1E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97112" y="1901952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3A8"/>
                </a:solidFill>
              </a:rPr>
              <a:t>GraphSAGE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48088" y="1901952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78.7 → 71.8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1901952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8A93A8"/>
                </a:solidFill>
              </a:rPr>
              <a:t>-6.9 pp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23960" y="2157984"/>
            <a:ext cx="3108960" cy="292608"/>
          </a:xfrm>
          <a:prstGeom prst="rect">
            <a:avLst/>
          </a:prstGeom>
          <a:solidFill>
            <a:srgbClr val="181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97112" y="21945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4D4D"/>
                </a:solidFill>
              </a:rPr>
              <a:t>A  Cosine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48088" y="2194560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79.6 → 71.2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2194560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4D4D"/>
                </a:solidFill>
              </a:rPr>
              <a:t>-8.4 pp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23960" y="2450592"/>
            <a:ext cx="3108960" cy="292608"/>
          </a:xfrm>
          <a:prstGeom prst="rect">
            <a:avLst/>
          </a:prstGeom>
          <a:solidFill>
            <a:srgbClr val="1E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97112" y="2487168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7F2A"/>
                </a:solidFill>
              </a:rPr>
              <a:t>B  Conf.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48088" y="2487168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71.3 → 67.8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9960" y="2487168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CC71"/>
                </a:solidFill>
              </a:rPr>
              <a:t>-3.6 pp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23960" y="2743200"/>
            <a:ext cx="3108960" cy="292608"/>
          </a:xfrm>
          <a:prstGeom prst="rect">
            <a:avLst/>
          </a:prstGeom>
          <a:solidFill>
            <a:srgbClr val="181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97112" y="2779776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06CFF"/>
                </a:solidFill>
              </a:rPr>
              <a:t>C  Learned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48088" y="2779776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71.6 → 65.7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09960" y="2779776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8A93A8"/>
                </a:solidFill>
              </a:rPr>
              <a:t>-5.9 pp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23960" y="3035808"/>
            <a:ext cx="3108960" cy="292608"/>
          </a:xfrm>
          <a:prstGeom prst="rect">
            <a:avLst/>
          </a:prstGeom>
          <a:solidFill>
            <a:srgbClr val="1A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97112" y="3072384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5C4FF"/>
                </a:solidFill>
              </a:rPr>
              <a:t>D  LLM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48088" y="3072384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79.6 → 71.2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9960" y="3072384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4D4D"/>
                </a:solidFill>
              </a:rPr>
              <a:t>-8.4 pp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23960" y="3401568"/>
            <a:ext cx="3108960" cy="256032"/>
          </a:xfrm>
          <a:prstGeom prst="rect">
            <a:avLst/>
          </a:prstGeom>
          <a:solidFill>
            <a:srgbClr val="16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97112" y="3419856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7F2A"/>
                </a:solidFill>
              </a:rPr>
              <a:t>Texas  ·  Heterophily (h=0.31)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23960" y="3675888"/>
            <a:ext cx="3108960" cy="292608"/>
          </a:xfrm>
          <a:prstGeom prst="rect">
            <a:avLst/>
          </a:prstGeom>
          <a:solidFill>
            <a:srgbClr val="1E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97112" y="3712464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3A8"/>
                </a:solidFill>
              </a:rPr>
              <a:t>GraphSAGE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09960" y="3712464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8A93A8"/>
                </a:solidFill>
              </a:rPr>
              <a:t>76.6%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823960" y="3968496"/>
            <a:ext cx="3108960" cy="292608"/>
          </a:xfrm>
          <a:prstGeom prst="rect">
            <a:avLst/>
          </a:prstGeom>
          <a:solidFill>
            <a:srgbClr val="181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97112" y="4005072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4D4D"/>
                </a:solidFill>
              </a:rPr>
              <a:t>A  Cosine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09960" y="4005072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4D4D"/>
                </a:solidFill>
              </a:rPr>
              <a:t>58.6%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23960" y="4261104"/>
            <a:ext cx="3108960" cy="292608"/>
          </a:xfrm>
          <a:prstGeom prst="rect">
            <a:avLst/>
          </a:prstGeom>
          <a:solidFill>
            <a:srgbClr val="1E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97112" y="4297680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7F2A"/>
                </a:solidFill>
              </a:rPr>
              <a:t>B  Conf.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09960" y="4297680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CC71"/>
                </a:solidFill>
              </a:rPr>
              <a:t>81.1%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823960" y="4553712"/>
            <a:ext cx="3108960" cy="292608"/>
          </a:xfrm>
          <a:prstGeom prst="rect">
            <a:avLst/>
          </a:prstGeom>
          <a:solidFill>
            <a:srgbClr val="181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97112" y="4590288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06CFF"/>
                </a:solidFill>
              </a:rPr>
              <a:t>C  Learned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09960" y="4590288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CC71"/>
                </a:solidFill>
              </a:rPr>
              <a:t>81.1%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823960" y="4846320"/>
            <a:ext cx="3108960" cy="292608"/>
          </a:xfrm>
          <a:prstGeom prst="rect">
            <a:avLst/>
          </a:prstGeom>
          <a:solidFill>
            <a:srgbClr val="1A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897112" y="4882896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5C4FF"/>
                </a:solidFill>
              </a:rPr>
              <a:t>D  LLM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109960" y="4882896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4D4D"/>
                </a:solidFill>
              </a:rPr>
              <a:t>60.4%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370832"/>
            <a:ext cx="11201400" cy="2286000"/>
          </a:xfrm>
          <a:prstGeom prst="rect">
            <a:avLst/>
          </a:prstGeom>
          <a:solidFill>
            <a:srgbClr val="101420"/>
          </a:solidFill>
          <a:ln w="10160">
            <a:solidFill>
              <a:srgbClr val="353C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449884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What the results show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4919472"/>
            <a:ext cx="2560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A"/>
                </a:solidFill>
              </a:rPr>
              <a:t>▶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" y="491947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B_confidence is the most injection-robust gate  —  Only −3.6 pp drop at 50% injection — confidence signal already discounts noisy neighbours.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" y="5340096"/>
            <a:ext cx="2560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4D4D"/>
                </a:solidFill>
              </a:rPr>
              <a:t>▶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" y="5340096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D_llm (text cosine) = A_cosine under injection  —  Both drop −8.4 pp. Injected edges are chosen to be text-similar → D trusts the wrong neighbours.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8368" y="5760720"/>
            <a:ext cx="2560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C71"/>
                </a:solidFill>
              </a:rPr>
              <a:t>▶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0120" y="57607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B and C dominate on heterophily (Texas 81.1%)  —  Outperform standard SAGE (76.6%) and far exceed cosine gates (A: 58.6%, D: 60.4%).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" y="6181344"/>
            <a:ext cx="2560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5C4FF"/>
                </a:solidFill>
              </a:rPr>
              <a:t>▶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0120" y="6181344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The full proposal (D with label-support) should beat both stress conditions  —  LLM semantic judgment 'is u relevant for class C?' resists injection and captures heterophily.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