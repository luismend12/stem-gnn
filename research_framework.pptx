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Reliable Message Passing on Text-Attributed Graphs under Neighbourhood Noise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61872"/>
            <a:ext cx="5486400" cy="5376672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59BFF"/>
                </a:solidFill>
              </a:rPr>
              <a:t>Formal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10512"/>
            <a:ext cx="5212080" cy="868680"/>
          </a:xfrm>
          <a:prstGeom prst="rect">
            <a:avLst/>
          </a:prstGeom>
          <a:solidFill>
            <a:srgbClr val="161C2C"/>
          </a:solidFill>
          <a:ln w="762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8366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8366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 = (V, E, T)  —  V nodes, E edges, T_v text per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70632"/>
            <a:ext cx="5212080" cy="868680"/>
          </a:xfrm>
          <a:prstGeom prst="rect">
            <a:avLst/>
          </a:prstGeom>
          <a:solidFill>
            <a:srgbClr val="161C2C"/>
          </a:solidFill>
          <a:ln w="762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4378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φ : T_v → e_v ∈ ℝ^768  (frozen LLM embeddings)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730752"/>
            <a:ext cx="5212080" cy="868680"/>
          </a:xfrm>
          <a:prstGeom prst="rect">
            <a:avLst/>
          </a:prstGeom>
          <a:solidFill>
            <a:srgbClr val="161C2C"/>
          </a:solidFill>
          <a:ln w="762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0390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Standard
Message
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80390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h_v^(l+1) = σ( W · MEAN({h_u^(l) : u ∈ N(v) ∪ {v}}) )
Problem: equal weight to ALL neighbours regardless of relevance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690872"/>
            <a:ext cx="5212080" cy="868680"/>
          </a:xfrm>
          <a:prstGeom prst="rect">
            <a:avLst/>
          </a:prstGeom>
          <a:solidFill>
            <a:srgbClr val="161C2C"/>
          </a:solidFill>
          <a:ln w="762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6402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Noise
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6402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① Heterophilous edges — most neighbours have different labels
② Injection attack — text-similar but different-class neighbours
③ Distribution shift — graph structure changes at test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650992"/>
            <a:ext cx="5212080" cy="868680"/>
          </a:xfrm>
          <a:prstGeom prst="rect">
            <a:avLst/>
          </a:prstGeom>
          <a:solidFill>
            <a:srgbClr val="161C2C"/>
          </a:solidFill>
          <a:ln w="762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24144"/>
            <a:ext cx="1005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724144"/>
            <a:ext cx="4005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Learn β_v ∈ [0,1] per node such that:
h_v = β_v · W_self(h_v) + (1−β_v) · W_neigh(MEAN(h_u))
where β_v ↑ when neighbours are semantically unreliable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261872"/>
            <a:ext cx="5513832" cy="5376672"/>
          </a:xfrm>
          <a:prstGeom prst="rect">
            <a:avLst/>
          </a:prstGeom>
          <a:solidFill>
            <a:srgbClr val="1E222C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</a:rPr>
              <a:t>Why This Is Hard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1810512"/>
            <a:ext cx="5230368" cy="868680"/>
          </a:xfrm>
          <a:prstGeom prst="rect">
            <a:avLst/>
          </a:prstGeom>
          <a:solidFill>
            <a:srgbClr val="14100C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88366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4D4D"/>
                </a:solidFill>
              </a:rPr>
              <a:t>Feature similarity ≠ Label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9456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Two nodes can have very similar text (same topic) but different
labels (e.g. ML paper vs. NLP paper in Cora). Cosine similarity
gates trust the wrong neighbours.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2770632"/>
            <a:ext cx="5230368" cy="868680"/>
          </a:xfrm>
          <a:prstGeom prst="rect">
            <a:avLst/>
          </a:prstGeom>
          <a:solidFill>
            <a:srgbClr val="14100C"/>
          </a:solidFill>
          <a:ln w="1016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84378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7F2A"/>
                </a:solidFill>
              </a:rPr>
              <a:t>Learned gates overfit to training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15468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 learned MLP gate fits the homophily pattern of the training
graph. Under heterophily shift, it assigns wrong trust scores
because the graph structure changed — not the 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3730752"/>
            <a:ext cx="5230368" cy="868680"/>
          </a:xfrm>
          <a:prstGeom prst="rect">
            <a:avLst/>
          </a:prstGeom>
          <a:solidFill>
            <a:srgbClr val="14100C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8039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107"/>
                </a:solidFill>
              </a:rPr>
              <a:t>GNNs can't reason about relevance from structure alone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1480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Whether neighbour u is relevant for classifying v as 'Machine
Learning' requires understanding of both u and v's content —
a task suited to language models, not aggregation functions.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4690872"/>
            <a:ext cx="5230368" cy="868680"/>
          </a:xfrm>
          <a:prstGeom prst="rect">
            <a:avLst/>
          </a:prstGeom>
          <a:solidFill>
            <a:srgbClr val="0A1426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7640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59BFF"/>
                </a:solidFill>
              </a:rPr>
              <a:t>Our answer: LLM label-support judgment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7492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Ask the LLM: 'Is neighbour u supportive / irrelevant / misleading
for predicting that v belongs to class C?' This produces a
semantic score immune to structural distribution shift.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Related Methods — Baseline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Six methods addressing graph noise, heterophily, or text-attributed graphs — each leaving a distinct gap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61872"/>
            <a:ext cx="3566160" cy="2304288"/>
          </a:xfrm>
          <a:prstGeom prst="rect">
            <a:avLst/>
          </a:prstGeom>
          <a:solidFill>
            <a:srgbClr val="1E222C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3566160" cy="45720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89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59BFF"/>
                </a:solidFill>
              </a:rPr>
              <a:t>GraphSAGE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55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Hamilton et al., NeurIPS 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Method: Inductive sampling-based GNN with MEAN aggregation.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23744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070"/>
                </a:solidFill>
              </a:rPr>
              <a:t>Gap: Equal weight to all neighbours — no reliability filtering whatsoever. Clean-graph strong baseline; degrades sharply on heterophilous or noisy graphs.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261872"/>
            <a:ext cx="3566160" cy="2304288"/>
          </a:xfrm>
          <a:prstGeom prst="rect">
            <a:avLst/>
          </a:prstGeom>
          <a:solidFill>
            <a:srgbClr val="1E222C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261872"/>
            <a:ext cx="3566160" cy="457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389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D4D"/>
                </a:solidFill>
              </a:rPr>
              <a:t>GNNGuard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55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Zhang &amp; Zitnik, NeurIPS 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Method: Prunes / downweights edges based on feature cosine similarity.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523744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070"/>
                </a:solidFill>
              </a:rPr>
              <a:t>Gap: Defends against adversarial structural perturbations. But: cosine similarity on features ≠ semantic label-support. Fails when injection uses text-similar but different-class nodes (our Stress 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9016" y="1261872"/>
            <a:ext cx="3566160" cy="2304288"/>
          </a:xfrm>
          <a:prstGeom prst="rect">
            <a:avLst/>
          </a:prstGeom>
          <a:solidFill>
            <a:srgbClr val="1E222C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6" y="1261872"/>
            <a:ext cx="3566160" cy="45720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3898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F2A"/>
                </a:solidFill>
              </a:rPr>
              <a:t>H2GCN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75564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Zhu et al., NeurIPS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Method: Ego-neighbour separation + higher-order aggregation + combination.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523744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070"/>
                </a:solidFill>
              </a:rPr>
              <a:t>Gap: Strong on structural heterophily. But: purely structural — no text understanding. Cannot distinguish relevant from irrelevant same-structure neighbours.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12464"/>
            <a:ext cx="3566160" cy="2304288"/>
          </a:xfrm>
          <a:prstGeom prst="rect">
            <a:avLst/>
          </a:prstGeom>
          <a:solidFill>
            <a:srgbClr val="1E222C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712464"/>
            <a:ext cx="3566160" cy="4572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3840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6CFF"/>
                </a:solidFill>
              </a:rPr>
              <a:t>GPR-GNN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2062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Chien et al., ICLR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Method: Learnable GeneralizedPageRank weights across k-hop propagation.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974336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070"/>
                </a:solidFill>
              </a:rPr>
              <a:t>Gap: Learns global positive/negative propagation weights, handles heterophily well. But: weights are global, not per-node. Cannot adapt per-node based on semantic neighbour reliability.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3712464"/>
            <a:ext cx="3566160" cy="2304288"/>
          </a:xfrm>
          <a:prstGeom prst="rect">
            <a:avLst/>
          </a:prstGeom>
          <a:solidFill>
            <a:srgbClr val="1E222C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3712464"/>
            <a:ext cx="3566160" cy="45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840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BC9C"/>
                </a:solidFill>
              </a:rPr>
              <a:t>TAPE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062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He et al., ICLR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Method: Uses LLM-generated explanations as enriched node features for GNNs.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974336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070"/>
                </a:solidFill>
              </a:rPr>
              <a:t>Gap: Leverages LLM text understanding — but only for feature enrichment. Message passing itself remains unguided by semantic reliability. Cannot selectively filter misleading neighbours during aggregation.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9016" y="3712464"/>
            <a:ext cx="3566160" cy="2304288"/>
          </a:xfrm>
          <a:prstGeom prst="rect">
            <a:avLst/>
          </a:prstGeom>
          <a:solidFill>
            <a:srgbClr val="1E222C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29016" y="3712464"/>
            <a:ext cx="3566160" cy="457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38404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STEM-GNN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42062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Guo et al., KDD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46227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Method: MoE routing + VQ tokenisation + Lipschitz regularisation.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4974336"/>
            <a:ext cx="32918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A070"/>
                </a:solidFill>
              </a:rPr>
              <a:t>Gap: Best tri-objective balance (fit / OOD / perturbation). But: MoE router uses post-aggregation z_v — already corrupted by noisy neighbours. No semantic neighbour assessment; OOD-low gap remains (−4.7 pp on Cora).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of Prior Methods — Structured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Each method covers some axes but leaves at least one gap our proposal fills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61872"/>
            <a:ext cx="11686032" cy="438912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35331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Criterion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9BFF"/>
                </a:solidFill>
              </a:rPr>
              <a:t>GraphSAGE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9BFF"/>
                </a:solidFill>
              </a:rPr>
              <a:t>GNNGuard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5736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9BFF"/>
                </a:solidFill>
              </a:rPr>
              <a:t>H2GCN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9BFF"/>
                </a:solidFill>
              </a:rPr>
              <a:t>GPR-GNN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9BFF"/>
                </a:solidFill>
              </a:rPr>
              <a:t>TAPE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5944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9BFF"/>
                </a:solidFill>
              </a:rPr>
              <a:t>STEM-GNN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12680" y="1307592"/>
            <a:ext cx="12435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107"/>
                </a:solidFill>
              </a:rPr>
              <a:t>Ours (proposed)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00784"/>
            <a:ext cx="11686032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7922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Handles heterophily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170078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75688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2424" y="170078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70078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25896" y="170078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25896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2632" y="170078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42632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59368" y="170078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8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76104" y="170078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6104" y="18105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249424"/>
            <a:ext cx="11686032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34086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Resists injection attack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224942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2424" y="224942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224942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09160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25896" y="224942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25896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42632" y="224942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42632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59368" y="224942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9368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76104" y="224942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76104" y="23591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2798064"/>
            <a:ext cx="11686032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" y="288950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Per-node reliability 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75688" y="279806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92424" y="279806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92424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279806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60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25896" y="279806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25896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42632" y="279806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42632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59368" y="279806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59368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76104" y="279806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9077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" y="3346704"/>
            <a:ext cx="11686032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" y="343814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Uses LLM text semantics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75688" y="334670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92424" y="334670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92424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9160" y="334670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09160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25896" y="334670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25896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42632" y="334670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42632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59368" y="334670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59368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976104" y="334670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76104" y="345643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02920" y="3895344"/>
            <a:ext cx="11686032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6072" y="398678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Semantic label-support
judgment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75688" y="389534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392424" y="389534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92424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09160" y="389534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09160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25896" y="389534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25896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42632" y="389534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42632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59368" y="389534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59368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76104" y="389534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976104" y="400507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4443984"/>
            <a:ext cx="11686032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76072" y="45354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Works under OOD
structure shift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75688" y="444398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392424" y="444398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92424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709160" y="444398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09160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△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025896" y="444398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25896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</a:rPr>
              <a:t>△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42632" y="444398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42632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659368" y="444398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659368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976104" y="4443984"/>
            <a:ext cx="1316736" cy="54864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976104" y="455371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920" y="4992624"/>
            <a:ext cx="11686032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6072" y="508406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No task-specific
re-training needed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075688" y="499262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075688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92424" y="499262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92424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09160" y="499262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09160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025896" y="499262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025896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342632" y="499262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42632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659368" y="4992624"/>
            <a:ext cx="1316736" cy="548640"/>
          </a:xfrm>
          <a:prstGeom prst="rect">
            <a:avLst/>
          </a:prstGeom>
          <a:solidFill>
            <a:srgbClr val="1A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659368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976104" y="4992624"/>
            <a:ext cx="1316736" cy="548640"/>
          </a:xfrm>
          <a:prstGeom prst="rect">
            <a:avLst/>
          </a:prstGeom>
          <a:solidFill>
            <a:srgbClr val="18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76104" y="510235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3A8"/>
                </a:solidFill>
              </a:rPr>
              <a:t>✓ = fully addressed   △ = partially addressed   ✗ = not addressed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Following STEM-GNN's tri-objective evaluation framework — extended with semantic stress conditions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261872"/>
            <a:ext cx="3611880" cy="3310128"/>
          </a:xfrm>
          <a:prstGeom prst="rect">
            <a:avLst/>
          </a:prstGeom>
          <a:solidFill>
            <a:srgbClr val="1E222C"/>
          </a:solidFill>
          <a:ln w="1905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3611880" cy="54864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40817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459BFF"/>
                </a:solidFill>
              </a:rPr>
              <a:t>①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8"/>
                </a:solidFill>
              </a:rPr>
              <a:t>Standard clean-graph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762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Train on clean Cora / PubMed / WikiCS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72491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Evaluate on held-out clean test 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273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10 random seeds — mean ± std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8221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Baseline: STEM-GNN 79.53% (Cora)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1261872"/>
            <a:ext cx="3611880" cy="3310128"/>
          </a:xfrm>
          <a:prstGeom prst="rect">
            <a:avLst/>
          </a:prstGeom>
          <a:solidFill>
            <a:srgbClr val="1E222C"/>
          </a:solidFill>
          <a:ln w="1905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261872"/>
            <a:ext cx="3611880" cy="54864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40817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F2A"/>
                </a:solidFill>
              </a:rPr>
              <a:t>② OOD Generalization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18288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8"/>
                </a:solidFill>
              </a:rPr>
              <a:t>Degree shift + Homophily shift buckets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1762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Sort test nodes by degree (bottom/top 15% = OOD)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272491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Sort by mean-hop cosine similarity to class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273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OOD-low (hard) / OOD-high (easy) / ID buckets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8221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Target: close STEM-GNN OOD-low gap (−4.7 pp)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65592" y="1261872"/>
            <a:ext cx="3611880" cy="3310128"/>
          </a:xfrm>
          <a:prstGeom prst="rect">
            <a:avLst/>
          </a:prstGeom>
          <a:solidFill>
            <a:srgbClr val="1E222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65592" y="1261872"/>
            <a:ext cx="3611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4" y="1408176"/>
            <a:ext cx="3337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71"/>
                </a:solidFill>
              </a:rPr>
              <a:t>③ Robustness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182880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3A8"/>
                </a:solidFill>
              </a:rPr>
              <a:t>Perturbation stability under 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217627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Feature masking: Bernoulli zeroing, rate α ∈ {0.2,0.4,0.6,0.8}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272491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Edge deletion: rate p ∈ {0.2,0.4,0.6}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327355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Confusing-edge injection: ratio r ∈ {0,10,20,30,40,50%}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822192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· Perturb-mean: mean accuracy across all perturbation levels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36592"/>
            <a:ext cx="11201400" cy="1920240"/>
          </a:xfrm>
          <a:prstGeom prst="rect">
            <a:avLst/>
          </a:prstGeom>
          <a:solidFill>
            <a:srgbClr val="101522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828800" cy="1207008"/>
          </a:xfrm>
          <a:prstGeom prst="rect">
            <a:avLst/>
          </a:prstGeom>
          <a:solidFill>
            <a:srgbClr val="1E22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303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Cora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63270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3A8"/>
                </a:solidFill>
              </a:rPr>
              <a:t>2,708 nodes · 7 classes · 768-dim text emb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60533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Homophily + injection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23744" y="5230368"/>
            <a:ext cx="1828800" cy="1207008"/>
          </a:xfrm>
          <a:prstGeom prst="rect">
            <a:avLst/>
          </a:prstGeom>
          <a:solidFill>
            <a:srgbClr val="1E22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15184" y="5303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PubMed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5184" y="563270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3A8"/>
                </a:solidFill>
              </a:rPr>
              <a:t>19,717 nodes · 3 classes · 768-dim text emb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5184" y="60533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OOD degree shift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5230368"/>
            <a:ext cx="1828800" cy="1207008"/>
          </a:xfrm>
          <a:prstGeom prst="rect">
            <a:avLst/>
          </a:prstGeom>
          <a:solidFill>
            <a:srgbClr val="1E22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303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59BFF"/>
                </a:solidFill>
              </a:rPr>
              <a:t>WikiCS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63270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3A8"/>
                </a:solidFill>
              </a:rPr>
              <a:t>11,701 nodes · 10 classes · 768-dim text emb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60533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Homophily shift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5230368"/>
            <a:ext cx="1828800" cy="1207008"/>
          </a:xfrm>
          <a:prstGeom prst="rect">
            <a:avLst/>
          </a:prstGeom>
          <a:solidFill>
            <a:srgbClr val="1E222C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5303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Texas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563270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3A8"/>
                </a:solidFill>
              </a:rPr>
              <a:t>183 nodes · 5 classes · homophily=0.31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60533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Structural heterophily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9872" y="5230368"/>
            <a:ext cx="1828800" cy="1207008"/>
          </a:xfrm>
          <a:prstGeom prst="rect">
            <a:avLst/>
          </a:prstGeom>
          <a:solidFill>
            <a:srgbClr val="1E222C"/>
          </a:solidFill>
          <a:ln w="101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11312" y="5303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Wisconsin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2" y="563270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3A8"/>
                </a:solidFill>
              </a:rPr>
              <a:t>251 nodes · 5 classes · homophily=0.20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60533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Structural heterophily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85248" y="5230368"/>
            <a:ext cx="1828800" cy="1207008"/>
          </a:xfrm>
          <a:prstGeom prst="rect">
            <a:avLst/>
          </a:prstGeom>
          <a:solidFill>
            <a:srgbClr val="1E222C"/>
          </a:solidFill>
          <a:ln w="10160">
            <a:solidFill>
              <a:srgbClr val="F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76688" y="530352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A"/>
                </a:solidFill>
              </a:rPr>
              <a:t>Chameleon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76688" y="563270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93A8"/>
                </a:solidFill>
              </a:rPr>
              <a:t>2,277 nodes · 5 classes · homophily=0.23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605332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Large heterophily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Method: LLM-Guided Semantic Trust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β_v driven by LLM label-support judgment — not feature cosine, not model confidence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4028" y="1298448"/>
            <a:ext cx="1536192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8A9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3A8"/>
                </a:solidFill>
              </a:rPr>
              <a:t>Node v
Text T_v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60220.0" y="1687068.0"/>
            <a:ext cx="164592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924812" y="1298448"/>
            <a:ext cx="1536192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7964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59BFF"/>
                </a:solidFill>
              </a:rPr>
              <a:t>LLM Encoder
φ(T_v) = e_v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61004.0" y="1687068.0"/>
            <a:ext cx="164592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25596" y="1298448"/>
            <a:ext cx="1536192" cy="777240"/>
          </a:xfrm>
          <a:prstGeom prst="rect">
            <a:avLst/>
          </a:prstGeom>
          <a:solidFill>
            <a:srgbClr val="1A26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8748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C107"/>
                </a:solidFill>
              </a:rPr>
              <a:t>Label-Support
Query  q_v,u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1788.0" y="1687068.0"/>
            <a:ext cx="164592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26380" y="1298448"/>
            <a:ext cx="1536192" cy="777240"/>
          </a:xfrm>
          <a:prstGeom prst="rect">
            <a:avLst/>
          </a:prstGeom>
          <a:solidFill>
            <a:srgbClr val="1A263A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9532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C107"/>
                </a:solidFill>
              </a:rPr>
              <a:t>Trust Score
β_v = f(q_v,·)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62572.0" y="1687068.0"/>
            <a:ext cx="164592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027164" y="1298448"/>
            <a:ext cx="1536192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0316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CC71"/>
                </a:solidFill>
              </a:rPr>
              <a:t>Gated
Aggregation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63356.0" y="1687068.0"/>
            <a:ext cx="164592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727948" y="1298448"/>
            <a:ext cx="1536192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1100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06CFF"/>
                </a:solidFill>
              </a:rPr>
              <a:t>MoE Encoder
(STEM-GNN)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64140.0" y="1687068.0"/>
            <a:ext cx="164592.0" cy="0.0"/>
          </a:xfrm>
          <a:prstGeom prst="line">
            <a:avLst/>
          </a:prstGeom>
          <a:ln w="12700">
            <a:solidFill>
              <a:srgbClr val="8A93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428732" y="1298448"/>
            <a:ext cx="1536192" cy="777240"/>
          </a:xfrm>
          <a:prstGeom prst="rect">
            <a:avLst/>
          </a:prstGeom>
          <a:solidFill>
            <a:srgbClr val="1E222C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1884" y="1408176"/>
            <a:ext cx="1444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ECC71"/>
                </a:solidFill>
              </a:rPr>
              <a:t>VQ + Lip
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5596" y="2130552"/>
            <a:ext cx="3236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107"/>
                </a:solidFill>
              </a:rPr>
              <a:t>◀ Our addition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377440"/>
            <a:ext cx="5486400" cy="2468880"/>
          </a:xfrm>
          <a:prstGeom prst="rect">
            <a:avLst/>
          </a:prstGeom>
          <a:solidFill>
            <a:srgbClr val="0A1422"/>
          </a:solidFill>
          <a:ln w="1524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487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59BFF"/>
                </a:solidFill>
              </a:rPr>
              <a:t>LLM Label-Support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871216"/>
            <a:ext cx="5212080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Given that node v is described as:
"[T_v]"
And neighbour u is described as:
"[T_u]"
Is u's content:
(A) Supportive — relevant evidence for v being class C
(B) Irrelevant — neither supports nor contradicts
(C) Misleading — likely to push v toward the wrong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377440"/>
            <a:ext cx="5513832" cy="2468880"/>
          </a:xfrm>
          <a:prstGeom prst="rect">
            <a:avLst/>
          </a:prstGeom>
          <a:solidFill>
            <a:srgbClr val="0C180C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487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Gate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816352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q_v,u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816352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P(supportive | T_v, T_u, class C)   via LLM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328416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β_v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3328416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1 − mean_u∈N(v)(q_v,u)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8404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3A8"/>
                </a:solidFill>
              </a:rPr>
              <a:t>high β_v → trust self more (neighbours unreliable)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352544"/>
            <a:ext cx="685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h_v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67728" y="4352544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β_v · W_self(h_v) + (1−β_v) · W_neigh(mean(h_u))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29200"/>
            <a:ext cx="11201400" cy="1609344"/>
          </a:xfrm>
          <a:prstGeom prst="rect">
            <a:avLst/>
          </a:prstGeom>
          <a:solidFill>
            <a:srgbClr val="101522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138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Why LLM Label-Support &gt; Feature Cosine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532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GNNGuard / cosine: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5321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cos(e_v, e_u) — high for same-topic nodes regardless of label. Fails our injection test.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9161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3A8"/>
                </a:solidFill>
              </a:rPr>
              <a:t>Mowst / confidence: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916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max softmax(logits_u) — no text understanding; calibration degrades under shift.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00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TAPE / LLM features: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630021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LLM encodes T_v as richer features — but aggregation still equal-weight on all neighbours.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68426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Ours / label-support: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668426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LLM explicitly judges 'is u evidence for v's class?' — text-similar ≠ same-label catches injection.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3A8"/>
                </a:solidFill>
              </a:rPr>
              <a:t>Accuracy vs. injection ratio (Cora) and heterophily (Texas) — 3 seeds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133856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2860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93A8"/>
                </a:solidFill>
              </a:rPr>
              <a:t>[Sweep still running — re-run script after /tmp/sweep_results.json is written]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