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walkthrough of an investigation into MoE routing stability in STEM-GNN. Short version: I set out to test whether Mixture-of-Experts in the GNN encoder actually helps OOD generalization, found a real, reproducible failure mode when it does, tested two LLM-grounded ideas to fix it, both failed in informative ways, and then found that a much simpler tool already in the codebase fixes it completely. That last result sharpens where an LLM-based contribution would actually need to add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motivating idea: STEM-GNN's encoder can optionally route each node through a small mixture of expert weight matrices instead of a single one. My hypothesis going in was that this could improve OOD generalization, but might introduce instability -- routing shift and expert imbalance -- that standard training doesn't address, and that an LLM could help stabilize. This deck walks through what I actually found when I tested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infrastructure notes before the results. First, I didn't need to run the full multi-day pretraining pipeline to test any of this -- there's a flag that lets the encoder and VQ train from scratch directly on the downstream task, so everything here was fast to iterate on. Second, I used the degree-shift OOD benchmark already in the codebase -- it splits test nodes into in-distribution and two out-of-distribution buckets by degree -- and I built new instrumentation that tracks the router's actual expert-usage distribution per bucket, which didn't exist before. Everything is averaged over 10 independent seeds, so these aren't single-run flukes.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result, and a bit of a surprise. Comparing just no-MoE vs MoE, it looks like MoE is a big win -- plus 4.65 points. But there's another component, vector quantization, sitting in the decoder. When I turned VQ off, the plain GNN's accuracy jumped on its own, and MoE's added benefit basically disappeared -- only plus 0.3 points, within noise. So the real story isn't 'MoE helps' -- it's 'an untrained VQ bottleneck is actively hurting the plain model, and MoE happens to compensate for that.' That's a more precise and more defensible claim than the original motivation.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actual reliability problem. I instrumented the router to log per-bucket expert usage, and found that one of the two MoE layers -- Layer 0, which routes on raw node features -- completely collapses onto a single expert, in every one of 10 random seeds, on two different datasets, Cora and Pubmed. Which expert wins is random, but exactly one wins every time. Layer 1 doesn't fully collapse but shows real, measurable routing shift between in-distribution and out-of-distribution nodes. This is the core failure mode, and it's solid -- reproduced independently on two datasets, not a fluke.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idea to fix this with an LLM was to give the router richer input -- a similarity profile between each node's text embedding and the class-label embeddings, so routing is grounded in stable semantic information instead of raw, degree-sensitive features. I implemented and tested it. It changed nothing -- same total collapse, same accuracy. That tells me the router wasn't failing for lack of good information; it already had perfectly good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idea: maybe collapse is a rich-get-richer effect from random initialization -- whichever expert gets a tiny random head start ends up grabbing all the gradient signal. So I initialized each expert pre-assigned to a distinct cluster of the text embeddings via k-means -- this mirrors a fix already used elsewhere in this exact codebase for an analogous collapse problem in the vector quantizer. Even starting from a verified-balanced point, training collapsed it back to one expert in 9 of 10 runs. So it's not about where training starts either.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that worked. Both previous ideas touched the input or the initialization. What I hadn't touched was the loss function -- and the codebase already has an unused regularization term for exactly this, called lamda_env, that penalizes low-entropy, i.e. collapsed, routing. It just defaults to off. Turning it on with a small weight completely fixes the collapse -- max expert usage drops from total collapse to genuine three-way balance, in every run, at zero cost to accuracy. A clean, free fix using a tool that was already sitting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these three results together: ruling out 'not enough information' and 'bad initialization,' then showing entropy regularization fixes it completely, tells us the problem was really about the loss landscape, not input or init. Practically, that means expert collapse on its own isn't an open research problem anymore -- it has a known, cheap fix. So if I want an LLM to add real value here, it can't be 'fix collapse' -- it needs to target what's left after this fix: a smaller, but apparently real, shift in routing behavior between in-distribution and out-of-distribution nodes that the regularization shrinks but doesn't necessarily eliminate.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where I think this goes next. First, confirm the lamda_env fix also generalizes to Pubmed, the same way the collapse itself did. Second, actually pin down whether that residual routing shift is real or just noise -- does it hold up, does it get worse under harsher distribution shift like homophily shift. If it's real, that becomes the target for an LLM-based mechanism -- something layered on top of this regularization, not replacing it, like a consistency loss anchored by semantic similarity across perturbed views of the same node. Separately, I want to run this same instrumentation on the other OOD benchmarks already in the codebase that I haven't gotten to yet.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 solid, two-dataset-confirmed failure mode; a sharper, more accurate version of the original motivation claim; two ruled-out LLM-based fixes with clear evidence for why each failed; one fix that does work, for free; and a sharper, narrower open question for where an LLM-based contribution would actually need to add value beyond what's already free in the codebase.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77440"/>
            <a:ext cx="10332720" cy="1371600"/>
          </a:xfrm>
          <a:prstGeom prst="rect">
            <a:avLst/>
          </a:prstGeom>
          <a:noFill/>
        </p:spPr>
        <p:txBody>
          <a:bodyPr wrap="none">
            <a:spAutoFit/>
          </a:bodyPr>
          <a:lstStyle/>
          <a:p>
            <a:pPr>
              <a:defRPr sz="4000" b="1">
                <a:solidFill>
                  <a:srgbClr val="1F2937"/>
                </a:solidFill>
              </a:defRPr>
            </a:pPr>
            <a:r>
              <a:t>MoE Routing Stability in STEM-GNN</a:t>
            </a:r>
          </a:p>
          <a:p>
            <a:pPr>
              <a:defRPr sz="2200">
                <a:solidFill>
                  <a:srgbClr val="555555"/>
                </a:solidFill>
              </a:defRPr>
            </a:pPr>
            <a:r>
              <a:t>Motivation, a reproducible failure mode, and two tested (negative) fixes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3200" b="1">
                <a:solidFill>
                  <a:srgbClr val="1F2937"/>
                </a:solidFill>
              </a:defRPr>
            </a:pPr>
            <a:r>
              <a:t>Research Question</a:t>
            </a:r>
          </a:p>
        </p:txBody>
      </p:sp>
      <p:sp>
        <p:nvSpPr>
          <p:cNvPr id="3" name="TextBox 2"/>
          <p:cNvSpPr txBox="1"/>
          <p:nvPr/>
        </p:nvSpPr>
        <p:spPr>
          <a:xfrm>
            <a:off x="548640" y="1463040"/>
            <a:ext cx="11064240" cy="5029200"/>
          </a:xfrm>
          <a:prstGeom prst="rect">
            <a:avLst/>
          </a:prstGeom>
          <a:noFill/>
        </p:spPr>
        <p:txBody>
          <a:bodyPr wrap="square">
            <a:spAutoFit/>
          </a:bodyPr>
          <a:lstStyle/>
          <a:p>
            <a:pPr>
              <a:spcAft>
                <a:spcPts val="800"/>
              </a:spcAft>
              <a:defRPr sz="2200" b="0">
                <a:solidFill>
                  <a:srgbClr val="1F2937"/>
                </a:solidFill>
              </a:defRPr>
            </a:pPr>
            <a:r>
              <a:t>STEM-GNN's encoder can optionally use a Mixture-of-Experts (MoE) layer: each node's</a:t>
            </a:r>
          </a:p>
          <a:p>
            <a:pPr>
              <a:spcAft>
                <a:spcPts val="800"/>
              </a:spcAft>
              <a:defRPr sz="2200" b="0">
                <a:solidFill>
                  <a:srgbClr val="1F2937"/>
                </a:solidFill>
              </a:defRPr>
            </a:pPr>
            <a:r>
              <a:t>representation is routed through a learned mix of K expert weight matrices.</a:t>
            </a:r>
          </a:p>
          <a:p>
            <a:pPr>
              <a:spcAft>
                <a:spcPts val="800"/>
              </a:spcAft>
              <a:defRPr sz="2200" b="0">
                <a:solidFill>
                  <a:srgbClr val="1F2937"/>
                </a:solidFill>
              </a:defRPr>
            </a:pPr>
          </a:p>
          <a:p>
            <a:pPr>
              <a:spcAft>
                <a:spcPts val="800"/>
              </a:spcAft>
              <a:defRPr sz="2200" b="1">
                <a:solidFill>
                  <a:srgbClr val="B02A2A"/>
                </a:solidFill>
              </a:defRPr>
            </a:pPr>
            <a:r>
              <a:t>Hypothesis (motivating this work):</a:t>
            </a:r>
          </a:p>
          <a:p>
            <a:pPr lvl="1">
              <a:spcAft>
                <a:spcPts val="800"/>
              </a:spcAft>
              <a:defRPr sz="2000" b="0">
                <a:solidFill>
                  <a:srgbClr val="1F2937"/>
                </a:solidFill>
              </a:defRPr>
            </a:pPr>
            <a:r>
              <a:t>MoE can improve out-of-distribution (OOD) generalization, but may introduce</a:t>
            </a:r>
          </a:p>
          <a:p>
            <a:pPr lvl="1">
              <a:spcAft>
                <a:spcPts val="800"/>
              </a:spcAft>
              <a:defRPr sz="2000" b="0">
                <a:solidFill>
                  <a:srgbClr val="1F2937"/>
                </a:solidFill>
              </a:defRPr>
            </a:pPr>
            <a:r>
              <a:t>instability — “routing shift” and expert imbalance — that standard training doesn't address.</a:t>
            </a:r>
          </a:p>
          <a:p>
            <a:pPr>
              <a:spcAft>
                <a:spcPts val="800"/>
              </a:spcAft>
              <a:defRPr sz="2200" b="0">
                <a:solidFill>
                  <a:srgbClr val="1F2937"/>
                </a:solidFill>
              </a:defRPr>
            </a:pPr>
          </a:p>
          <a:p>
            <a:pPr>
              <a:spcAft>
                <a:spcPts val="800"/>
              </a:spcAft>
              <a:defRPr sz="2200" b="1">
                <a:solidFill>
                  <a:srgbClr val="B02A2A"/>
                </a:solidFill>
              </a:defRPr>
            </a:pPr>
            <a:r>
              <a:t>Proposed direction: use LLM-derived signal to stabilize routing.</a:t>
            </a:r>
          </a:p>
          <a:p>
            <a:pPr>
              <a:spcAft>
                <a:spcPts val="800"/>
              </a:spcAft>
              <a:defRPr sz="2200" b="0">
                <a:solidFill>
                  <a:srgbClr val="1F2937"/>
                </a:solidFill>
              </a:defRPr>
            </a:pPr>
            <a:r>
              <a:t>This deck reports: the base case, a confirmed failure mode, and two tested LLM-based</a:t>
            </a:r>
          </a:p>
          <a:p>
            <a:pPr>
              <a:spcAft>
                <a:spcPts val="800"/>
              </a:spcAft>
              <a:defRPr sz="2200" b="0">
                <a:solidFill>
                  <a:srgbClr val="1F2937"/>
                </a:solidFill>
              </a:defRPr>
            </a:pPr>
            <a:r>
              <a:t>fixes — both negative, with specific evidence about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3200" b="1">
                <a:solidFill>
                  <a:srgbClr val="1F2937"/>
                </a:solidFill>
              </a:defRPr>
            </a:pPr>
            <a:r>
              <a:t>Experimental Setup</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800"/>
              </a:spcAft>
              <a:defRPr sz="2100" b="1">
                <a:solidFill>
                  <a:srgbClr val="B02A2A"/>
                </a:solidFill>
              </a:defRPr>
            </a:pPr>
            <a:r>
              <a:t>Base case: no VQ pretraining required.</a:t>
            </a:r>
          </a:p>
          <a:p>
            <a:pPr lvl="1">
              <a:spcAft>
                <a:spcPts val="800"/>
              </a:spcAft>
              <a:defRPr sz="1900" b="0">
                <a:solidFill>
                  <a:srgbClr val="1F2937"/>
                </a:solidFill>
              </a:defRPr>
            </a:pPr>
            <a:r>
              <a:t>--pretrain_dataset na bypasses the (slow, multi-day) pretrain pipeline entirely —</a:t>
            </a:r>
          </a:p>
          <a:p>
            <a:pPr lvl="1">
              <a:spcAft>
                <a:spcPts val="800"/>
              </a:spcAft>
              <a:defRPr sz="1900" b="0">
                <a:solidFill>
                  <a:srgbClr val="1F2937"/>
                </a:solidFill>
              </a:defRPr>
            </a:pPr>
            <a:r>
              <a:t>encoder + VQ train from scratch directly on the downstream task.</a:t>
            </a:r>
          </a:p>
          <a:p>
            <a:pPr>
              <a:spcAft>
                <a:spcPts val="800"/>
              </a:spcAft>
              <a:defRPr sz="2100" b="0">
                <a:solidFill>
                  <a:srgbClr val="1F2937"/>
                </a:solidFill>
              </a:defRPr>
            </a:pPr>
          </a:p>
          <a:p>
            <a:pPr>
              <a:spcAft>
                <a:spcPts val="800"/>
              </a:spcAft>
              <a:defRPr sz="2100" b="1">
                <a:solidFill>
                  <a:srgbClr val="B02A2A"/>
                </a:solidFill>
              </a:defRPr>
            </a:pPr>
            <a:r>
              <a:t>Benchmark: degree-shift OOD on citation graphs (Cora, Pubmed).</a:t>
            </a:r>
          </a:p>
          <a:p>
            <a:pPr lvl="1">
              <a:spcAft>
                <a:spcPts val="800"/>
              </a:spcAft>
              <a:defRPr sz="1900" b="0">
                <a:solidFill>
                  <a:srgbClr val="1F2937"/>
                </a:solidFill>
              </a:defRPr>
            </a:pPr>
            <a:r>
              <a:t>Test nodes bucketed by degree: ID (middle 70%), OOD-low (lowest 15%), OOD-high (highest 15%).</a:t>
            </a:r>
          </a:p>
          <a:p>
            <a:pPr>
              <a:spcAft>
                <a:spcPts val="800"/>
              </a:spcAft>
              <a:defRPr sz="2100" b="0">
                <a:solidFill>
                  <a:srgbClr val="1F2937"/>
                </a:solidFill>
              </a:defRPr>
            </a:pPr>
          </a:p>
          <a:p>
            <a:pPr>
              <a:spcAft>
                <a:spcPts val="800"/>
              </a:spcAft>
              <a:defRPr sz="2100" b="1">
                <a:solidFill>
                  <a:srgbClr val="B02A2A"/>
                </a:solidFill>
              </a:defRPr>
            </a:pPr>
            <a:r>
              <a:t>New instrumentation built: per-bucket MoE routing diagnostics.</a:t>
            </a:r>
          </a:p>
          <a:p>
            <a:pPr lvl="1">
              <a:spcAft>
                <a:spcPts val="800"/>
              </a:spcAft>
              <a:defRPr sz="1900" b="0">
                <a:solidFill>
                  <a:srgbClr val="1F2937"/>
                </a:solidFill>
              </a:defRPr>
            </a:pPr>
            <a:r>
              <a:t>entropy_of_avg / max_usage — expert-imbalance at the aggregate level</a:t>
            </a:r>
          </a:p>
          <a:p>
            <a:pPr lvl="1">
              <a:spcAft>
                <a:spcPts val="800"/>
              </a:spcAft>
              <a:defRPr sz="1900" b="0">
                <a:solidFill>
                  <a:srgbClr val="1F2937"/>
                </a:solidFill>
              </a:defRPr>
            </a:pPr>
            <a:r>
              <a:t>TV / KL divergence — how much the router's behavior shifts from ID to OOD nodes</a:t>
            </a:r>
          </a:p>
          <a:p>
            <a:pPr>
              <a:spcAft>
                <a:spcPts val="800"/>
              </a:spcAft>
              <a:defRPr sz="2100" b="0">
                <a:solidFill>
                  <a:srgbClr val="1F2937"/>
                </a:solidFill>
              </a:defRPr>
            </a:pPr>
          </a:p>
          <a:p>
            <a:pPr>
              <a:spcAft>
                <a:spcPts val="800"/>
              </a:spcAft>
              <a:defRPr sz="2100" b="0">
                <a:solidFill>
                  <a:srgbClr val="555555"/>
                </a:solidFill>
              </a:defRPr>
            </a:pPr>
            <a:r>
              <a:t>All results: 10 independent seeds per configuration (matched protocol).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3200" b="1">
                <a:solidFill>
                  <a:srgbClr val="1F2937"/>
                </a:solidFill>
              </a:defRPr>
            </a:pPr>
            <a:r>
              <a:t>Result 1 — Motivation: Does MoE Actually Help?</a:t>
            </a:r>
          </a:p>
        </p:txBody>
      </p:sp>
      <p:graphicFrame>
        <p:nvGraphicFramePr>
          <p:cNvPr id="3" name="Table 2"/>
          <p:cNvGraphicFramePr>
            <a:graphicFrameLocks noGrp="1"/>
          </p:cNvGraphicFramePr>
          <p:nvPr/>
        </p:nvGraphicFramePr>
        <p:xfrm>
          <a:off x="731520" y="1371600"/>
          <a:ext cx="10698480" cy="2103120"/>
        </p:xfrm>
        <a:graphic>
          <a:graphicData uri="http://schemas.openxmlformats.org/drawingml/2006/table">
            <a:tbl>
              <a:tblPr firstRow="1" bandRow="1">
                <a:tableStyleId>{5C22544A-7EE6-4342-B048-85BDC9FD1C3A}</a:tableStyleId>
              </a:tblPr>
              <a:tblGrid>
                <a:gridCol w="3017520"/>
                <a:gridCol w="2560320"/>
                <a:gridCol w="2560320"/>
                <a:gridCol w="2560320"/>
              </a:tblGrid>
              <a:tr h="420624">
                <a:tc>
                  <a:txBody>
                    <a:bodyPr/>
                    <a:lstStyle/>
                    <a:p>
                      <a:pPr algn="ctr">
                        <a:defRPr sz="1600" b="1">
                          <a:solidFill>
                            <a:srgbClr val="FFFFFF"/>
                          </a:solidFill>
                        </a:defRPr>
                      </a:pPr>
                      <a:r>
                        <a:t>Cora, 10 runs</a:t>
                      </a:r>
                    </a:p>
                  </a:txBody>
                  <a:tcPr>
                    <a:solidFill>
                      <a:srgbClr val="1F2937"/>
                    </a:solidFill>
                  </a:tcPr>
                </a:tc>
                <a:tc>
                  <a:txBody>
                    <a:bodyPr/>
                    <a:lstStyle/>
                    <a:p>
                      <a:pPr algn="ctr">
                        <a:defRPr sz="1600" b="1">
                          <a:solidFill>
                            <a:srgbClr val="FFFFFF"/>
                          </a:solidFill>
                        </a:defRPr>
                      </a:pPr>
                      <a:r>
                        <a:t>ID acc.</a:t>
                      </a:r>
                    </a:p>
                  </a:txBody>
                  <a:tcPr>
                    <a:solidFill>
                      <a:srgbClr val="1F2937"/>
                    </a:solidFill>
                  </a:tcPr>
                </a:tc>
                <a:tc>
                  <a:txBody>
                    <a:bodyPr/>
                    <a:lstStyle/>
                    <a:p>
                      <a:pPr algn="ctr">
                        <a:defRPr sz="1600" b="1">
                          <a:solidFill>
                            <a:srgbClr val="FFFFFF"/>
                          </a:solidFill>
                        </a:defRPr>
                      </a:pPr>
                      <a:r>
                        <a:t>OOD-low acc.</a:t>
                      </a:r>
                    </a:p>
                  </a:txBody>
                  <a:tcPr>
                    <a:solidFill>
                      <a:srgbClr val="1F2937"/>
                    </a:solidFill>
                  </a:tcPr>
                </a:tc>
                <a:tc>
                  <a:txBody>
                    <a:bodyPr/>
                    <a:lstStyle/>
                    <a:p>
                      <a:pPr algn="ctr">
                        <a:defRPr sz="1600" b="1">
                          <a:solidFill>
                            <a:srgbClr val="FFFFFF"/>
                          </a:solidFill>
                        </a:defRPr>
                      </a:pPr>
                      <a:r>
                        <a:t>OOD-high acc.</a:t>
                      </a:r>
                    </a:p>
                  </a:txBody>
                  <a:tcPr>
                    <a:solidFill>
                      <a:srgbClr val="1F2937"/>
                    </a:solidFill>
                  </a:tcPr>
                </a:tc>
              </a:tr>
              <a:tr h="420624">
                <a:tc>
                  <a:txBody>
                    <a:bodyPr/>
                    <a:lstStyle/>
                    <a:p>
                      <a:pPr algn="ctr">
                        <a:defRPr sz="1600"/>
                      </a:pPr>
                      <a:r>
                        <a:t>No MoE, VQ on</a:t>
                      </a:r>
                    </a:p>
                  </a:txBody>
                  <a:tcPr/>
                </a:tc>
                <a:tc>
                  <a:txBody>
                    <a:bodyPr/>
                    <a:lstStyle/>
                    <a:p>
                      <a:pPr algn="ctr">
                        <a:defRPr sz="1600"/>
                      </a:pPr>
                      <a:r>
                        <a:t>82.57 ± 3.71</a:t>
                      </a:r>
                    </a:p>
                  </a:txBody>
                  <a:tcPr/>
                </a:tc>
                <a:tc>
                  <a:txBody>
                    <a:bodyPr/>
                    <a:lstStyle/>
                    <a:p>
                      <a:pPr algn="ctr">
                        <a:defRPr sz="1600"/>
                      </a:pPr>
                      <a:r>
                        <a:t>77.09 ± 3.58</a:t>
                      </a:r>
                    </a:p>
                  </a:txBody>
                  <a:tcPr/>
                </a:tc>
                <a:tc>
                  <a:txBody>
                    <a:bodyPr/>
                    <a:lstStyle/>
                    <a:p>
                      <a:pPr algn="ctr">
                        <a:defRPr sz="1600"/>
                      </a:pPr>
                      <a:r>
                        <a:t>80.00 ± 4.79</a:t>
                      </a:r>
                    </a:p>
                  </a:txBody>
                  <a:tcPr/>
                </a:tc>
              </a:tr>
              <a:tr h="420624">
                <a:tc>
                  <a:txBody>
                    <a:bodyPr/>
                    <a:lstStyle/>
                    <a:p>
                      <a:pPr algn="ctr">
                        <a:defRPr sz="1600"/>
                      </a:pPr>
                      <a:r>
                        <a:t>MoE, VQ on</a:t>
                      </a:r>
                    </a:p>
                  </a:txBody>
                  <a:tcPr/>
                </a:tc>
                <a:tc>
                  <a:txBody>
                    <a:bodyPr/>
                    <a:lstStyle/>
                    <a:p>
                      <a:pPr algn="ctr">
                        <a:defRPr sz="1600"/>
                      </a:pPr>
                      <a:r>
                        <a:t>87.22 ± 1.22</a:t>
                      </a:r>
                    </a:p>
                  </a:txBody>
                  <a:tcPr/>
                </a:tc>
                <a:tc>
                  <a:txBody>
                    <a:bodyPr/>
                    <a:lstStyle/>
                    <a:p>
                      <a:pPr algn="ctr">
                        <a:defRPr sz="1600"/>
                      </a:pPr>
                      <a:r>
                        <a:t>80.34 ± 0.69</a:t>
                      </a:r>
                    </a:p>
                  </a:txBody>
                  <a:tcPr/>
                </a:tc>
                <a:tc>
                  <a:txBody>
                    <a:bodyPr/>
                    <a:lstStyle/>
                    <a:p>
                      <a:pPr algn="ctr">
                        <a:defRPr sz="1600"/>
                      </a:pPr>
                      <a:r>
                        <a:t>85.54 ± 1.04</a:t>
                      </a:r>
                    </a:p>
                  </a:txBody>
                  <a:tcPr/>
                </a:tc>
              </a:tr>
              <a:tr h="420624">
                <a:tc>
                  <a:txBody>
                    <a:bodyPr/>
                    <a:lstStyle/>
                    <a:p>
                      <a:pPr algn="ctr">
                        <a:defRPr sz="1600"/>
                      </a:pPr>
                      <a:r>
                        <a:t>No MoE, VQ off</a:t>
                      </a:r>
                    </a:p>
                  </a:txBody>
                  <a:tcPr/>
                </a:tc>
                <a:tc>
                  <a:txBody>
                    <a:bodyPr/>
                    <a:lstStyle/>
                    <a:p>
                      <a:pPr algn="ctr">
                        <a:defRPr sz="1600"/>
                      </a:pPr>
                      <a:r>
                        <a:t>86.28 ± 1.49</a:t>
                      </a:r>
                    </a:p>
                  </a:txBody>
                  <a:tcPr/>
                </a:tc>
                <a:tc>
                  <a:txBody>
                    <a:bodyPr/>
                    <a:lstStyle/>
                    <a:p>
                      <a:pPr algn="ctr">
                        <a:defRPr sz="1600"/>
                      </a:pPr>
                      <a:r>
                        <a:t>79.98 ± 1.06</a:t>
                      </a:r>
                    </a:p>
                  </a:txBody>
                  <a:tcPr/>
                </a:tc>
                <a:tc>
                  <a:txBody>
                    <a:bodyPr/>
                    <a:lstStyle/>
                    <a:p>
                      <a:pPr algn="ctr">
                        <a:defRPr sz="1600"/>
                      </a:pPr>
                      <a:r>
                        <a:t>85.00 ± 0.80</a:t>
                      </a:r>
                    </a:p>
                  </a:txBody>
                  <a:tcPr/>
                </a:tc>
              </a:tr>
              <a:tr h="420624">
                <a:tc>
                  <a:txBody>
                    <a:bodyPr/>
                    <a:lstStyle/>
                    <a:p>
                      <a:pPr algn="ctr">
                        <a:defRPr sz="1600"/>
                      </a:pPr>
                      <a:r>
                        <a:t>MoE, VQ off</a:t>
                      </a:r>
                    </a:p>
                  </a:txBody>
                  <a:tcPr/>
                </a:tc>
                <a:tc>
                  <a:txBody>
                    <a:bodyPr/>
                    <a:lstStyle/>
                    <a:p>
                      <a:pPr algn="ctr">
                        <a:defRPr sz="1600"/>
                      </a:pPr>
                      <a:r>
                        <a:t>86.58 ± 1.65</a:t>
                      </a:r>
                    </a:p>
                  </a:txBody>
                  <a:tcPr/>
                </a:tc>
                <a:tc>
                  <a:txBody>
                    <a:bodyPr/>
                    <a:lstStyle/>
                    <a:p>
                      <a:pPr algn="ctr">
                        <a:defRPr sz="1600"/>
                      </a:pPr>
                      <a:r>
                        <a:t>80.05 ± 0.85</a:t>
                      </a:r>
                    </a:p>
                  </a:txBody>
                  <a:tcPr/>
                </a:tc>
                <a:tc>
                  <a:txBody>
                    <a:bodyPr/>
                    <a:lstStyle/>
                    <a:p>
                      <a:pPr algn="ctr">
                        <a:defRPr sz="1600"/>
                      </a:pPr>
                      <a:r>
                        <a:t>85.27 ± 1.00</a:t>
                      </a:r>
                    </a:p>
                  </a:txBody>
                  <a:tcPr/>
                </a:tc>
              </a:tr>
            </a:tbl>
          </a:graphicData>
        </a:graphic>
      </p:graphicFrame>
      <p:sp>
        <p:nvSpPr>
          <p:cNvPr id="4" name="TextBox 3"/>
          <p:cNvSpPr txBox="1"/>
          <p:nvPr/>
        </p:nvSpPr>
        <p:spPr>
          <a:xfrm>
            <a:off x="548640" y="3749039"/>
            <a:ext cx="11064240" cy="5029200"/>
          </a:xfrm>
          <a:prstGeom prst="rect">
            <a:avLst/>
          </a:prstGeom>
          <a:noFill/>
        </p:spPr>
        <p:txBody>
          <a:bodyPr wrap="square">
            <a:spAutoFit/>
          </a:bodyPr>
          <a:lstStyle/>
          <a:p>
            <a:pPr>
              <a:spcAft>
                <a:spcPts val="800"/>
              </a:spcAft>
              <a:defRPr sz="2000" b="1">
                <a:solidFill>
                  <a:srgbClr val="B02A2A"/>
                </a:solidFill>
              </a:defRPr>
            </a:pPr>
            <a:r>
              <a:t>MoE's apparent benefit is conditional on VQ.</a:t>
            </a:r>
          </a:p>
          <a:p>
            <a:pPr lvl="1">
              <a:spcAft>
                <a:spcPts val="800"/>
              </a:spcAft>
              <a:defRPr sz="1800" b="0">
                <a:solidFill>
                  <a:srgbClr val="1F2937"/>
                </a:solidFill>
              </a:defRPr>
            </a:pPr>
            <a:r>
              <a:t>With VQ on: MoE adds +4.65 pts (82.57 → 87.22)</a:t>
            </a:r>
          </a:p>
          <a:p>
            <a:pPr lvl="1">
              <a:spcAft>
                <a:spcPts val="800"/>
              </a:spcAft>
              <a:defRPr sz="1800" b="0">
                <a:solidFill>
                  <a:srgbClr val="1F2937"/>
                </a:solidFill>
              </a:defRPr>
            </a:pPr>
            <a:r>
              <a:t>With VQ off: MoE adds only +0.30 pts (86.28 → 86.58) — within noise</a:t>
            </a:r>
          </a:p>
          <a:p>
            <a:pPr>
              <a:spcAft>
                <a:spcPts val="800"/>
              </a:spcAft>
              <a:defRPr sz="2000" b="0">
                <a:solidFill>
                  <a:srgbClr val="1F2937"/>
                </a:solidFill>
              </a:defRPr>
            </a:pPr>
          </a:p>
          <a:p>
            <a:pPr>
              <a:spcAft>
                <a:spcPts val="800"/>
              </a:spcAft>
              <a:defRPr sz="2000" b="0">
                <a:solidFill>
                  <a:srgbClr val="1F2937"/>
                </a:solidFill>
              </a:defRPr>
            </a:pPr>
            <a:r>
              <a:t>Interpretation: an untrained/non-pretrained VQ bottleneck hurts a plain GNN; MoE</a:t>
            </a:r>
          </a:p>
          <a:p>
            <a:pPr>
              <a:spcAft>
                <a:spcPts val="800"/>
              </a:spcAft>
              <a:defRPr sz="2000" b="0">
                <a:solidFill>
                  <a:srgbClr val="1F2937"/>
                </a:solidFill>
              </a:defRPr>
            </a:pPr>
            <a:r>
              <a:t>mostly compensates for that harm rather than adding independent value.</a:t>
            </a:r>
          </a:p>
        </p:txBody>
      </p:sp>
      <p:sp>
        <p:nvSpPr>
          <p:cNvPr id="5" name="TextBox 4"/>
          <p:cNvSpPr txBox="1"/>
          <p:nvPr/>
        </p:nvSpPr>
        <p:spPr>
          <a:xfrm>
            <a:off x="457200" y="6446520"/>
            <a:ext cx="10972800" cy="320040"/>
          </a:xfrm>
          <a:prstGeom prst="rect">
            <a:avLst/>
          </a:prstGeom>
          <a:noFill/>
        </p:spPr>
        <p:txBody>
          <a:bodyPr wrap="none">
            <a:spAutoFit/>
          </a:bodyPr>
          <a:lstStyle/>
          <a:p>
            <a:pPr>
              <a:defRPr sz="1100">
                <a:solidFill>
                  <a:srgbClr val="555555"/>
                </a:solidFill>
              </a:defRPr>
            </a:pPr>
            <a:r>
              <a:t>Accuracy on ID-degree bucket shown; OOD-low/high follow the same pattern.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3200" b="1">
                <a:solidFill>
                  <a:srgbClr val="1F2937"/>
                </a:solidFill>
              </a:defRPr>
            </a:pPr>
            <a:r>
              <a:t>Result 2 — Reliability Issue: Expert Collapse</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800"/>
              </a:spcAft>
              <a:defRPr sz="2100" b="1">
                <a:solidFill>
                  <a:srgbClr val="B02A2A"/>
                </a:solidFill>
              </a:defRPr>
            </a:pPr>
            <a:r>
              <a:t>Confirmed on two independent datasets, 10/10 seeds each (random init, no regularization):</a:t>
            </a:r>
          </a:p>
        </p:txBody>
      </p:sp>
      <p:graphicFrame>
        <p:nvGraphicFramePr>
          <p:cNvPr id="4" name="Table 3"/>
          <p:cNvGraphicFramePr>
            <a:graphicFrameLocks noGrp="1"/>
          </p:cNvGraphicFramePr>
          <p:nvPr/>
        </p:nvGraphicFramePr>
        <p:xfrm>
          <a:off x="731520" y="2011680"/>
          <a:ext cx="10698480" cy="1280160"/>
        </p:xfrm>
        <a:graphic>
          <a:graphicData uri="http://schemas.openxmlformats.org/drawingml/2006/table">
            <a:tbl>
              <a:tblPr firstRow="1" bandRow="1">
                <a:tableStyleId>{5C22544A-7EE6-4342-B048-85BDC9FD1C3A}</a:tableStyleId>
              </a:tblPr>
              <a:tblGrid>
                <a:gridCol w="2103120"/>
                <a:gridCol w="2834640"/>
                <a:gridCol w="2834640"/>
                <a:gridCol w="2926080"/>
              </a:tblGrid>
              <a:tr h="426720">
                <a:tc>
                  <a:txBody>
                    <a:bodyPr/>
                    <a:lstStyle/>
                    <a:p>
                      <a:pPr algn="ctr">
                        <a:defRPr sz="1600" b="1">
                          <a:solidFill>
                            <a:srgbClr val="FFFFFF"/>
                          </a:solidFill>
                        </a:defRPr>
                      </a:pPr>
                      <a:r>
                        <a:t>Dataset</a:t>
                      </a:r>
                    </a:p>
                  </a:txBody>
                  <a:tcPr>
                    <a:solidFill>
                      <a:srgbClr val="1F2937"/>
                    </a:solidFill>
                  </a:tcPr>
                </a:tc>
                <a:tc>
                  <a:txBody>
                    <a:bodyPr/>
                    <a:lstStyle/>
                    <a:p>
                      <a:pPr algn="ctr">
                        <a:defRPr sz="1600" b="1">
                          <a:solidFill>
                            <a:srgbClr val="FFFFFF"/>
                          </a:solidFill>
                        </a:defRPr>
                      </a:pPr>
                      <a:r>
                        <a:t>Layer 0 max_usage</a:t>
                      </a:r>
                    </a:p>
                  </a:txBody>
                  <a:tcPr>
                    <a:solidFill>
                      <a:srgbClr val="1F2937"/>
                    </a:solidFill>
                  </a:tcPr>
                </a:tc>
                <a:tc>
                  <a:txBody>
                    <a:bodyPr/>
                    <a:lstStyle/>
                    <a:p>
                      <a:pPr algn="ctr">
                        <a:defRPr sz="1600" b="1">
                          <a:solidFill>
                            <a:srgbClr val="FFFFFF"/>
                          </a:solidFill>
                        </a:defRPr>
                      </a:pPr>
                      <a:r>
                        <a:t>Layer 1 max_usage</a:t>
                      </a:r>
                    </a:p>
                  </a:txBody>
                  <a:tcPr>
                    <a:solidFill>
                      <a:srgbClr val="1F2937"/>
                    </a:solidFill>
                  </a:tcPr>
                </a:tc>
                <a:tc>
                  <a:txBody>
                    <a:bodyPr/>
                    <a:lstStyle/>
                    <a:p>
                      <a:pPr algn="ctr">
                        <a:defRPr sz="1600" b="1">
                          <a:solidFill>
                            <a:srgbClr val="FFFFFF"/>
                          </a:solidFill>
                        </a:defRPr>
                      </a:pPr>
                      <a:r>
                        <a:t>Pattern</a:t>
                      </a:r>
                    </a:p>
                  </a:txBody>
                  <a:tcPr>
                    <a:solidFill>
                      <a:srgbClr val="1F2937"/>
                    </a:solidFill>
                  </a:tcPr>
                </a:tc>
              </a:tr>
              <a:tr h="426720">
                <a:tc>
                  <a:txBody>
                    <a:bodyPr/>
                    <a:lstStyle/>
                    <a:p>
                      <a:pPr algn="ctr">
                        <a:defRPr sz="1600"/>
                      </a:pPr>
                      <a:r>
                        <a:t>Cora</a:t>
                      </a:r>
                    </a:p>
                  </a:txBody>
                  <a:tcPr/>
                </a:tc>
                <a:tc>
                  <a:txBody>
                    <a:bodyPr/>
                    <a:lstStyle/>
                    <a:p>
                      <a:pPr algn="ctr">
                        <a:defRPr sz="1600"/>
                      </a:pPr>
                      <a:r>
                        <a:t>1.000 ± 0.001</a:t>
                      </a:r>
                    </a:p>
                  </a:txBody>
                  <a:tcPr/>
                </a:tc>
                <a:tc>
                  <a:txBody>
                    <a:bodyPr/>
                    <a:lstStyle/>
                    <a:p>
                      <a:pPr algn="ctr">
                        <a:defRPr sz="1600"/>
                      </a:pPr>
                      <a:r>
                        <a:t>≈ 0.45 – 0.90 (varies)</a:t>
                      </a:r>
                    </a:p>
                  </a:txBody>
                  <a:tcPr/>
                </a:tc>
                <a:tc>
                  <a:txBody>
                    <a:bodyPr/>
                    <a:lstStyle/>
                    <a:p>
                      <a:pPr algn="ctr">
                        <a:defRPr sz="1600"/>
                      </a:pPr>
                      <a:r>
                        <a:t>Full collapse, every seed</a:t>
                      </a:r>
                    </a:p>
                  </a:txBody>
                  <a:tcPr/>
                </a:tc>
              </a:tr>
              <a:tr h="426720">
                <a:tc>
                  <a:txBody>
                    <a:bodyPr/>
                    <a:lstStyle/>
                    <a:p>
                      <a:pPr algn="ctr">
                        <a:defRPr sz="1600"/>
                      </a:pPr>
                      <a:r>
                        <a:t>Pubmed</a:t>
                      </a:r>
                    </a:p>
                  </a:txBody>
                  <a:tcPr/>
                </a:tc>
                <a:tc>
                  <a:txBody>
                    <a:bodyPr/>
                    <a:lstStyle/>
                    <a:p>
                      <a:pPr algn="ctr">
                        <a:defRPr sz="1600"/>
                      </a:pPr>
                      <a:r>
                        <a:t>0.993 ± 0.021</a:t>
                      </a:r>
                    </a:p>
                  </a:txBody>
                  <a:tcPr/>
                </a:tc>
                <a:tc>
                  <a:txBody>
                    <a:bodyPr/>
                    <a:lstStyle/>
                    <a:p>
                      <a:pPr algn="ctr">
                        <a:defRPr sz="1600"/>
                      </a:pPr>
                      <a:r>
                        <a:t>0.558 ± 0.112</a:t>
                      </a:r>
                    </a:p>
                  </a:txBody>
                  <a:tcPr/>
                </a:tc>
                <a:tc>
                  <a:txBody>
                    <a:bodyPr/>
                    <a:lstStyle/>
                    <a:p>
                      <a:pPr algn="ctr">
                        <a:defRPr sz="1600"/>
                      </a:pPr>
                      <a:r>
                        <a:t>Full collapse, every seed</a:t>
                      </a:r>
                    </a:p>
                  </a:txBody>
                  <a:tcPr/>
                </a:tc>
              </a:tr>
            </a:tbl>
          </a:graphicData>
        </a:graphic>
      </p:graphicFrame>
      <p:sp>
        <p:nvSpPr>
          <p:cNvPr id="5" name="TextBox 4"/>
          <p:cNvSpPr txBox="1"/>
          <p:nvPr/>
        </p:nvSpPr>
        <p:spPr>
          <a:xfrm>
            <a:off x="548640" y="3566160"/>
            <a:ext cx="11064240" cy="5029200"/>
          </a:xfrm>
          <a:prstGeom prst="rect">
            <a:avLst/>
          </a:prstGeom>
          <a:noFill/>
        </p:spPr>
        <p:txBody>
          <a:bodyPr wrap="square">
            <a:spAutoFit/>
          </a:bodyPr>
          <a:lstStyle/>
          <a:p>
            <a:pPr>
              <a:spcAft>
                <a:spcPts val="800"/>
              </a:spcAft>
              <a:defRPr sz="1900" b="0">
                <a:solidFill>
                  <a:srgbClr val="1F2937"/>
                </a:solidFill>
              </a:defRPr>
            </a:pPr>
            <a:r>
              <a:t>Layer 0 (routes on raw text features): fully collapses to ONE of 3 experts —</a:t>
            </a:r>
          </a:p>
          <a:p>
            <a:pPr lvl="1">
              <a:spcAft>
                <a:spcPts val="800"/>
              </a:spcAft>
              <a:defRPr sz="1700" b="0">
                <a:solidFill>
                  <a:srgbClr val="1F2937"/>
                </a:solidFill>
              </a:defRPr>
            </a:pPr>
            <a:r>
              <a:t>which expert wins is random per seed, but exactly one wins every single time.</a:t>
            </a:r>
          </a:p>
          <a:p>
            <a:pPr>
              <a:spcAft>
                <a:spcPts val="800"/>
              </a:spcAft>
              <a:defRPr sz="1900" b="0">
                <a:solidFill>
                  <a:srgbClr val="1F2937"/>
                </a:solidFill>
              </a:defRPr>
            </a:pPr>
          </a:p>
          <a:p>
            <a:pPr>
              <a:spcAft>
                <a:spcPts val="800"/>
              </a:spcAft>
              <a:defRPr sz="1900" b="0">
                <a:solidFill>
                  <a:srgbClr val="1F2937"/>
                </a:solidFill>
              </a:defRPr>
            </a:pPr>
            <a:r>
              <a:t>Layer 1 (routes on aggregated hidden states): doesn't fully collapse, but shows</a:t>
            </a:r>
          </a:p>
          <a:p>
            <a:pPr lvl="1">
              <a:spcAft>
                <a:spcPts val="800"/>
              </a:spcAft>
              <a:defRPr sz="1700" b="0">
                <a:solidFill>
                  <a:srgbClr val="1F2937"/>
                </a:solidFill>
              </a:defRPr>
            </a:pPr>
            <a:r>
              <a:t>genuine ID→OOD routing shift (nonzero TV/KL), and on Pubmed this shift is asymmetric</a:t>
            </a:r>
          </a:p>
          <a:p>
            <a:pPr lvl="1">
              <a:spcAft>
                <a:spcPts val="800"/>
              </a:spcAft>
              <a:defRPr sz="1700" b="0">
                <a:solidFill>
                  <a:srgbClr val="1F2937"/>
                </a:solidFill>
              </a:defRPr>
            </a:pPr>
            <a:r>
              <a:t>(stronger toward high-degree OOD than low-degree OOD).</a:t>
            </a:r>
          </a:p>
          <a:p>
            <a:pPr>
              <a:spcAft>
                <a:spcPts val="800"/>
              </a:spcAft>
              <a:defRPr sz="1900" b="0">
                <a:solidFill>
                  <a:srgbClr val="1F2937"/>
                </a:solidFill>
              </a:defRPr>
            </a:pPr>
          </a:p>
          <a:p>
            <a:pPr>
              <a:spcAft>
                <a:spcPts val="800"/>
              </a:spcAft>
              <a:defRPr sz="1900" b="1">
                <a:solidFill>
                  <a:srgbClr val="B02A2A"/>
                </a:solidFill>
              </a:defRPr>
            </a:pPr>
            <a:r>
              <a:t>Not a dataset-specific artifact — reproduced independently on Cora and Pubmed.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3200" b="1">
                <a:solidFill>
                  <a:srgbClr val="1F2937"/>
                </a:solidFill>
              </a:defRPr>
            </a:pPr>
            <a:r>
              <a:t>Tested Fix #1 — Richer LLM Router Input (Negative)</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800"/>
              </a:spcAft>
              <a:defRPr sz="2000" b="0">
                <a:solidFill>
                  <a:srgbClr val="1F2937"/>
                </a:solidFill>
              </a:defRPr>
            </a:pPr>
            <a:r>
              <a:t>Idea: feed Layer 0's router an additional LLM-derived signal — cosine similarity of each</a:t>
            </a:r>
          </a:p>
          <a:p>
            <a:pPr>
              <a:spcAft>
                <a:spcPts val="800"/>
              </a:spcAft>
              <a:defRPr sz="2000" b="0">
                <a:solidFill>
                  <a:srgbClr val="1F2937"/>
                </a:solidFill>
              </a:defRPr>
            </a:pPr>
            <a:r>
              <a:t>node's text embedding to all class-text embeddings (a 7-dim “semantic profile”), so</a:t>
            </a:r>
          </a:p>
          <a:p>
            <a:pPr>
              <a:spcAft>
                <a:spcPts val="800"/>
              </a:spcAft>
              <a:defRPr sz="2000" b="0">
                <a:solidFill>
                  <a:srgbClr val="1F2937"/>
                </a:solidFill>
              </a:defRPr>
            </a:pPr>
            <a:r>
              <a:t>routing is grounded in stable semantic info instead of raw, degree-sensitive features.</a:t>
            </a:r>
          </a:p>
        </p:txBody>
      </p:sp>
      <p:graphicFrame>
        <p:nvGraphicFramePr>
          <p:cNvPr id="4" name="Table 3"/>
          <p:cNvGraphicFramePr>
            <a:graphicFrameLocks noGrp="1"/>
          </p:cNvGraphicFramePr>
          <p:nvPr/>
        </p:nvGraphicFramePr>
        <p:xfrm>
          <a:off x="1188720" y="2834640"/>
          <a:ext cx="9784080" cy="1280160"/>
        </p:xfrm>
        <a:graphic>
          <a:graphicData uri="http://schemas.openxmlformats.org/drawingml/2006/table">
            <a:tbl>
              <a:tblPr firstRow="1" bandRow="1">
                <a:tableStyleId>{5C22544A-7EE6-4342-B048-85BDC9FD1C3A}</a:tableStyleId>
              </a:tblPr>
              <a:tblGrid>
                <a:gridCol w="3657600"/>
                <a:gridCol w="3200400"/>
                <a:gridCol w="2926080"/>
              </a:tblGrid>
              <a:tr h="426720">
                <a:tc>
                  <a:txBody>
                    <a:bodyPr/>
                    <a:lstStyle/>
                    <a:p>
                      <a:pPr algn="ctr">
                        <a:defRPr sz="1600" b="1">
                          <a:solidFill>
                            <a:srgbClr val="FFFFFF"/>
                          </a:solidFill>
                        </a:defRPr>
                      </a:pPr>
                      <a:r>
                        <a:t>Cora, 3 runs</a:t>
                      </a:r>
                    </a:p>
                  </a:txBody>
                  <a:tcPr>
                    <a:solidFill>
                      <a:srgbClr val="1F2937"/>
                    </a:solidFill>
                  </a:tcPr>
                </a:tc>
                <a:tc>
                  <a:txBody>
                    <a:bodyPr/>
                    <a:lstStyle/>
                    <a:p>
                      <a:pPr algn="ctr">
                        <a:defRPr sz="1600" b="1">
                          <a:solidFill>
                            <a:srgbClr val="FFFFFF"/>
                          </a:solidFill>
                        </a:defRPr>
                      </a:pPr>
                      <a:r>
                        <a:t>Layer 0 max_usage</a:t>
                      </a:r>
                    </a:p>
                  </a:txBody>
                  <a:tcPr>
                    <a:solidFill>
                      <a:srgbClr val="1F2937"/>
                    </a:solidFill>
                  </a:tcPr>
                </a:tc>
                <a:tc>
                  <a:txBody>
                    <a:bodyPr/>
                    <a:lstStyle/>
                    <a:p>
                      <a:pPr algn="ctr">
                        <a:defRPr sz="1600" b="1">
                          <a:solidFill>
                            <a:srgbClr val="FFFFFF"/>
                          </a:solidFill>
                        </a:defRPr>
                      </a:pPr>
                      <a:r>
                        <a:t>ID accuracy</a:t>
                      </a:r>
                    </a:p>
                  </a:txBody>
                  <a:tcPr>
                    <a:solidFill>
                      <a:srgbClr val="1F2937"/>
                    </a:solidFill>
                  </a:tcPr>
                </a:tc>
              </a:tr>
              <a:tr h="426720">
                <a:tc>
                  <a:txBody>
                    <a:bodyPr/>
                    <a:lstStyle/>
                    <a:p>
                      <a:pPr algn="ctr">
                        <a:defRPr sz="1600"/>
                      </a:pPr>
                      <a:r>
                        <a:t>Random input only</a:t>
                      </a:r>
                    </a:p>
                  </a:txBody>
                  <a:tcPr/>
                </a:tc>
                <a:tc>
                  <a:txBody>
                    <a:bodyPr/>
                    <a:lstStyle/>
                    <a:p>
                      <a:pPr algn="ctr">
                        <a:defRPr sz="1600"/>
                      </a:pPr>
                      <a:r>
                        <a:t>1.000 ± 0.001</a:t>
                      </a:r>
                    </a:p>
                  </a:txBody>
                  <a:tcPr/>
                </a:tc>
                <a:tc>
                  <a:txBody>
                    <a:bodyPr/>
                    <a:lstStyle/>
                    <a:p>
                      <a:pPr algn="ctr">
                        <a:defRPr sz="1600"/>
                      </a:pPr>
                      <a:r>
                        <a:t>87.22 ± 1.22 (10 runs)</a:t>
                      </a:r>
                    </a:p>
                  </a:txBody>
                  <a:tcPr/>
                </a:tc>
              </a:tr>
              <a:tr h="426720">
                <a:tc>
                  <a:txBody>
                    <a:bodyPr/>
                    <a:lstStyle/>
                    <a:p>
                      <a:pPr algn="ctr">
                        <a:defRPr sz="1600"/>
                      </a:pPr>
                      <a:r>
                        <a:t>+ LLM class-similarity input</a:t>
                      </a:r>
                    </a:p>
                  </a:txBody>
                  <a:tcPr/>
                </a:tc>
                <a:tc>
                  <a:txBody>
                    <a:bodyPr/>
                    <a:lstStyle/>
                    <a:p>
                      <a:pPr algn="ctr">
                        <a:defRPr sz="1600"/>
                      </a:pPr>
                      <a:r>
                        <a:t>1.000 ± 0.000</a:t>
                      </a:r>
                    </a:p>
                  </a:txBody>
                  <a:tcPr/>
                </a:tc>
                <a:tc>
                  <a:txBody>
                    <a:bodyPr/>
                    <a:lstStyle/>
                    <a:p>
                      <a:pPr algn="ctr">
                        <a:defRPr sz="1600"/>
                      </a:pPr>
                      <a:r>
                        <a:t>86.92 ± 0.94 (3 runs)</a:t>
                      </a:r>
                    </a:p>
                  </a:txBody>
                  <a:tcPr/>
                </a:tc>
              </a:tr>
            </a:tbl>
          </a:graphicData>
        </a:graphic>
      </p:graphicFrame>
      <p:sp>
        <p:nvSpPr>
          <p:cNvPr id="5" name="TextBox 4"/>
          <p:cNvSpPr txBox="1"/>
          <p:nvPr/>
        </p:nvSpPr>
        <p:spPr>
          <a:xfrm>
            <a:off x="548640" y="4389120"/>
            <a:ext cx="11064240" cy="5029200"/>
          </a:xfrm>
          <a:prstGeom prst="rect">
            <a:avLst/>
          </a:prstGeom>
          <a:noFill/>
        </p:spPr>
        <p:txBody>
          <a:bodyPr wrap="square">
            <a:spAutoFit/>
          </a:bodyPr>
          <a:lstStyle/>
          <a:p>
            <a:pPr>
              <a:spcAft>
                <a:spcPts val="800"/>
              </a:spcAft>
              <a:defRPr sz="2000" b="1">
                <a:solidFill>
                  <a:srgbClr val="B02A2A"/>
                </a:solidFill>
              </a:defRPr>
            </a:pPr>
            <a:r>
              <a:t>Result: no effect. Still full collapse, no accuracy change.</a:t>
            </a:r>
          </a:p>
          <a:p>
            <a:pPr>
              <a:spcAft>
                <a:spcPts val="800"/>
              </a:spcAft>
              <a:defRPr sz="2000" b="0">
                <a:solidFill>
                  <a:srgbClr val="1F2937"/>
                </a:solidFill>
              </a:defRPr>
            </a:pPr>
            <a:r>
              <a:t>Conclusion: collapse is not an information-availability problem — the router already had</a:t>
            </a:r>
          </a:p>
          <a:p>
            <a:pPr>
              <a:spcAft>
                <a:spcPts val="800"/>
              </a:spcAft>
              <a:defRPr sz="2000" b="0">
                <a:solidFill>
                  <a:srgbClr val="1F2937"/>
                </a:solidFill>
              </a:defRPr>
            </a:pPr>
            <a:r>
              <a:t>enough signal to avoid collapsing; giving it more didn't change the outcome.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3200" b="1">
                <a:solidFill>
                  <a:srgbClr val="1F2937"/>
                </a:solidFill>
              </a:defRPr>
            </a:pPr>
            <a:r>
              <a:t>Tested Fix #2 — LLM-Grounded K-Means Router Init (Negative)</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800"/>
              </a:spcAft>
              <a:defRPr sz="1900" b="0">
                <a:solidFill>
                  <a:srgbClr val="1F2937"/>
                </a:solidFill>
              </a:defRPr>
            </a:pPr>
            <a:r>
              <a:t>Idea: collapse may be a “rich-get-richer” effect from random initialization — whichever</a:t>
            </a:r>
          </a:p>
          <a:p>
            <a:pPr>
              <a:spcAft>
                <a:spcPts val="800"/>
              </a:spcAft>
              <a:defRPr sz="1900" b="0">
                <a:solidFill>
                  <a:srgbClr val="1F2937"/>
                </a:solidFill>
              </a:defRPr>
            </a:pPr>
            <a:r>
              <a:t>expert gets a small early edge captures all gradient signal. Fix: initialize each expert</a:t>
            </a:r>
          </a:p>
          <a:p>
            <a:pPr>
              <a:spcAft>
                <a:spcPts val="800"/>
              </a:spcAft>
              <a:defRPr sz="1900" b="0">
                <a:solidFill>
                  <a:srgbClr val="1F2937"/>
                </a:solidFill>
              </a:defRPr>
            </a:pPr>
            <a:r>
              <a:t>pre-assigned to a distinct k-means cluster of LLM text embeddings (mirrors the codebase's</a:t>
            </a:r>
          </a:p>
          <a:p>
            <a:pPr>
              <a:spcAft>
                <a:spcPts val="800"/>
              </a:spcAft>
              <a:defRPr sz="1900" b="0">
                <a:solidFill>
                  <a:srgbClr val="1F2937"/>
                </a:solidFill>
              </a:defRPr>
            </a:pPr>
            <a:r>
              <a:t>own VQ “kmeans_init” fix for the analogous codebook-collapse problem).</a:t>
            </a:r>
          </a:p>
        </p:txBody>
      </p:sp>
      <p:graphicFrame>
        <p:nvGraphicFramePr>
          <p:cNvPr id="4" name="Table 3"/>
          <p:cNvGraphicFramePr>
            <a:graphicFrameLocks noGrp="1"/>
          </p:cNvGraphicFramePr>
          <p:nvPr/>
        </p:nvGraphicFramePr>
        <p:xfrm>
          <a:off x="914400" y="3291840"/>
          <a:ext cx="10332720" cy="1280160"/>
        </p:xfrm>
        <a:graphic>
          <a:graphicData uri="http://schemas.openxmlformats.org/drawingml/2006/table">
            <a:tbl>
              <a:tblPr firstRow="1" bandRow="1">
                <a:tableStyleId>{5C22544A-7EE6-4342-B048-85BDC9FD1C3A}</a:tableStyleId>
              </a:tblPr>
              <a:tblGrid>
                <a:gridCol w="4206240"/>
                <a:gridCol w="3200400"/>
                <a:gridCol w="2926080"/>
              </a:tblGrid>
              <a:tr h="426720">
                <a:tc>
                  <a:txBody>
                    <a:bodyPr/>
                    <a:lstStyle/>
                    <a:p>
                      <a:pPr algn="ctr">
                        <a:defRPr sz="1600" b="1">
                          <a:solidFill>
                            <a:srgbClr val="FFFFFF"/>
                          </a:solidFill>
                        </a:defRPr>
                      </a:pPr>
                      <a:r>
                        <a:t>Cora, 10 runs</a:t>
                      </a:r>
                    </a:p>
                  </a:txBody>
                  <a:tcPr>
                    <a:solidFill>
                      <a:srgbClr val="1F2937"/>
                    </a:solidFill>
                  </a:tcPr>
                </a:tc>
                <a:tc>
                  <a:txBody>
                    <a:bodyPr/>
                    <a:lstStyle/>
                    <a:p>
                      <a:pPr algn="ctr">
                        <a:defRPr sz="1600" b="1">
                          <a:solidFill>
                            <a:srgbClr val="FFFFFF"/>
                          </a:solidFill>
                        </a:defRPr>
                      </a:pPr>
                      <a:r>
                        <a:t>Layer 0 max_usage</a:t>
                      </a:r>
                    </a:p>
                  </a:txBody>
                  <a:tcPr>
                    <a:solidFill>
                      <a:srgbClr val="1F2937"/>
                    </a:solidFill>
                  </a:tcPr>
                </a:tc>
                <a:tc>
                  <a:txBody>
                    <a:bodyPr/>
                    <a:lstStyle/>
                    <a:p>
                      <a:pPr algn="ctr">
                        <a:defRPr sz="1600" b="1">
                          <a:solidFill>
                            <a:srgbClr val="FFFFFF"/>
                          </a:solidFill>
                        </a:defRPr>
                      </a:pPr>
                      <a:r>
                        <a:t>ID accuracy</a:t>
                      </a:r>
                    </a:p>
                  </a:txBody>
                  <a:tcPr>
                    <a:solidFill>
                      <a:srgbClr val="1F2937"/>
                    </a:solidFill>
                  </a:tcPr>
                </a:tc>
              </a:tr>
              <a:tr h="426720">
                <a:tc>
                  <a:txBody>
                    <a:bodyPr/>
                    <a:lstStyle/>
                    <a:p>
                      <a:pPr algn="ctr">
                        <a:defRPr sz="1600"/>
                      </a:pPr>
                      <a:r>
                        <a:t>Random init</a:t>
                      </a:r>
                    </a:p>
                  </a:txBody>
                  <a:tcPr/>
                </a:tc>
                <a:tc>
                  <a:txBody>
                    <a:bodyPr/>
                    <a:lstStyle/>
                    <a:p>
                      <a:pPr algn="ctr">
                        <a:defRPr sz="1600"/>
                      </a:pPr>
                      <a:r>
                        <a:t>1.000 ± 0.001</a:t>
                      </a:r>
                    </a:p>
                  </a:txBody>
                  <a:tcPr/>
                </a:tc>
                <a:tc>
                  <a:txBody>
                    <a:bodyPr/>
                    <a:lstStyle/>
                    <a:p>
                      <a:pPr algn="ctr">
                        <a:defRPr sz="1600"/>
                      </a:pPr>
                      <a:r>
                        <a:t>87.22 ± 1.22</a:t>
                      </a:r>
                    </a:p>
                  </a:txBody>
                  <a:tcPr/>
                </a:tc>
              </a:tr>
              <a:tr h="426720">
                <a:tc>
                  <a:txBody>
                    <a:bodyPr/>
                    <a:lstStyle/>
                    <a:p>
                      <a:pPr algn="ctr">
                        <a:defRPr sz="1600"/>
                      </a:pPr>
                      <a:r>
                        <a:t>K-means init (balanced at epoch 0)</a:t>
                      </a:r>
                    </a:p>
                  </a:txBody>
                  <a:tcPr/>
                </a:tc>
                <a:tc>
                  <a:txBody>
                    <a:bodyPr/>
                    <a:lstStyle/>
                    <a:p>
                      <a:pPr algn="ctr">
                        <a:defRPr sz="1600"/>
                      </a:pPr>
                      <a:r>
                        <a:t>0.999 ± 0.004</a:t>
                      </a:r>
                    </a:p>
                  </a:txBody>
                  <a:tcPr/>
                </a:tc>
                <a:tc>
                  <a:txBody>
                    <a:bodyPr/>
                    <a:lstStyle/>
                    <a:p>
                      <a:pPr algn="ctr">
                        <a:defRPr sz="1600"/>
                      </a:pPr>
                      <a:r>
                        <a:t>86.41 ± 2.49</a:t>
                      </a:r>
                    </a:p>
                  </a:txBody>
                  <a:tcPr/>
                </a:tc>
              </a:tr>
            </a:tbl>
          </a:graphicData>
        </a:graphic>
      </p:graphicFrame>
      <p:sp>
        <p:nvSpPr>
          <p:cNvPr id="5" name="TextBox 4"/>
          <p:cNvSpPr txBox="1"/>
          <p:nvPr/>
        </p:nvSpPr>
        <p:spPr>
          <a:xfrm>
            <a:off x="548640" y="4846320"/>
            <a:ext cx="11064240" cy="5029200"/>
          </a:xfrm>
          <a:prstGeom prst="rect">
            <a:avLst/>
          </a:prstGeom>
          <a:noFill/>
        </p:spPr>
        <p:txBody>
          <a:bodyPr wrap="square">
            <a:spAutoFit/>
          </a:bodyPr>
          <a:lstStyle/>
          <a:p>
            <a:pPr>
              <a:spcAft>
                <a:spcPts val="800"/>
              </a:spcAft>
              <a:defRPr sz="2000" b="1">
                <a:solidFill>
                  <a:srgbClr val="B02A2A"/>
                </a:solidFill>
              </a:defRPr>
            </a:pPr>
            <a:r>
              <a:t>Result: still collapses — 9 of 10 runs hit max_usage = 1.000 exactly, despite a</a:t>
            </a:r>
          </a:p>
          <a:p>
            <a:pPr>
              <a:spcAft>
                <a:spcPts val="800"/>
              </a:spcAft>
              <a:defRPr sz="2000" b="1">
                <a:solidFill>
                  <a:srgbClr val="B02A2A"/>
                </a:solidFill>
              </a:defRPr>
            </a:pPr>
            <a:r>
              <a:t>confirmed-balanced starting point. No accuracy improvement.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3200" b="1">
                <a:solidFill>
                  <a:srgbClr val="1F2937"/>
                </a:solidFill>
              </a:defRPr>
            </a:pPr>
            <a:r>
              <a:t>Result 3 — Entropy Regularization Fixes Collapse</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800"/>
              </a:spcAft>
              <a:defRPr sz="2000" b="0">
                <a:solidFill>
                  <a:srgbClr val="1F2937"/>
                </a:solidFill>
              </a:defRPr>
            </a:pPr>
            <a:r>
              <a:t>Two negative results ruled out “not enough information” and “random early asymmetry”</a:t>
            </a:r>
          </a:p>
          <a:p>
            <a:pPr>
              <a:spcAft>
                <a:spcPts val="800"/>
              </a:spcAft>
              <a:defRPr sz="2000" b="0">
                <a:solidFill>
                  <a:srgbClr val="1F2937"/>
                </a:solidFill>
              </a:defRPr>
            </a:pPr>
            <a:r>
              <a:t>as the cause — pointing instead at the loss function itself. The codebase already has an</a:t>
            </a:r>
          </a:p>
          <a:p>
            <a:pPr>
              <a:spcAft>
                <a:spcPts val="800"/>
              </a:spcAft>
              <a:defRPr sz="2000" b="0">
                <a:solidFill>
                  <a:srgbClr val="1F2937"/>
                </a:solidFill>
              </a:defRPr>
            </a:pPr>
            <a:r>
              <a:t>unused lever for this: lamda_env, a router entropy/load-balancing term that defaults to 0.0.</a:t>
            </a:r>
          </a:p>
        </p:txBody>
      </p:sp>
      <p:graphicFrame>
        <p:nvGraphicFramePr>
          <p:cNvPr id="4" name="Table 3"/>
          <p:cNvGraphicFramePr>
            <a:graphicFrameLocks noGrp="1"/>
          </p:cNvGraphicFramePr>
          <p:nvPr/>
        </p:nvGraphicFramePr>
        <p:xfrm>
          <a:off x="548640" y="2834640"/>
          <a:ext cx="11064240" cy="1280160"/>
        </p:xfrm>
        <a:graphic>
          <a:graphicData uri="http://schemas.openxmlformats.org/drawingml/2006/table">
            <a:tbl>
              <a:tblPr firstRow="1" bandRow="1">
                <a:tableStyleId>{5C22544A-7EE6-4342-B048-85BDC9FD1C3A}</a:tableStyleId>
              </a:tblPr>
              <a:tblGrid>
                <a:gridCol w="3108960"/>
                <a:gridCol w="2194560"/>
                <a:gridCol w="1920240"/>
                <a:gridCol w="1920240"/>
                <a:gridCol w="1920240"/>
              </a:tblGrid>
              <a:tr h="426720">
                <a:tc>
                  <a:txBody>
                    <a:bodyPr/>
                    <a:lstStyle/>
                    <a:p>
                      <a:pPr algn="ctr">
                        <a:defRPr sz="1600" b="1">
                          <a:solidFill>
                            <a:srgbClr val="FFFFFF"/>
                          </a:solidFill>
                        </a:defRPr>
                      </a:pPr>
                      <a:r>
                        <a:t>Cora, 10 runs</a:t>
                      </a:r>
                    </a:p>
                  </a:txBody>
                  <a:tcPr>
                    <a:solidFill>
                      <a:srgbClr val="1E7A34"/>
                    </a:solidFill>
                  </a:tcPr>
                </a:tc>
                <a:tc>
                  <a:txBody>
                    <a:bodyPr/>
                    <a:lstStyle/>
                    <a:p>
                      <a:pPr algn="ctr">
                        <a:defRPr sz="1600" b="1">
                          <a:solidFill>
                            <a:srgbClr val="FFFFFF"/>
                          </a:solidFill>
                        </a:defRPr>
                      </a:pPr>
                      <a:r>
                        <a:t>Layer 0 max_usage</a:t>
                      </a:r>
                    </a:p>
                  </a:txBody>
                  <a:tcPr>
                    <a:solidFill>
                      <a:srgbClr val="1E7A34"/>
                    </a:solidFill>
                  </a:tcPr>
                </a:tc>
                <a:tc>
                  <a:txBody>
                    <a:bodyPr/>
                    <a:lstStyle/>
                    <a:p>
                      <a:pPr algn="ctr">
                        <a:defRPr sz="1600" b="1">
                          <a:solidFill>
                            <a:srgbClr val="FFFFFF"/>
                          </a:solidFill>
                        </a:defRPr>
                      </a:pPr>
                      <a:r>
                        <a:t>ID acc.</a:t>
                      </a:r>
                    </a:p>
                  </a:txBody>
                  <a:tcPr>
                    <a:solidFill>
                      <a:srgbClr val="1E7A34"/>
                    </a:solidFill>
                  </a:tcPr>
                </a:tc>
                <a:tc>
                  <a:txBody>
                    <a:bodyPr/>
                    <a:lstStyle/>
                    <a:p>
                      <a:pPr algn="ctr">
                        <a:defRPr sz="1600" b="1">
                          <a:solidFill>
                            <a:srgbClr val="FFFFFF"/>
                          </a:solidFill>
                        </a:defRPr>
                      </a:pPr>
                      <a:r>
                        <a:t>OOD-low</a:t>
                      </a:r>
                    </a:p>
                  </a:txBody>
                  <a:tcPr>
                    <a:solidFill>
                      <a:srgbClr val="1E7A34"/>
                    </a:solidFill>
                  </a:tcPr>
                </a:tc>
                <a:tc>
                  <a:txBody>
                    <a:bodyPr/>
                    <a:lstStyle/>
                    <a:p>
                      <a:pPr algn="ctr">
                        <a:defRPr sz="1600" b="1">
                          <a:solidFill>
                            <a:srgbClr val="FFFFFF"/>
                          </a:solidFill>
                        </a:defRPr>
                      </a:pPr>
                      <a:r>
                        <a:t>OOD-high</a:t>
                      </a:r>
                    </a:p>
                  </a:txBody>
                  <a:tcPr>
                    <a:solidFill>
                      <a:srgbClr val="1E7A34"/>
                    </a:solidFill>
                  </a:tcPr>
                </a:tc>
              </a:tr>
              <a:tr h="426720">
                <a:tc>
                  <a:txBody>
                    <a:bodyPr/>
                    <a:lstStyle/>
                    <a:p>
                      <a:pPr algn="ctr">
                        <a:defRPr sz="1600"/>
                      </a:pPr>
                      <a:r>
                        <a:t>lamda_env = 0 (collapsed)</a:t>
                      </a:r>
                    </a:p>
                  </a:txBody>
                  <a:tcPr/>
                </a:tc>
                <a:tc>
                  <a:txBody>
                    <a:bodyPr/>
                    <a:lstStyle/>
                    <a:p>
                      <a:pPr algn="ctr">
                        <a:defRPr sz="1600"/>
                      </a:pPr>
                      <a:r>
                        <a:t>1.000 ± 0.001</a:t>
                      </a:r>
                    </a:p>
                  </a:txBody>
                  <a:tcPr/>
                </a:tc>
                <a:tc>
                  <a:txBody>
                    <a:bodyPr/>
                    <a:lstStyle/>
                    <a:p>
                      <a:pPr algn="ctr">
                        <a:defRPr sz="1600"/>
                      </a:pPr>
                      <a:r>
                        <a:t>87.22 ± 1.22</a:t>
                      </a:r>
                    </a:p>
                  </a:txBody>
                  <a:tcPr/>
                </a:tc>
                <a:tc>
                  <a:txBody>
                    <a:bodyPr/>
                    <a:lstStyle/>
                    <a:p>
                      <a:pPr algn="ctr">
                        <a:defRPr sz="1600"/>
                      </a:pPr>
                      <a:r>
                        <a:t>80.34 ± 0.69</a:t>
                      </a:r>
                    </a:p>
                  </a:txBody>
                  <a:tcPr/>
                </a:tc>
                <a:tc>
                  <a:txBody>
                    <a:bodyPr/>
                    <a:lstStyle/>
                    <a:p>
                      <a:pPr algn="ctr">
                        <a:defRPr sz="1600"/>
                      </a:pPr>
                      <a:r>
                        <a:t>85.54 ± 1.04</a:t>
                      </a:r>
                    </a:p>
                  </a:txBody>
                  <a:tcPr/>
                </a:tc>
              </a:tr>
              <a:tr h="426720">
                <a:tc>
                  <a:txBody>
                    <a:bodyPr/>
                    <a:lstStyle/>
                    <a:p>
                      <a:pPr algn="ctr">
                        <a:defRPr sz="1600"/>
                      </a:pPr>
                      <a:r>
                        <a:t>lamda_env = 0.1</a:t>
                      </a:r>
                    </a:p>
                  </a:txBody>
                  <a:tcPr/>
                </a:tc>
                <a:tc>
                  <a:txBody>
                    <a:bodyPr/>
                    <a:lstStyle/>
                    <a:p>
                      <a:pPr algn="ctr">
                        <a:defRPr sz="1600"/>
                      </a:pPr>
                      <a:r>
                        <a:t>0.463 ± 0.072</a:t>
                      </a:r>
                    </a:p>
                  </a:txBody>
                  <a:tcPr/>
                </a:tc>
                <a:tc>
                  <a:txBody>
                    <a:bodyPr/>
                    <a:lstStyle/>
                    <a:p>
                      <a:pPr algn="ctr">
                        <a:defRPr sz="1600"/>
                      </a:pPr>
                      <a:r>
                        <a:t>87.39 ± 1.19</a:t>
                      </a:r>
                    </a:p>
                  </a:txBody>
                  <a:tcPr/>
                </a:tc>
                <a:tc>
                  <a:txBody>
                    <a:bodyPr/>
                    <a:lstStyle/>
                    <a:p>
                      <a:pPr algn="ctr">
                        <a:defRPr sz="1600"/>
                      </a:pPr>
                      <a:r>
                        <a:t>80.25 ± 0.85</a:t>
                      </a:r>
                    </a:p>
                  </a:txBody>
                  <a:tcPr/>
                </a:tc>
                <a:tc>
                  <a:txBody>
                    <a:bodyPr/>
                    <a:lstStyle/>
                    <a:p>
                      <a:pPr algn="ctr">
                        <a:defRPr sz="1600"/>
                      </a:pPr>
                      <a:r>
                        <a:t>85.76 ± 0.69</a:t>
                      </a:r>
                    </a:p>
                  </a:txBody>
                  <a:tcPr/>
                </a:tc>
              </a:tr>
            </a:tbl>
          </a:graphicData>
        </a:graphic>
      </p:graphicFrame>
      <p:sp>
        <p:nvSpPr>
          <p:cNvPr id="5" name="TextBox 4"/>
          <p:cNvSpPr txBox="1"/>
          <p:nvPr/>
        </p:nvSpPr>
        <p:spPr>
          <a:xfrm>
            <a:off x="548640" y="4389120"/>
            <a:ext cx="11064240" cy="5029200"/>
          </a:xfrm>
          <a:prstGeom prst="rect">
            <a:avLst/>
          </a:prstGeom>
          <a:noFill/>
        </p:spPr>
        <p:txBody>
          <a:bodyPr wrap="square">
            <a:spAutoFit/>
          </a:bodyPr>
          <a:lstStyle/>
          <a:p>
            <a:pPr>
              <a:spcAft>
                <a:spcPts val="800"/>
              </a:spcAft>
              <a:defRPr sz="2000" b="1">
                <a:solidFill>
                  <a:srgbClr val="1E7A34"/>
                </a:solidFill>
              </a:defRPr>
            </a:pPr>
            <a:r>
              <a:t>Collapse is fixed — Layer 0 goes from total collapse (1.000) to genuine 3-way diversity</a:t>
            </a:r>
          </a:p>
          <a:p>
            <a:pPr>
              <a:spcAft>
                <a:spcPts val="800"/>
              </a:spcAft>
              <a:defRPr sz="2000" b="1">
                <a:solidFill>
                  <a:srgbClr val="1E7A34"/>
                </a:solidFill>
              </a:defRPr>
            </a:pPr>
            <a:r>
              <a:t>(≈0.46, near the 0.33 theoretical balance point), in every one of 10 runs.</a:t>
            </a:r>
          </a:p>
          <a:p>
            <a:pPr>
              <a:spcAft>
                <a:spcPts val="800"/>
              </a:spcAft>
              <a:defRPr sz="2000" b="1">
                <a:solidFill>
                  <a:srgbClr val="1E7A34"/>
                </a:solidFill>
              </a:defRPr>
            </a:pPr>
            <a:r>
              <a:t>Accuracy is unchanged (within noise) — the fix is free, no tradeoff.</a:t>
            </a:r>
          </a:p>
          <a:p>
            <a:pPr>
              <a:spcAft>
                <a:spcPts val="800"/>
              </a:spcAft>
              <a:defRPr sz="2000" b="0">
                <a:solidFill>
                  <a:srgbClr val="1F2937"/>
                </a:solidFill>
              </a:defRPr>
            </a:pPr>
            <a:r>
              <a:t>ID→OOD routing shift also shrinks (TV ≈ 0.001 vs. ≈ 0.02 without regularization).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3200" b="1">
                <a:solidFill>
                  <a:srgbClr val="1F2937"/>
                </a:solidFill>
              </a:defRPr>
            </a:pPr>
            <a:r>
              <a:t>What This Means: Reframing the Open Problem</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800"/>
              </a:spcAft>
              <a:defRPr sz="1900" b="0">
                <a:solidFill>
                  <a:srgbClr val="1F2937"/>
                </a:solidFill>
              </a:defRPr>
            </a:pPr>
            <a:r>
              <a:t>Three results, in sequence, triangulate the cause and the fix:</a:t>
            </a:r>
          </a:p>
          <a:p>
            <a:pPr>
              <a:spcAft>
                <a:spcPts val="800"/>
              </a:spcAft>
              <a:defRPr sz="1900" b="0">
                <a:solidFill>
                  <a:srgbClr val="1F2937"/>
                </a:solidFill>
              </a:defRPr>
            </a:pPr>
            <a:r>
              <a:t>1. Richer input signal (negative) — ruled out “not enough information.”</a:t>
            </a:r>
          </a:p>
          <a:p>
            <a:pPr>
              <a:spcAft>
                <a:spcPts val="800"/>
              </a:spcAft>
              <a:defRPr sz="1900" b="0">
                <a:solidFill>
                  <a:srgbClr val="1F2937"/>
                </a:solidFill>
              </a:defRPr>
            </a:pPr>
            <a:r>
              <a:t>2. Balanced initialization (negative) — ruled out “random early asymmetry.”</a:t>
            </a:r>
          </a:p>
          <a:p>
            <a:pPr>
              <a:spcAft>
                <a:spcPts val="800"/>
              </a:spcAft>
              <a:defRPr sz="1900" b="0">
                <a:solidFill>
                  <a:srgbClr val="1F2937"/>
                </a:solidFill>
              </a:defRPr>
            </a:pPr>
            <a:r>
              <a:t>3. Entropy regularization (positive) — confirms the cause was the loss landscape,</a:t>
            </a:r>
          </a:p>
          <a:p>
            <a:pPr lvl="1">
              <a:spcAft>
                <a:spcPts val="800"/>
              </a:spcAft>
              <a:defRPr sz="1700" b="0">
                <a:solidFill>
                  <a:srgbClr val="1F2937"/>
                </a:solidFill>
              </a:defRPr>
            </a:pPr>
            <a:r>
              <a:t>and a standard, already-existing tool fixes it completely.</a:t>
            </a:r>
          </a:p>
          <a:p>
            <a:pPr>
              <a:spcAft>
                <a:spcPts val="800"/>
              </a:spcAft>
              <a:defRPr sz="1900" b="0">
                <a:solidFill>
                  <a:srgbClr val="1F2937"/>
                </a:solidFill>
              </a:defRPr>
            </a:pPr>
          </a:p>
          <a:p>
            <a:pPr>
              <a:spcAft>
                <a:spcPts val="800"/>
              </a:spcAft>
              <a:defRPr sz="1900" b="1">
                <a:solidFill>
                  <a:srgbClr val="B02A2A"/>
                </a:solidFill>
              </a:defRPr>
            </a:pPr>
            <a:r>
              <a:t>Consequence for the LLM idea: expert collapse is no longer the open problem —</a:t>
            </a:r>
          </a:p>
          <a:p>
            <a:pPr>
              <a:spcAft>
                <a:spcPts val="800"/>
              </a:spcAft>
              <a:defRPr sz="1900" b="1">
                <a:solidFill>
                  <a:srgbClr val="B02A2A"/>
                </a:solidFill>
              </a:defRPr>
            </a:pPr>
            <a:r>
              <a:t>a one-line regularization fix already solves it for free.</a:t>
            </a:r>
          </a:p>
          <a:p>
            <a:pPr>
              <a:spcAft>
                <a:spcPts val="800"/>
              </a:spcAft>
              <a:defRPr sz="1900" b="0">
                <a:solidFill>
                  <a:srgbClr val="1F2937"/>
                </a:solidFill>
              </a:defRPr>
            </a:pPr>
          </a:p>
          <a:p>
            <a:pPr>
              <a:spcAft>
                <a:spcPts val="800"/>
              </a:spcAft>
              <a:defRPr sz="1900" b="1">
                <a:solidFill>
                  <a:srgbClr val="1E7A34"/>
                </a:solidFill>
              </a:defRPr>
            </a:pPr>
            <a:r>
              <a:t>The genuinely open target is what's left after lamda_env: the residual ID→OOD routing</a:t>
            </a:r>
          </a:p>
          <a:p>
            <a:pPr>
              <a:spcAft>
                <a:spcPts val="800"/>
              </a:spcAft>
              <a:defRPr sz="1900" b="1">
                <a:solidFill>
                  <a:srgbClr val="1E7A34"/>
                </a:solidFill>
              </a:defRPr>
            </a:pPr>
            <a:r>
              <a:t>shift (TV ≈ 0.001–0.002, smaller but not exactly zero, and larger/asymmetric on Pubmed).</a:t>
            </a:r>
          </a:p>
          <a:p>
            <a:pPr lvl="1">
              <a:spcAft>
                <a:spcPts val="800"/>
              </a:spcAft>
              <a:defRPr sz="1700" b="0">
                <a:solidFill>
                  <a:srgbClr val="1F2937"/>
                </a:solidFill>
              </a:defRPr>
            </a:pPr>
            <a:r>
              <a:t>That's the gap an LLM-based contribution would need to close beyond what regularization</a:t>
            </a:r>
          </a:p>
          <a:p>
            <a:pPr lvl="1">
              <a:spcAft>
                <a:spcPts val="800"/>
              </a:spcAft>
              <a:defRPr sz="1700" b="0">
                <a:solidFill>
                  <a:srgbClr val="1F2937"/>
                </a:solidFill>
              </a:defRPr>
            </a:pPr>
            <a:r>
              <a:t>already gives for free.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3200" b="1">
                <a:solidFill>
                  <a:srgbClr val="1F2937"/>
                </a:solidFill>
              </a:defRPr>
            </a:pPr>
            <a:r>
              <a:t>Next Steps</a:t>
            </a:r>
          </a:p>
        </p:txBody>
      </p:sp>
      <p:sp>
        <p:nvSpPr>
          <p:cNvPr id="3" name="TextBox 2"/>
          <p:cNvSpPr txBox="1"/>
          <p:nvPr/>
        </p:nvSpPr>
        <p:spPr>
          <a:xfrm>
            <a:off x="548640" y="1280160"/>
            <a:ext cx="11064240" cy="5029200"/>
          </a:xfrm>
          <a:prstGeom prst="rect">
            <a:avLst/>
          </a:prstGeom>
          <a:noFill/>
        </p:spPr>
        <p:txBody>
          <a:bodyPr wrap="square">
            <a:spAutoFit/>
          </a:bodyPr>
          <a:lstStyle/>
          <a:p>
            <a:pPr>
              <a:spcAft>
                <a:spcPts val="800"/>
              </a:spcAft>
              <a:defRPr sz="1900" b="1">
                <a:solidFill>
                  <a:srgbClr val="B02A2A"/>
                </a:solidFill>
              </a:defRPr>
            </a:pPr>
            <a:r>
              <a:t>1. Confirm lamda_env fix generalizes to Pubmed.</a:t>
            </a:r>
          </a:p>
          <a:p>
            <a:pPr lvl="1">
              <a:spcAft>
                <a:spcPts val="800"/>
              </a:spcAft>
              <a:defRPr sz="1700" b="0">
                <a:solidFill>
                  <a:srgbClr val="1F2937"/>
                </a:solidFill>
              </a:defRPr>
            </a:pPr>
            <a:r>
              <a:t>Same protocol as the collapse-generalization check — 10 runs, same flag.</a:t>
            </a:r>
          </a:p>
          <a:p>
            <a:pPr>
              <a:spcAft>
                <a:spcPts val="800"/>
              </a:spcAft>
              <a:defRPr sz="1900" b="0">
                <a:solidFill>
                  <a:srgbClr val="1F2937"/>
                </a:solidFill>
              </a:defRPr>
            </a:pPr>
          </a:p>
          <a:p>
            <a:pPr>
              <a:spcAft>
                <a:spcPts val="800"/>
              </a:spcAft>
              <a:defRPr sz="1900" b="1">
                <a:solidFill>
                  <a:srgbClr val="B02A2A"/>
                </a:solidFill>
              </a:defRPr>
            </a:pPr>
            <a:r>
              <a:t>2. Characterize the residual routing shift precisely (with lamda_env on).</a:t>
            </a:r>
          </a:p>
          <a:p>
            <a:pPr lvl="1">
              <a:spcAft>
                <a:spcPts val="800"/>
              </a:spcAft>
              <a:defRPr sz="1700" b="0">
                <a:solidFill>
                  <a:srgbClr val="1F2937"/>
                </a:solidFill>
              </a:defRPr>
            </a:pPr>
            <a:r>
              <a:t>Is TV≈0.001–0.002 distinguishable from zero / sampling noise? Does it grow under more</a:t>
            </a:r>
          </a:p>
          <a:p>
            <a:pPr lvl="1">
              <a:spcAft>
                <a:spcPts val="800"/>
              </a:spcAft>
              <a:defRPr sz="1700" b="0">
                <a:solidFill>
                  <a:srgbClr val="1F2937"/>
                </a:solidFill>
              </a:defRPr>
            </a:pPr>
            <a:r>
              <a:t>severe distribution shift (e.g. homophily-shift, missing-feature benchmarks)?</a:t>
            </a:r>
          </a:p>
          <a:p>
            <a:pPr>
              <a:spcAft>
                <a:spcPts val="800"/>
              </a:spcAft>
              <a:defRPr sz="1900" b="0">
                <a:solidFill>
                  <a:srgbClr val="1F2937"/>
                </a:solidFill>
              </a:defRPr>
            </a:pPr>
          </a:p>
          <a:p>
            <a:pPr>
              <a:spcAft>
                <a:spcPts val="800"/>
              </a:spcAft>
              <a:defRPr sz="1900" b="1">
                <a:solidFill>
                  <a:srgbClr val="B02A2A"/>
                </a:solidFill>
              </a:defRPr>
            </a:pPr>
            <a:r>
              <a:t>3. If residual shift is real → target it directly with an LLM-grounded mechanism.</a:t>
            </a:r>
          </a:p>
          <a:p>
            <a:pPr lvl="1">
              <a:spcAft>
                <a:spcPts val="800"/>
              </a:spcAft>
              <a:defRPr sz="1700" b="0">
                <a:solidFill>
                  <a:srgbClr val="1F2937"/>
                </a:solidFill>
              </a:defRPr>
            </a:pPr>
            <a:r>
              <a:t>E.g. an LLM-anchored routing-consistency loss across augmented/perturbed views,</a:t>
            </a:r>
          </a:p>
          <a:p>
            <a:pPr lvl="1">
              <a:spcAft>
                <a:spcPts val="800"/>
              </a:spcAft>
              <a:defRPr sz="1700" b="0">
                <a:solidFill>
                  <a:srgbClr val="1F2937"/>
                </a:solidFill>
              </a:defRPr>
            </a:pPr>
            <a:r>
              <a:t>layered on top of lamda_env rather than replacing it.</a:t>
            </a:r>
          </a:p>
          <a:p>
            <a:pPr>
              <a:spcAft>
                <a:spcPts val="800"/>
              </a:spcAft>
              <a:defRPr sz="1900" b="0">
                <a:solidFill>
                  <a:srgbClr val="1F2937"/>
                </a:solidFill>
              </a:defRPr>
            </a:pPr>
          </a:p>
          <a:p>
            <a:pPr>
              <a:spcAft>
                <a:spcPts val="800"/>
              </a:spcAft>
              <a:defRPr sz="1900" b="1">
                <a:solidFill>
                  <a:srgbClr val="B02A2A"/>
                </a:solidFill>
              </a:defRPr>
            </a:pPr>
            <a:r>
              <a:t>4. Extend instrumentation to remaining OOD scripts.</a:t>
            </a:r>
          </a:p>
          <a:p>
            <a:pPr lvl="1">
              <a:spcAft>
                <a:spcPts val="800"/>
              </a:spcAft>
              <a:defRPr sz="1700" b="0">
                <a:solidFill>
                  <a:srgbClr val="1F2937"/>
                </a:solidFill>
              </a:defRPr>
            </a:pPr>
            <a:r>
              <a:t>homophily-shift, missing-feature, and edge-drop benchmarks are built but not yet run</a:t>
            </a:r>
          </a:p>
          <a:p>
            <a:pPr lvl="1">
              <a:spcAft>
                <a:spcPts val="800"/>
              </a:spcAft>
              <a:defRPr sz="1700" b="0">
                <a:solidFill>
                  <a:srgbClr val="1F2937"/>
                </a:solidFill>
              </a:defRPr>
            </a:pPr>
            <a:r>
              <a:t>with this routing diagnostic.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3200" b="1">
                <a:solidFill>
                  <a:srgbClr val="1F2937"/>
                </a:solidFill>
              </a:defRPr>
            </a:pPr>
            <a:r>
              <a:t>Summary</a:t>
            </a:r>
          </a:p>
        </p:txBody>
      </p:sp>
      <p:sp>
        <p:nvSpPr>
          <p:cNvPr id="3" name="TextBox 2"/>
          <p:cNvSpPr txBox="1"/>
          <p:nvPr/>
        </p:nvSpPr>
        <p:spPr>
          <a:xfrm>
            <a:off x="548640" y="1463040"/>
            <a:ext cx="11064240" cy="5029200"/>
          </a:xfrm>
          <a:prstGeom prst="rect">
            <a:avLst/>
          </a:prstGeom>
          <a:noFill/>
        </p:spPr>
        <p:txBody>
          <a:bodyPr wrap="square">
            <a:spAutoFit/>
          </a:bodyPr>
          <a:lstStyle/>
          <a:p>
            <a:pPr>
              <a:spcAft>
                <a:spcPts val="800"/>
              </a:spcAft>
              <a:defRPr sz="2100" b="1">
                <a:solidFill>
                  <a:srgbClr val="B02A2A"/>
                </a:solidFill>
              </a:defRPr>
            </a:pPr>
            <a:r>
              <a:t>Solid, reproducible result: MoE-GNN expert collapse, confirmed on 2 datasets, 10/10 seeds.</a:t>
            </a:r>
          </a:p>
          <a:p>
            <a:pPr>
              <a:spcAft>
                <a:spcPts val="800"/>
              </a:spcAft>
              <a:defRPr sz="2100" b="0">
                <a:solidFill>
                  <a:srgbClr val="1F2937"/>
                </a:solidFill>
              </a:defRPr>
            </a:pPr>
            <a:r>
              <a:t>Sharpened motivation claim: MoE's measured benefit is largely compensating for VQ-induced</a:t>
            </a:r>
          </a:p>
          <a:p>
            <a:pPr>
              <a:spcAft>
                <a:spcPts val="800"/>
              </a:spcAft>
              <a:defRPr sz="2100" b="0">
                <a:solidFill>
                  <a:srgbClr val="1F2937"/>
                </a:solidFill>
              </a:defRPr>
            </a:pPr>
            <a:r>
              <a:t>harm, not an independent architectural win (evidence: 2×2 VQ×MoE ablation).</a:t>
            </a:r>
          </a:p>
          <a:p>
            <a:pPr>
              <a:spcAft>
                <a:spcPts val="800"/>
              </a:spcAft>
              <a:defRPr sz="2100" b="0">
                <a:solidFill>
                  <a:srgbClr val="1F2937"/>
                </a:solidFill>
              </a:defRPr>
            </a:pPr>
            <a:r>
              <a:t>Two LLM-based fixes tested and ruled out (richer input, balanced init) — with precise,</a:t>
            </a:r>
          </a:p>
          <a:p>
            <a:pPr>
              <a:spcAft>
                <a:spcPts val="800"/>
              </a:spcAft>
              <a:defRPr sz="2100" b="0">
                <a:solidFill>
                  <a:srgbClr val="1F2937"/>
                </a:solidFill>
              </a:defRPr>
            </a:pPr>
            <a:r>
              <a:t>complementary evidence about why each failed.</a:t>
            </a:r>
          </a:p>
          <a:p>
            <a:pPr>
              <a:spcAft>
                <a:spcPts val="800"/>
              </a:spcAft>
              <a:defRPr sz="2100" b="1">
                <a:solidFill>
                  <a:srgbClr val="1E7A34"/>
                </a:solidFill>
              </a:defRPr>
            </a:pPr>
            <a:r>
              <a:t>A working fix found: standard entropy regularization (lamda_env) eliminates collapse</a:t>
            </a:r>
          </a:p>
          <a:p>
            <a:pPr>
              <a:spcAft>
                <a:spcPts val="800"/>
              </a:spcAft>
              <a:defRPr sz="2100" b="1">
                <a:solidFill>
                  <a:srgbClr val="1E7A34"/>
                </a:solidFill>
              </a:defRPr>
            </a:pPr>
            <a:r>
              <a:t>completely, at no accuracy cost.</a:t>
            </a:r>
          </a:p>
          <a:p>
            <a:pPr>
              <a:spcAft>
                <a:spcPts val="800"/>
              </a:spcAft>
              <a:defRPr sz="2100" b="0">
                <a:solidFill>
                  <a:srgbClr val="1F2937"/>
                </a:solidFill>
              </a:defRPr>
            </a:pPr>
            <a:r>
              <a:t>Sharper open problem for the LLM contribution: the residual ID→OOD routing shift that</a:t>
            </a:r>
          </a:p>
          <a:p>
            <a:pPr>
              <a:spcAft>
                <a:spcPts val="800"/>
              </a:spcAft>
              <a:defRPr sz="2100" b="0">
                <a:solidFill>
                  <a:srgbClr val="1F2937"/>
                </a:solidFill>
              </a:defRPr>
            </a:pPr>
            <a:r>
              <a:t>remains after regularization — smaller, but not yet shown to be zero.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